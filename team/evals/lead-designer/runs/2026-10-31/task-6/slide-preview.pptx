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Most stablecoin payments arrive fine. The work is in the few that don't: paid short, sent on the wrong network, a counterfeit token, or no invoice reference. That's where I've focused. In my own test, the checks gave the right answer on 52 of 52 real public transfers I hadn't used while building the rules. I don't yet know how long these take a finance team; my guess is 15 to 30 minutes each, and that's one of the first things I want to check with you and with finance teams.</a:t>
            </a:r>
          </a:p>
          <a:p>
            <a:r>
              <a:t>LABELS:</a:t>
            </a:r>
          </a:p>
          <a:p>
            <a:r>
              <a:t>- "Most arrive fine. The work is in the ones that don't" [ASSUMPTION]: our own view, not measured. Marked ◦ on the subtitle.</a:t>
            </a:r>
          </a:p>
          <a:p>
            <a:r>
              <a:t>- Four problem types (short, wrong network, counterfeit token, no reference) [VERIFIED: docs/SPEC.md and the demo cases; ERC-20 transfers carry no invoice reference, eips.ethereum.org/EIPS/eip-20].</a:t>
            </a:r>
          </a:p>
          <a:p>
            <a:r>
              <a:t>- "52 of 52" [VERIFIED]: website/src/components/Sections.tsx lines 66-71 on pitch-deck: real public USDC/USDT transfers not used while building the rules; right answers confirmed on block explorers. Our own small test, not a customer result. Covers the checks (real token, right network, right address), not automatic matching, which hasn't been tested on real data.</a:t>
            </a:r>
          </a:p>
          <a:p>
            <a:r>
              <a:t>- "15-30 minutes per problem payment" [GUESS]: docs/SPEC.md section 1, not measured. Marked †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2F4F7"/>
                </a:solidFill>
                <a:latin typeface="Arial"/>
              </a:rPr>
              <a:t>The wrong payments are the hard part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A3AAB6"/>
                </a:solidFill>
                <a:latin typeface="Arial"/>
              </a:rPr>
              <a:t>Most arrive fine. The work is in the ones that don't</a:t>
            </a:r>
            <a:r>
              <a:rPr sz="2000" b="1" i="0">
                <a:solidFill>
                  <a:srgbClr val="B9C6FF"/>
                </a:solidFill>
                <a:latin typeface="Arial"/>
              </a:rPr>
              <a:t>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533573" cy="1874519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506" y="205740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154680"/>
            <a:ext cx="225925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2F4F7"/>
                </a:solidFill>
                <a:latin typeface="Arial"/>
              </a:rPr>
              <a:t>Paid short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2253" y="1920240"/>
            <a:ext cx="2533573" cy="1874519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120" y="2057400"/>
            <a:ext cx="100584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39413" y="3154680"/>
            <a:ext cx="225925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2F4F7"/>
                </a:solidFill>
                <a:latin typeface="Arial"/>
              </a:rPr>
              <a:t>Wrong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920240"/>
            <a:ext cx="2533573" cy="1874519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734" y="2057400"/>
            <a:ext cx="100584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93027" y="3154680"/>
            <a:ext cx="225925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2F4F7"/>
                </a:solidFill>
                <a:latin typeface="Arial"/>
              </a:rPr>
              <a:t>Counterfeit token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9481" y="1920240"/>
            <a:ext cx="2533573" cy="1874519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olab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3348" y="2057400"/>
            <a:ext cx="1005840" cy="1005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246641" y="3154680"/>
            <a:ext cx="225925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2F4F7"/>
                </a:solidFill>
                <a:latin typeface="Arial"/>
              </a:rPr>
              <a:t>No reference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5387187" cy="164592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47471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2F4F7"/>
                </a:solidFill>
                <a:latin typeface="Arial"/>
              </a:rPr>
              <a:t>52 of 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474710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A3AAB6"/>
                </a:solidFill>
                <a:latin typeface="Arial"/>
              </a:rPr>
              <a:t>real public transfers checked right. Our own test, not a customer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5867" y="4069080"/>
            <a:ext cx="5387187" cy="1645920"/>
          </a:xfrm>
          <a:prstGeom prst="roundRect">
            <a:avLst>
              <a:gd name="adj" fmla="val 8000"/>
            </a:avLst>
          </a:prstGeom>
          <a:solidFill>
            <a:srgbClr val="151A24"/>
          </a:solidFill>
          <a:ln w="12700">
            <a:solidFill>
              <a:srgbClr val="2A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5907" y="4206240"/>
            <a:ext cx="47471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2F4F7"/>
                </a:solidFill>
                <a:latin typeface="Arial"/>
              </a:rPr>
              <a:t>15–30 min</a:t>
            </a:r>
            <a:r>
              <a:rPr sz="4000" b="1" i="0">
                <a:solidFill>
                  <a:srgbClr val="B9C6FF"/>
                </a:solidFill>
                <a:latin typeface="Arial"/>
              </a:rPr>
              <a:t>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5907" y="4892040"/>
            <a:ext cx="474710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A3AAB6"/>
                </a:solidFill>
                <a:latin typeface="Arial"/>
              </a:rPr>
              <a:t>per problem payment. Our guess, not measured</a:t>
            </a:r>
          </a:p>
        </p:txBody>
      </p:sp>
      <p:sp>
        <p:nvSpPr>
          <p:cNvPr id="22" name="Sources"/>
          <p:cNvSpPr txBox="1"/>
          <p:nvPr/>
        </p:nvSpPr>
        <p:spPr>
          <a:xfrm>
            <a:off x="548640" y="62910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67E8C"/>
                </a:solidFill>
                <a:latin typeface="Arial"/>
              </a:rPr>
              <a:t>52 of 52: own test of real public USDC/USDT transfers not used to build the rules (clearline website, Trust section). 15–30 min: untested guess (Clearline spec §1).</a:t>
            </a:r>
          </a:p>
          <a:p>
            <a:pPr algn="l"/>
            <a:r>
              <a:rPr sz="1000" b="0" i="0">
                <a:solidFill>
                  <a:srgbClr val="A3AAB6"/>
                </a:solidFill>
                <a:latin typeface="Arial"/>
              </a:rPr>
              <a:t>◦ estimate or assumption   † untested   unmarked = sourced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