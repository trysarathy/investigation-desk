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Companies are starting to get paid in digital dollars (stablecoins: tokens designed to stay worth one US dollar). A bank transfer usually arrives with a reference such as "Invoice 1043"; a digital-dollar payment arrives with no note at all, so someone in finance has to work out who paid and what for. Maya is a fictional finance manager, and the message is illustrative, from the demo's fictional data.</a:t>
            </a:r>
          </a:p>
          <a:p>
            <a:r>
              <a:t>SOURCES / LABELS:</a:t>
            </a:r>
          </a:p>
          <a:p>
            <a:r>
              <a:t>- No reference on a digital-dollar payment [VERIFIED]: a token transfer records only the sender, the receiver and the amount (ERC-20 standard, eips.ethereum.org/EIPS/eip-20).</a:t>
            </a:r>
          </a:p>
          <a:p>
            <a:r>
              <a:t>- Blockchain transfers can't be reversed by the receiver [VERIFIED, general knowledge]. That is why "hard to send back".</a:t>
            </a:r>
          </a:p>
          <a:p>
            <a:r>
              <a:t>- "Companies are starting to get paid" [VERIFIED, context]: McKinsey with Artemis (2026) estimate about US$226B a year of business stablecoin payments, still only about 0.01% of business payments.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payment doesn't match, it's usually one of these four, and each one needs someone to investigate by hand: look up the transfer, find the invoice, work out what went wrong, and write to the customer. While that happens the customer waits, and if nobody checks carefully, a business can accept fake digital dollars as if they were real.</a:t>
            </a:r>
          </a:p>
          <a:p>
            <a:r>
              <a:t>SOURCES / LABELS:</a:t>
            </a:r>
          </a:p>
          <a:p>
            <a:r>
              <a:t>- The four problems are real [VERIFIED]: my tests on real transactions include 13 counterfeit-USDT and 6 wrong-network transfers (demo/REPORT.md); short payments and missing references are standard cases.</a:t>
            </a:r>
          </a:p>
          <a:p>
            <a:r>
              <a:t>- "Hours lost" [ESTIMATE ◦]: untested. My guess is 15–30 minutes per odd payment, and the demo's 20-minute figure is a demo estimate, not a measurement. How often each problem happens is unknown.</a:t>
            </a:r>
          </a:p>
          <a:p>
            <a:r>
              <a:t>- Fake digital dollars [VERIFIED]: anyone can create a token with the same name; only the real issuer's contract counts (ERC-20 standard).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Checkout pages from companies like Stripe and HitPay handle this well, because the customer pays through their page, so the amount and the invoice are already known. But many business customers send money directly from their own account, and I haven't found anything that explains those messy payments in plain English. This is my belief, not something I've proven yet.</a:t>
            </a:r>
          </a:p>
          <a:p>
            <a:r>
              <a:t>SOURCES / LABELS:</a:t>
            </a:r>
          </a:p>
          <a:p>
            <a:r>
              <a:t>- Stripe: stablecoin payments in invoices, payment links and checkout, settling in local currency — docs.stripe.com/crypto/stablecoins. US businesses only for now; not yet Singapore; USDC only; up to US$10,000 per payment.</a:t>
            </a:r>
          </a:p>
          <a:p>
            <a:r>
              <a:t>- HitPay + Triple-A: stablecoin acceptance offered to 20,000+ Singapore merchants, Oct 2025 — fintechnews.sg.</a:t>
            </a:r>
          </a:p>
          <a:p>
            <a:r>
              <a:t>- Wallets that warn about scam addresses: MetaMask (2026, KuCoin News), Trust Wallet (Mar 2026), Safe + Blockaid (Sep 2024).</a:t>
            </a:r>
          </a:p>
          <a:p>
            <a:r>
              <a:t>- Accounting tools that match payments to invoices: Request Finance (eco.com), Bitwave (bitwave.io).</a:t>
            </a:r>
          </a:p>
          <a:p>
            <a:r>
              <a:t>- "Many business customers send directly" and "nobody explains the mess" [BELIEF †]: untested. This is the first thing I need to check with finance teams.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Clearline is a smart cashier for digital-dollar payments. It gives each invoice a clear "how to pay" page, watches the money that arrives, ticks off correct payments automatically, and when one is wrong, explains why in plain English and drafts the reply to the customer. It only reads payment information: it never holds or moves money, and a person makes every decision that isn't routine.</a:t>
            </a:r>
          </a:p>
          <a:p>
            <a:r>
              <a:t>VIDEO: the 60-second demo plays on this slide in PowerPoint (click it). In a PDF, scan the QR code, which opens the video on GitHub (github.com/trysarathy/investigation-desk, file pitch/demo_live_60s.mp4), or open the copy attached to my email. A 2-minute version is available too.</a:t>
            </a:r>
          </a:p>
          <a:p>
            <a:r>
              <a:t>LABELS: real screenshots from the working app; all demo data is fictional [VERIFIED]. I built it myself with AI coding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side is further along than the customer side. It works in a demo, and on real transactions its investigation part reached the right verdict every time on cases it hadn't seen. I don't yet know whether the people it's for actually need it, because I haven't spoken to them yet.</a:t>
            </a:r>
          </a:p>
          <a:p>
            <a:r>
              <a:t>SOURCES / LABELS:</a:t>
            </a:r>
          </a:p>
          <a:p>
            <a:r>
              <a:t>- 7 payment situations [VERIFIED]: demo/REQUESTS_DEMO.md.</a:t>
            </a:r>
          </a:p>
          <a:p>
            <a:r>
              <a:t>- 52/52 [VERIFIED]: demo/REPORT.md, 24–25 Oct 2026. These are held-out real transactions collected after the fixes; 59/59 on the tuning cases, 43/59 before the fixes. The part that matches payments to invoices, and the plain-English explanations, are not yet tested on real data; company records were sample data.</a:t>
            </a:r>
          </a:p>
          <a:p>
            <a:r>
              <a:t>- 3 early calls [VERIFIED, my notes, names withheld]: 16 Oct 2026, about an earlier version of the idea; reconciliation was "not really an issue" for them.</a:t>
            </a:r>
          </a:p>
          <a:p>
            <a:r>
              <a:t>- 0 customers. In full: "my 3 early calls reached vendors, not finance teams"; "do customers mostly pay directly or via checkout pages?".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one of these would help, even a one-line reply, and I'd especially like to hear if you think I'm looking at the wrong problem. If it's easier, I can show you the working demo in about 15 minutes. Thank you for reading.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9.pn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Getting paid in digital dollars is like cash through the letterbox, with no note</a:t>
            </a:r>
          </a:p>
        </p:txBody>
      </p:sp>
      <p:pic>
        <p:nvPicPr>
          <p:cNvPr id="4" name="Picture 3" descr="letterbox.png"/>
          <p:cNvPicPr>
            <a:picLocks noChangeAspect="1"/>
          </p:cNvPicPr>
          <p:nvPr/>
        </p:nvPicPr>
        <p:blipFill>
          <a:blip r:embed="rId3"/>
          <a:stretch>
            <a:fillRect/>
          </a:stretch>
        </p:blipFill>
        <p:spPr>
          <a:xfrm>
            <a:off x="457200" y="1828800"/>
            <a:ext cx="6035040" cy="3755136"/>
          </a:xfrm>
          <a:prstGeom prst="rect">
            <a:avLst/>
          </a:prstGeom>
        </p:spPr>
      </p:pic>
      <p:sp>
        <p:nvSpPr>
          <p:cNvPr id="5" name="Rounded Rectangle 4"/>
          <p:cNvSpPr/>
          <p:nvPr/>
        </p:nvSpPr>
        <p:spPr>
          <a:xfrm>
            <a:off x="6675120" y="1828800"/>
            <a:ext cx="4967935" cy="19202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49440" y="1828800"/>
            <a:ext cx="4419295" cy="1920240"/>
          </a:xfrm>
          <a:prstGeom prst="rect">
            <a:avLst/>
          </a:prstGeom>
          <a:noFill/>
        </p:spPr>
        <p:txBody>
          <a:bodyPr wrap="square" anchor="ctr" lIns="0" rIns="0" tIns="0" bIns="0">
            <a:spAutoFit/>
          </a:bodyPr>
          <a:lstStyle/>
          <a:p>
            <a:pPr algn="l">
              <a:spcAft>
                <a:spcPts val="600"/>
              </a:spcAft>
            </a:pPr>
            <a:r>
              <a:rPr sz="2400" b="0" i="0">
                <a:solidFill>
                  <a:srgbClr val="F2F4F7"/>
                </a:solidFill>
                <a:latin typeface="Arial"/>
              </a:rPr>
              <a:t>“We paid yesterday. Why is our invoice still unpaid?”</a:t>
            </a:r>
          </a:p>
          <a:p>
            <a:pPr algn="l">
              <a:spcAft>
                <a:spcPts val="600"/>
              </a:spcAft>
            </a:pPr>
            <a:r>
              <a:rPr sz="1800" b="0" i="0">
                <a:solidFill>
                  <a:srgbClr val="A3AAB6"/>
                </a:solidFill>
                <a:latin typeface="Arial"/>
              </a:rPr>
              <a:t>A customer, to Maya, a finance manager (fictional)</a:t>
            </a:r>
          </a:p>
        </p:txBody>
      </p:sp>
      <p:sp>
        <p:nvSpPr>
          <p:cNvPr id="7" name="TextBox 6"/>
          <p:cNvSpPr txBox="1"/>
          <p:nvPr/>
        </p:nvSpPr>
        <p:spPr>
          <a:xfrm>
            <a:off x="6675120" y="4069080"/>
            <a:ext cx="4967935" cy="1554480"/>
          </a:xfrm>
          <a:prstGeom prst="rect">
            <a:avLst/>
          </a:prstGeom>
          <a:noFill/>
        </p:spPr>
        <p:txBody>
          <a:bodyPr wrap="square" anchor="t" lIns="0" rIns="0" tIns="0" bIns="0">
            <a:spAutoFit/>
          </a:bodyPr>
          <a:lstStyle/>
          <a:p>
            <a:pPr algn="l"/>
            <a:r>
              <a:rPr sz="2000" b="0" i="0">
                <a:solidFill>
                  <a:srgbClr val="A3AAB6"/>
                </a:solidFill>
                <a:latin typeface="Arial"/>
              </a:rPr>
              <a:t>A bank transfer says which invoice it pays. A digital-dollar payment says nothing, so Maya has to find out.</a:t>
            </a:r>
          </a:p>
        </p:txBody>
      </p:sp>
      <p:sp>
        <p:nvSpPr>
          <p:cNvPr id="8"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Digital dollars = stablecoins (e.g. USDC, USDT). A digital-dollar transfer records sender, receiver and amount only (ERC-20 standard).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Every odd payment means detective work</a:t>
            </a:r>
          </a:p>
        </p:txBody>
      </p:sp>
      <p:sp>
        <p:nvSpPr>
          <p:cNvPr id="4" name="Rounded Rectangle 3"/>
          <p:cNvSpPr/>
          <p:nvPr/>
        </p:nvSpPr>
        <p:spPr>
          <a:xfrm>
            <a:off x="548640"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ort.png"/>
          <p:cNvPicPr>
            <a:picLocks noChangeAspect="1"/>
          </p:cNvPicPr>
          <p:nvPr/>
        </p:nvPicPr>
        <p:blipFill>
          <a:blip r:embed="rId3"/>
          <a:stretch>
            <a:fillRect/>
          </a:stretch>
        </p:blipFill>
        <p:spPr>
          <a:xfrm>
            <a:off x="992466" y="1783080"/>
            <a:ext cx="1645920" cy="1645920"/>
          </a:xfrm>
          <a:prstGeom prst="rect">
            <a:avLst/>
          </a:prstGeom>
        </p:spPr>
      </p:pic>
      <p:sp>
        <p:nvSpPr>
          <p:cNvPr id="6" name="TextBox 5"/>
          <p:cNvSpPr txBox="1"/>
          <p:nvPr/>
        </p:nvSpPr>
        <p:spPr>
          <a:xfrm>
            <a:off x="731520"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Paid a little too little</a:t>
            </a:r>
          </a:p>
        </p:txBody>
      </p:sp>
      <p:sp>
        <p:nvSpPr>
          <p:cNvPr id="7" name="Rounded Rectangle 6"/>
          <p:cNvSpPr/>
          <p:nvPr/>
        </p:nvSpPr>
        <p:spPr>
          <a:xfrm>
            <a:off x="3402253"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ad.png"/>
          <p:cNvPicPr>
            <a:picLocks noChangeAspect="1"/>
          </p:cNvPicPr>
          <p:nvPr/>
        </p:nvPicPr>
        <p:blipFill>
          <a:blip r:embed="rId4"/>
          <a:stretch>
            <a:fillRect/>
          </a:stretch>
        </p:blipFill>
        <p:spPr>
          <a:xfrm>
            <a:off x="3846080" y="1783080"/>
            <a:ext cx="1645920" cy="1645920"/>
          </a:xfrm>
          <a:prstGeom prst="rect">
            <a:avLst/>
          </a:prstGeom>
        </p:spPr>
      </p:pic>
      <p:sp>
        <p:nvSpPr>
          <p:cNvPr id="9" name="TextBox 8"/>
          <p:cNvSpPr txBox="1"/>
          <p:nvPr/>
        </p:nvSpPr>
        <p:spPr>
          <a:xfrm>
            <a:off x="3585133"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Sent the wrong way</a:t>
            </a:r>
          </a:p>
        </p:txBody>
      </p:sp>
      <p:sp>
        <p:nvSpPr>
          <p:cNvPr id="10" name="Rounded Rectangle 9"/>
          <p:cNvSpPr/>
          <p:nvPr/>
        </p:nvSpPr>
        <p:spPr>
          <a:xfrm>
            <a:off x="6255867"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ke.png"/>
          <p:cNvPicPr>
            <a:picLocks noChangeAspect="1"/>
          </p:cNvPicPr>
          <p:nvPr/>
        </p:nvPicPr>
        <p:blipFill>
          <a:blip r:embed="rId5"/>
          <a:stretch>
            <a:fillRect/>
          </a:stretch>
        </p:blipFill>
        <p:spPr>
          <a:xfrm>
            <a:off x="6699694" y="1783080"/>
            <a:ext cx="1645920" cy="1645920"/>
          </a:xfrm>
          <a:prstGeom prst="rect">
            <a:avLst/>
          </a:prstGeom>
        </p:spPr>
      </p:pic>
      <p:sp>
        <p:nvSpPr>
          <p:cNvPr id="12" name="TextBox 11"/>
          <p:cNvSpPr txBox="1"/>
          <p:nvPr/>
        </p:nvSpPr>
        <p:spPr>
          <a:xfrm>
            <a:off x="6438747"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Fake digital dollars</a:t>
            </a:r>
          </a:p>
        </p:txBody>
      </p:sp>
      <p:sp>
        <p:nvSpPr>
          <p:cNvPr id="13" name="Rounded Rectangle 12"/>
          <p:cNvSpPr/>
          <p:nvPr/>
        </p:nvSpPr>
        <p:spPr>
          <a:xfrm>
            <a:off x="9109481"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nolabel.png"/>
          <p:cNvPicPr>
            <a:picLocks noChangeAspect="1"/>
          </p:cNvPicPr>
          <p:nvPr/>
        </p:nvPicPr>
        <p:blipFill>
          <a:blip r:embed="rId6"/>
          <a:stretch>
            <a:fillRect/>
          </a:stretch>
        </p:blipFill>
        <p:spPr>
          <a:xfrm>
            <a:off x="9553308" y="1783080"/>
            <a:ext cx="1645920" cy="1645920"/>
          </a:xfrm>
          <a:prstGeom prst="rect">
            <a:avLst/>
          </a:prstGeom>
        </p:spPr>
      </p:pic>
      <p:sp>
        <p:nvSpPr>
          <p:cNvPr id="15" name="TextBox 14"/>
          <p:cNvSpPr txBox="1"/>
          <p:nvPr/>
        </p:nvSpPr>
        <p:spPr>
          <a:xfrm>
            <a:off x="9292361"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No invoice number</a:t>
            </a:r>
          </a:p>
        </p:txBody>
      </p:sp>
      <p:sp>
        <p:nvSpPr>
          <p:cNvPr id="16" name="Rounded Rectangle 15"/>
          <p:cNvSpPr/>
          <p:nvPr/>
        </p:nvSpPr>
        <p:spPr>
          <a:xfrm>
            <a:off x="548640" y="4937760"/>
            <a:ext cx="11094415" cy="82296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937760"/>
            <a:ext cx="10454335" cy="822960"/>
          </a:xfrm>
          <a:prstGeom prst="rect">
            <a:avLst/>
          </a:prstGeom>
          <a:noFill/>
        </p:spPr>
        <p:txBody>
          <a:bodyPr wrap="square" anchor="ctr" lIns="0" rIns="0" tIns="0" bIns="0">
            <a:spAutoFit/>
          </a:bodyPr>
          <a:lstStyle/>
          <a:p>
            <a:pPr algn="l"/>
            <a:r>
              <a:rPr sz="2000" b="0" i="0">
                <a:solidFill>
                  <a:srgbClr val="F2F4F7"/>
                </a:solidFill>
                <a:latin typeface="Arial"/>
              </a:rPr>
              <a:t>The cost: hours lost</a:t>
            </a:r>
            <a:r>
              <a:rPr sz="2600" b="1" i="0">
                <a:solidFill>
                  <a:srgbClr val="B9C6FF"/>
                </a:solidFill>
                <a:latin typeface="Arial"/>
              </a:rPr>
              <a:t>◦</a:t>
            </a:r>
            <a:r>
              <a:rPr sz="2000" b="0" i="0">
                <a:solidFill>
                  <a:srgbClr val="F2F4F7"/>
                </a:solidFill>
                <a:latin typeface="Arial"/>
              </a:rPr>
              <a:t>, customers waiting, and the risk of accepting fake money.</a:t>
            </a:r>
          </a:p>
        </p:txBody>
      </p:sp>
      <p:sp>
        <p:nvSpPr>
          <p:cNvPr id="18"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All four appear in my tests on real transactions (e.g. 13 fake-USDT, 6 wrong-network). How often they happen, and how long each takes, are not yet measured.</a:t>
            </a:r>
          </a:p>
          <a:p>
            <a:pPr algn="l"/>
            <a:r>
              <a:rPr sz="1000" b="0" i="0">
                <a:solidFill>
                  <a:srgbClr val="A3AAB6"/>
                </a:solidFill>
                <a:latin typeface="Arial"/>
              </a:rPr>
              <a:t>◦ estimate   † my belief, not yet proven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Checkout pages solve it, but only when customers use them</a:t>
            </a:r>
          </a:p>
        </p:txBody>
      </p:sp>
      <p:sp>
        <p:nvSpPr>
          <p:cNvPr id="4" name="Rounded Rectangle 3"/>
          <p:cNvSpPr/>
          <p:nvPr/>
        </p:nvSpPr>
        <p:spPr>
          <a:xfrm>
            <a:off x="548640" y="1874519"/>
            <a:ext cx="11094415" cy="12344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74519"/>
            <a:ext cx="731520" cy="1234440"/>
          </a:xfrm>
          <a:prstGeom prst="rect">
            <a:avLst/>
          </a:prstGeom>
          <a:noFill/>
        </p:spPr>
        <p:txBody>
          <a:bodyPr wrap="square" anchor="ctr" lIns="0" rIns="0" tIns="0" bIns="0">
            <a:spAutoFit/>
          </a:bodyPr>
          <a:lstStyle/>
          <a:p>
            <a:pPr algn="l"/>
            <a:r>
              <a:rPr sz="3600" b="1" i="0">
                <a:solidFill>
                  <a:srgbClr val="A3AAB6"/>
                </a:solidFill>
                <a:latin typeface="Arial"/>
              </a:rPr>
              <a:t>A</a:t>
            </a:r>
          </a:p>
        </p:txBody>
      </p:sp>
      <p:sp>
        <p:nvSpPr>
          <p:cNvPr id="6" name="TextBox 5"/>
          <p:cNvSpPr txBox="1"/>
          <p:nvPr/>
        </p:nvSpPr>
        <p:spPr>
          <a:xfrm>
            <a:off x="1554480" y="1874519"/>
            <a:ext cx="6035040" cy="1234440"/>
          </a:xfrm>
          <a:prstGeom prst="rect">
            <a:avLst/>
          </a:prstGeom>
          <a:noFill/>
        </p:spPr>
        <p:txBody>
          <a:bodyPr wrap="square" anchor="ctr" lIns="0" rIns="0" tIns="0" bIns="0">
            <a:spAutoFit/>
          </a:bodyPr>
          <a:lstStyle/>
          <a:p>
            <a:pPr algn="l"/>
            <a:r>
              <a:rPr sz="2200" b="1" i="0">
                <a:solidFill>
                  <a:srgbClr val="F2F4F7"/>
                </a:solidFill>
                <a:latin typeface="Arial"/>
              </a:rPr>
              <a:t>Pays through a checkout page</a:t>
            </a:r>
          </a:p>
          <a:p>
            <a:pPr algn="l"/>
            <a:r>
              <a:rPr sz="2000" b="0" i="0">
                <a:solidFill>
                  <a:srgbClr val="A3AAB6"/>
                </a:solidFill>
                <a:latin typeface="Arial"/>
              </a:rPr>
              <a:t>e.g. Stripe, HitPay</a:t>
            </a:r>
          </a:p>
        </p:txBody>
      </p:sp>
      <p:sp>
        <p:nvSpPr>
          <p:cNvPr id="7" name="TextBox 6"/>
          <p:cNvSpPr txBox="1"/>
          <p:nvPr/>
        </p:nvSpPr>
        <p:spPr>
          <a:xfrm>
            <a:off x="7498079" y="1874519"/>
            <a:ext cx="548640" cy="1234440"/>
          </a:xfrm>
          <a:prstGeom prst="rect">
            <a:avLst/>
          </a:prstGeom>
          <a:noFill/>
        </p:spPr>
        <p:txBody>
          <a:bodyPr wrap="square" anchor="ctr" lIns="0" rIns="0" tIns="0" bIns="0">
            <a:spAutoFit/>
          </a:bodyPr>
          <a:lstStyle/>
          <a:p>
            <a:pPr algn="l"/>
            <a:r>
              <a:rPr sz="3200" b="0" i="0">
                <a:solidFill>
                  <a:srgbClr val="A3AAB6"/>
                </a:solidFill>
                <a:latin typeface="Arial"/>
              </a:rPr>
              <a:t>→</a:t>
            </a:r>
          </a:p>
        </p:txBody>
      </p:sp>
      <p:sp>
        <p:nvSpPr>
          <p:cNvPr id="8" name="TextBox 7"/>
          <p:cNvSpPr txBox="1"/>
          <p:nvPr/>
        </p:nvSpPr>
        <p:spPr>
          <a:xfrm>
            <a:off x="8138160" y="1874519"/>
            <a:ext cx="3383280" cy="1234440"/>
          </a:xfrm>
          <a:prstGeom prst="rect">
            <a:avLst/>
          </a:prstGeom>
          <a:noFill/>
        </p:spPr>
        <p:txBody>
          <a:bodyPr wrap="square" anchor="ctr" lIns="0" rIns="0" tIns="0" bIns="0">
            <a:spAutoFit/>
          </a:bodyPr>
          <a:lstStyle/>
          <a:p>
            <a:pPr algn="l"/>
            <a:r>
              <a:rPr sz="2200" b="1" i="0">
                <a:solidFill>
                  <a:srgbClr val="F2F4F7"/>
                </a:solidFill>
                <a:latin typeface="Arial"/>
              </a:rPr>
              <a:t>Handled  ✓</a:t>
            </a:r>
          </a:p>
        </p:txBody>
      </p:sp>
      <p:sp>
        <p:nvSpPr>
          <p:cNvPr id="9" name="Rounded Rectangle 8"/>
          <p:cNvSpPr/>
          <p:nvPr/>
        </p:nvSpPr>
        <p:spPr>
          <a:xfrm>
            <a:off x="548640" y="3337560"/>
            <a:ext cx="11094415" cy="123444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3337560"/>
            <a:ext cx="731520" cy="1234440"/>
          </a:xfrm>
          <a:prstGeom prst="rect">
            <a:avLst/>
          </a:prstGeom>
          <a:noFill/>
        </p:spPr>
        <p:txBody>
          <a:bodyPr wrap="square" anchor="ctr" lIns="0" rIns="0" tIns="0" bIns="0">
            <a:spAutoFit/>
          </a:bodyPr>
          <a:lstStyle/>
          <a:p>
            <a:pPr algn="l"/>
            <a:r>
              <a:rPr sz="3600" b="1" i="0">
                <a:solidFill>
                  <a:srgbClr val="B9C6FF"/>
                </a:solidFill>
                <a:latin typeface="Arial"/>
              </a:rPr>
              <a:t>B</a:t>
            </a:r>
          </a:p>
        </p:txBody>
      </p:sp>
      <p:sp>
        <p:nvSpPr>
          <p:cNvPr id="11" name="TextBox 10"/>
          <p:cNvSpPr txBox="1"/>
          <p:nvPr/>
        </p:nvSpPr>
        <p:spPr>
          <a:xfrm>
            <a:off x="1554480" y="3337560"/>
            <a:ext cx="6035040" cy="1234440"/>
          </a:xfrm>
          <a:prstGeom prst="rect">
            <a:avLst/>
          </a:prstGeom>
          <a:noFill/>
        </p:spPr>
        <p:txBody>
          <a:bodyPr wrap="square" anchor="ctr" lIns="0" rIns="0" tIns="0" bIns="0">
            <a:spAutoFit/>
          </a:bodyPr>
          <a:lstStyle/>
          <a:p>
            <a:pPr algn="l"/>
            <a:r>
              <a:rPr sz="2200" b="1" i="0">
                <a:solidFill>
                  <a:srgbClr val="F2F4F7"/>
                </a:solidFill>
                <a:latin typeface="Arial"/>
              </a:rPr>
              <a:t>Sends directly from their own account</a:t>
            </a:r>
          </a:p>
        </p:txBody>
      </p:sp>
      <p:sp>
        <p:nvSpPr>
          <p:cNvPr id="12" name="TextBox 11"/>
          <p:cNvSpPr txBox="1"/>
          <p:nvPr/>
        </p:nvSpPr>
        <p:spPr>
          <a:xfrm>
            <a:off x="7498079" y="3337560"/>
            <a:ext cx="548640" cy="1234440"/>
          </a:xfrm>
          <a:prstGeom prst="rect">
            <a:avLst/>
          </a:prstGeom>
          <a:noFill/>
        </p:spPr>
        <p:txBody>
          <a:bodyPr wrap="square" anchor="ctr" lIns="0" rIns="0" tIns="0" bIns="0">
            <a:spAutoFit/>
          </a:bodyPr>
          <a:lstStyle/>
          <a:p>
            <a:pPr algn="l"/>
            <a:r>
              <a:rPr sz="3200" b="0" i="0">
                <a:solidFill>
                  <a:srgbClr val="B9C6FF"/>
                </a:solidFill>
                <a:latin typeface="Arial"/>
              </a:rPr>
              <a:t>→</a:t>
            </a:r>
          </a:p>
        </p:txBody>
      </p:sp>
      <p:sp>
        <p:nvSpPr>
          <p:cNvPr id="13" name="TextBox 12"/>
          <p:cNvSpPr txBox="1"/>
          <p:nvPr/>
        </p:nvSpPr>
        <p:spPr>
          <a:xfrm>
            <a:off x="8138160" y="3337560"/>
            <a:ext cx="3383280" cy="1234440"/>
          </a:xfrm>
          <a:prstGeom prst="rect">
            <a:avLst/>
          </a:prstGeom>
          <a:noFill/>
        </p:spPr>
        <p:txBody>
          <a:bodyPr wrap="square" anchor="ctr" lIns="0" rIns="0" tIns="0" bIns="0">
            <a:spAutoFit/>
          </a:bodyPr>
          <a:lstStyle/>
          <a:p>
            <a:pPr algn="l"/>
            <a:r>
              <a:rPr sz="2200" b="1" i="0">
                <a:solidFill>
                  <a:srgbClr val="FF8A7F"/>
                </a:solidFill>
                <a:latin typeface="Arial"/>
              </a:rPr>
              <a:t>Nobody explains the mess  ✗</a:t>
            </a:r>
          </a:p>
        </p:txBody>
      </p:sp>
      <p:sp>
        <p:nvSpPr>
          <p:cNvPr id="14" name="Rounded Rectangle 13"/>
          <p:cNvSpPr/>
          <p:nvPr/>
        </p:nvSpPr>
        <p:spPr>
          <a:xfrm>
            <a:off x="7818120" y="4681728"/>
            <a:ext cx="3291840" cy="518160"/>
          </a:xfrm>
          <a:prstGeom prst="roundRect">
            <a:avLst>
              <a:gd name="adj" fmla="val 50000"/>
            </a:avLst>
          </a:prstGeom>
          <a:solidFill>
            <a:srgbClr val="0B0E1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4681728"/>
            <a:ext cx="3291840" cy="518160"/>
          </a:xfrm>
          <a:prstGeom prst="rect">
            <a:avLst/>
          </a:prstGeom>
          <a:noFill/>
        </p:spPr>
        <p:txBody>
          <a:bodyPr wrap="square" anchor="ctr" lIns="0" rIns="0" tIns="0" bIns="0">
            <a:spAutoFit/>
          </a:bodyPr>
          <a:lstStyle/>
          <a:p>
            <a:pPr algn="ctr"/>
            <a:r>
              <a:rPr sz="2000" b="0" i="0">
                <a:solidFill>
                  <a:srgbClr val="8EA2FF"/>
                </a:solidFill>
                <a:latin typeface="Arial"/>
              </a:rPr>
              <a:t>← The gap I'm exploring</a:t>
            </a:r>
          </a:p>
        </p:txBody>
      </p:sp>
      <p:sp>
        <p:nvSpPr>
          <p:cNvPr id="16" name="TextBox 15"/>
          <p:cNvSpPr txBox="1"/>
          <p:nvPr/>
        </p:nvSpPr>
        <p:spPr>
          <a:xfrm>
            <a:off x="548640" y="5257800"/>
            <a:ext cx="11094415" cy="822960"/>
          </a:xfrm>
          <a:prstGeom prst="rect">
            <a:avLst/>
          </a:prstGeom>
          <a:noFill/>
        </p:spPr>
        <p:txBody>
          <a:bodyPr wrap="square" anchor="t" lIns="0" rIns="0" tIns="0" bIns="0">
            <a:spAutoFit/>
          </a:bodyPr>
          <a:lstStyle/>
          <a:p>
            <a:pPr algn="l"/>
            <a:r>
              <a:rPr sz="2000" b="0" i="0">
                <a:solidFill>
                  <a:srgbClr val="A3AAB6"/>
                </a:solidFill>
                <a:latin typeface="Arial"/>
              </a:rPr>
              <a:t>Wallets warn about scam addresses; accounting tools match clean payments. The messy direct payments are left.</a:t>
            </a:r>
            <a:r>
              <a:rPr sz="2600" b="1" i="0">
                <a:solidFill>
                  <a:srgbClr val="B9C6FF"/>
                </a:solidFill>
                <a:latin typeface="Arial"/>
              </a:rPr>
              <a:t>†</a:t>
            </a:r>
          </a:p>
        </p:txBody>
      </p:sp>
      <p:sp>
        <p:nvSpPr>
          <p:cNvPr id="17"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Stripe: docs.stripe.com · HitPay: fintechnews.sg · wallets and accounting tools: sources in the speaker notes.</a:t>
            </a:r>
          </a:p>
          <a:p>
            <a:pPr algn="l"/>
            <a:r>
              <a:rPr sz="1000" b="0" i="0">
                <a:solidFill>
                  <a:srgbClr val="A3AAB6"/>
                </a:solidFill>
                <a:latin typeface="Arial"/>
              </a:rPr>
              <a:t>◦ estimate   † my belief, not yet proven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Clearline: a smart cashier for digital-dollar payments</a:t>
            </a:r>
          </a:p>
        </p:txBody>
      </p:sp>
      <p:sp>
        <p:nvSpPr>
          <p:cNvPr id="4" name="TextBox 3"/>
          <p:cNvSpPr txBox="1"/>
          <p:nvPr/>
        </p:nvSpPr>
        <p:spPr>
          <a:xfrm>
            <a:off x="548640" y="1645920"/>
            <a:ext cx="548640" cy="1234440"/>
          </a:xfrm>
          <a:prstGeom prst="rect">
            <a:avLst/>
          </a:prstGeom>
          <a:noFill/>
        </p:spPr>
        <p:txBody>
          <a:bodyPr wrap="square" anchor="ctr" lIns="0" rIns="0" tIns="0" bIns="0">
            <a:spAutoFit/>
          </a:bodyPr>
          <a:lstStyle/>
          <a:p>
            <a:pPr algn="l"/>
            <a:r>
              <a:rPr sz="3000" b="1" i="0">
                <a:solidFill>
                  <a:srgbClr val="8EA2FF"/>
                </a:solidFill>
                <a:latin typeface="Arial"/>
              </a:rPr>
              <a:t>①</a:t>
            </a:r>
          </a:p>
        </p:txBody>
      </p:sp>
      <p:sp>
        <p:nvSpPr>
          <p:cNvPr id="5" name="TextBox 4"/>
          <p:cNvSpPr txBox="1"/>
          <p:nvPr/>
        </p:nvSpPr>
        <p:spPr>
          <a:xfrm>
            <a:off x="1143000" y="1645920"/>
            <a:ext cx="2514600" cy="1234440"/>
          </a:xfrm>
          <a:prstGeom prst="rect">
            <a:avLst/>
          </a:prstGeom>
          <a:noFill/>
        </p:spPr>
        <p:txBody>
          <a:bodyPr wrap="square" anchor="ctr" lIns="0" rIns="0" tIns="0" bIns="0">
            <a:spAutoFit/>
          </a:bodyPr>
          <a:lstStyle/>
          <a:p>
            <a:pPr algn="l"/>
            <a:r>
              <a:rPr sz="2000" b="1" i="0">
                <a:solidFill>
                  <a:srgbClr val="F2F4F7"/>
                </a:solidFill>
                <a:latin typeface="Arial"/>
              </a:rPr>
              <a:t>The customer sees exactly how to pay</a:t>
            </a:r>
          </a:p>
        </p:txBody>
      </p:sp>
      <p:pic>
        <p:nvPicPr>
          <p:cNvPr id="6" name="Picture 5" descr="request_head.png"/>
          <p:cNvPicPr>
            <a:picLocks noChangeAspect="1"/>
          </p:cNvPicPr>
          <p:nvPr/>
        </p:nvPicPr>
        <p:blipFill>
          <a:blip r:embed="rId3"/>
          <a:stretch>
            <a:fillRect/>
          </a:stretch>
        </p:blipFill>
        <p:spPr>
          <a:xfrm>
            <a:off x="3794759" y="1712381"/>
            <a:ext cx="4754880" cy="1101517"/>
          </a:xfrm>
          <a:prstGeom prst="rect">
            <a:avLst/>
          </a:prstGeom>
        </p:spPr>
      </p:pic>
      <p:sp>
        <p:nvSpPr>
          <p:cNvPr id="7" name="TextBox 6"/>
          <p:cNvSpPr txBox="1"/>
          <p:nvPr/>
        </p:nvSpPr>
        <p:spPr>
          <a:xfrm>
            <a:off x="548640" y="3108960"/>
            <a:ext cx="548640" cy="1234440"/>
          </a:xfrm>
          <a:prstGeom prst="rect">
            <a:avLst/>
          </a:prstGeom>
          <a:noFill/>
        </p:spPr>
        <p:txBody>
          <a:bodyPr wrap="square" anchor="ctr" lIns="0" rIns="0" tIns="0" bIns="0">
            <a:spAutoFit/>
          </a:bodyPr>
          <a:lstStyle/>
          <a:p>
            <a:pPr algn="l"/>
            <a:r>
              <a:rPr sz="3000" b="1" i="0">
                <a:solidFill>
                  <a:srgbClr val="8EA2FF"/>
                </a:solidFill>
                <a:latin typeface="Arial"/>
              </a:rPr>
              <a:t>②</a:t>
            </a:r>
          </a:p>
        </p:txBody>
      </p:sp>
      <p:sp>
        <p:nvSpPr>
          <p:cNvPr id="8" name="TextBox 7"/>
          <p:cNvSpPr txBox="1"/>
          <p:nvPr/>
        </p:nvSpPr>
        <p:spPr>
          <a:xfrm>
            <a:off x="1143000" y="3108960"/>
            <a:ext cx="2514600" cy="1234440"/>
          </a:xfrm>
          <a:prstGeom prst="rect">
            <a:avLst/>
          </a:prstGeom>
          <a:noFill/>
        </p:spPr>
        <p:txBody>
          <a:bodyPr wrap="square" anchor="ctr" lIns="0" rIns="0" tIns="0" bIns="0">
            <a:spAutoFit/>
          </a:bodyPr>
          <a:lstStyle/>
          <a:p>
            <a:pPr algn="l"/>
            <a:r>
              <a:rPr sz="2000" b="1" i="0">
                <a:solidFill>
                  <a:srgbClr val="F2F4F7"/>
                </a:solidFill>
                <a:latin typeface="Arial"/>
              </a:rPr>
              <a:t>Correct payments tick themselves off</a:t>
            </a:r>
          </a:p>
        </p:txBody>
      </p:sp>
      <p:pic>
        <p:nvPicPr>
          <p:cNvPr id="9" name="Picture 8" descr="auto_head.png"/>
          <p:cNvPicPr>
            <a:picLocks noChangeAspect="1"/>
          </p:cNvPicPr>
          <p:nvPr/>
        </p:nvPicPr>
        <p:blipFill>
          <a:blip r:embed="rId4"/>
          <a:stretch>
            <a:fillRect/>
          </a:stretch>
        </p:blipFill>
        <p:spPr>
          <a:xfrm>
            <a:off x="3794759" y="3131820"/>
            <a:ext cx="4754880" cy="1188720"/>
          </a:xfrm>
          <a:prstGeom prst="rect">
            <a:avLst/>
          </a:prstGeom>
        </p:spPr>
      </p:pic>
      <p:sp>
        <p:nvSpPr>
          <p:cNvPr id="10" name="TextBox 9"/>
          <p:cNvSpPr txBox="1"/>
          <p:nvPr/>
        </p:nvSpPr>
        <p:spPr>
          <a:xfrm>
            <a:off x="548640" y="4572000"/>
            <a:ext cx="548640" cy="1234440"/>
          </a:xfrm>
          <a:prstGeom prst="rect">
            <a:avLst/>
          </a:prstGeom>
          <a:noFill/>
        </p:spPr>
        <p:txBody>
          <a:bodyPr wrap="square" anchor="ctr" lIns="0" rIns="0" tIns="0" bIns="0">
            <a:spAutoFit/>
          </a:bodyPr>
          <a:lstStyle/>
          <a:p>
            <a:pPr algn="l"/>
            <a:r>
              <a:rPr sz="3000" b="1" i="0">
                <a:solidFill>
                  <a:srgbClr val="8EA2FF"/>
                </a:solidFill>
                <a:latin typeface="Arial"/>
              </a:rPr>
              <a:t>③</a:t>
            </a:r>
          </a:p>
        </p:txBody>
      </p:sp>
      <p:sp>
        <p:nvSpPr>
          <p:cNvPr id="11" name="TextBox 10"/>
          <p:cNvSpPr txBox="1"/>
          <p:nvPr/>
        </p:nvSpPr>
        <p:spPr>
          <a:xfrm>
            <a:off x="1143000" y="4572000"/>
            <a:ext cx="2514600" cy="1234440"/>
          </a:xfrm>
          <a:prstGeom prst="rect">
            <a:avLst/>
          </a:prstGeom>
          <a:noFill/>
        </p:spPr>
        <p:txBody>
          <a:bodyPr wrap="square" anchor="ctr" lIns="0" rIns="0" tIns="0" bIns="0">
            <a:spAutoFit/>
          </a:bodyPr>
          <a:lstStyle/>
          <a:p>
            <a:pPr algn="l"/>
            <a:r>
              <a:rPr sz="2000" b="1" i="0">
                <a:solidFill>
                  <a:srgbClr val="F2F4F7"/>
                </a:solidFill>
                <a:latin typeface="Arial"/>
              </a:rPr>
              <a:t>A problem is explained, with the reply drafted</a:t>
            </a:r>
          </a:p>
        </p:txBody>
      </p:sp>
      <p:pic>
        <p:nvPicPr>
          <p:cNvPr id="12" name="Picture 11" descr="fake_head.png"/>
          <p:cNvPicPr>
            <a:picLocks noChangeAspect="1"/>
          </p:cNvPicPr>
          <p:nvPr/>
        </p:nvPicPr>
        <p:blipFill>
          <a:blip r:embed="rId5"/>
          <a:stretch>
            <a:fillRect/>
          </a:stretch>
        </p:blipFill>
        <p:spPr>
          <a:xfrm>
            <a:off x="3794759" y="4785055"/>
            <a:ext cx="4754880" cy="808330"/>
          </a:xfrm>
          <a:prstGeom prst="rect">
            <a:avLst/>
          </a:prstGeom>
        </p:spPr>
      </p:pic>
      <p:pic>
        <p:nvPicPr>
          <p:cNvPr id="13" name="Demo video (60 s)">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8915400" y="1600200"/>
            <a:ext cx="2727655" cy="1534306"/>
          </a:xfrm>
          <a:prstGeom prst="rect">
            <a:avLst/>
          </a:prstGeom>
        </p:spPr>
      </p:pic>
      <p:sp>
        <p:nvSpPr>
          <p:cNvPr id="14" name="TextBox 13"/>
          <p:cNvSpPr txBox="1"/>
          <p:nvPr/>
        </p:nvSpPr>
        <p:spPr>
          <a:xfrm>
            <a:off x="8915400" y="3225946"/>
            <a:ext cx="2727655" cy="365760"/>
          </a:xfrm>
          <a:prstGeom prst="rect">
            <a:avLst/>
          </a:prstGeom>
          <a:noFill/>
        </p:spPr>
        <p:txBody>
          <a:bodyPr wrap="square" anchor="t" lIns="0" rIns="0" tIns="0" bIns="0">
            <a:spAutoFit/>
          </a:bodyPr>
          <a:lstStyle/>
          <a:p>
            <a:pPr algn="ctr"/>
            <a:r>
              <a:rPr sz="1800" b="1" i="0">
                <a:solidFill>
                  <a:srgbClr val="B9C6FF"/>
                </a:solidFill>
                <a:latin typeface="Arial"/>
              </a:rPr>
              <a:t>▶ 60-second demo</a:t>
            </a:r>
          </a:p>
        </p:txBody>
      </p:sp>
      <p:pic>
        <p:nvPicPr>
          <p:cNvPr id="15" name="Picture 14" descr="demo_qr.png"/>
          <p:cNvPicPr>
            <a:picLocks noChangeAspect="1"/>
          </p:cNvPicPr>
          <p:nvPr/>
        </p:nvPicPr>
        <p:blipFill>
          <a:blip r:embed="rId9"/>
          <a:stretch>
            <a:fillRect/>
          </a:stretch>
        </p:blipFill>
        <p:spPr>
          <a:xfrm>
            <a:off x="9707727" y="3683146"/>
            <a:ext cx="1143000" cy="1143000"/>
          </a:xfrm>
          <a:prstGeom prst="rect">
            <a:avLst/>
          </a:prstGeom>
        </p:spPr>
      </p:pic>
      <p:sp>
        <p:nvSpPr>
          <p:cNvPr id="16" name="TextBox 15"/>
          <p:cNvSpPr txBox="1"/>
          <p:nvPr/>
        </p:nvSpPr>
        <p:spPr>
          <a:xfrm>
            <a:off x="8915400" y="4871866"/>
            <a:ext cx="2727655" cy="365760"/>
          </a:xfrm>
          <a:prstGeom prst="rect">
            <a:avLst/>
          </a:prstGeom>
          <a:noFill/>
        </p:spPr>
        <p:txBody>
          <a:bodyPr wrap="square" anchor="t" lIns="0" rIns="0" tIns="0" bIns="0">
            <a:spAutoFit/>
          </a:bodyPr>
          <a:lstStyle/>
          <a:p>
            <a:pPr algn="ctr"/>
            <a:r>
              <a:rPr sz="1800" b="0" i="0">
                <a:solidFill>
                  <a:srgbClr val="A3AAB6"/>
                </a:solidFill>
                <a:latin typeface="Arial"/>
              </a:rPr>
              <a:t>Scan to watch</a:t>
            </a:r>
          </a:p>
        </p:txBody>
      </p:sp>
      <p:sp>
        <p:nvSpPr>
          <p:cNvPr id="17"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Real screenshots of the working app. All demo data is fictional. It reads payments only; it never holds or moves money.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It works in a demo. I don't yet know if people need it</a:t>
            </a:r>
          </a:p>
        </p:txBody>
      </p:sp>
      <p:sp>
        <p:nvSpPr>
          <p:cNvPr id="4" name="Rounded Rectangle 3"/>
          <p:cNvSpPr/>
          <p:nvPr/>
        </p:nvSpPr>
        <p:spPr>
          <a:xfrm>
            <a:off x="548640" y="1600200"/>
            <a:ext cx="5364327" cy="41148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632807" cy="457200"/>
          </a:xfrm>
          <a:prstGeom prst="rect">
            <a:avLst/>
          </a:prstGeom>
          <a:noFill/>
        </p:spPr>
        <p:txBody>
          <a:bodyPr wrap="square" anchor="t" lIns="0" rIns="0" tIns="0" bIns="0">
            <a:spAutoFit/>
          </a:bodyPr>
          <a:lstStyle/>
          <a:p>
            <a:pPr algn="l"/>
            <a:r>
              <a:rPr sz="2400" b="1" i="0">
                <a:solidFill>
                  <a:srgbClr val="66D9A3"/>
                </a:solidFill>
                <a:latin typeface="Arial"/>
              </a:rPr>
              <a:t>What works</a:t>
            </a:r>
          </a:p>
        </p:txBody>
      </p:sp>
      <p:sp>
        <p:nvSpPr>
          <p:cNvPr id="6" name="TextBox 5"/>
          <p:cNvSpPr txBox="1"/>
          <p:nvPr/>
        </p:nvSpPr>
        <p:spPr>
          <a:xfrm>
            <a:off x="914400" y="2514600"/>
            <a:ext cx="4632807" cy="3108960"/>
          </a:xfrm>
          <a:prstGeom prst="rect">
            <a:avLst/>
          </a:prstGeom>
          <a:noFill/>
        </p:spPr>
        <p:txBody>
          <a:bodyPr wrap="square" anchor="t" lIns="0" rIns="0" tIns="0" bIns="0">
            <a:spAutoFit/>
          </a:bodyPr>
          <a:lstStyle/>
          <a:p>
            <a:pPr algn="l">
              <a:spcAft>
                <a:spcPts val="1400"/>
              </a:spcAft>
            </a:pPr>
            <a:r>
              <a:rPr sz="2000" b="0" i="0">
                <a:solidFill>
                  <a:srgbClr val="F2F4F7"/>
                </a:solidFill>
                <a:latin typeface="Arial"/>
              </a:rPr>
              <a:t>•  7 payment situations work end to end</a:t>
            </a:r>
          </a:p>
          <a:p>
            <a:pPr algn="l">
              <a:spcAft>
                <a:spcPts val="1400"/>
              </a:spcAft>
            </a:pPr>
            <a:r>
              <a:rPr sz="2000" b="0" i="0">
                <a:solidFill>
                  <a:srgbClr val="F2F4F7"/>
                </a:solidFill>
                <a:latin typeface="Arial"/>
              </a:rPr>
              <a:t>•  52 of 52 real transactions: correct verdict¹</a:t>
            </a:r>
          </a:p>
        </p:txBody>
      </p:sp>
      <p:sp>
        <p:nvSpPr>
          <p:cNvPr id="7" name="Rounded Rectangle 6"/>
          <p:cNvSpPr/>
          <p:nvPr/>
        </p:nvSpPr>
        <p:spPr>
          <a:xfrm>
            <a:off x="6278727" y="1600200"/>
            <a:ext cx="5364327" cy="411480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44487" y="1828800"/>
            <a:ext cx="4632807" cy="457200"/>
          </a:xfrm>
          <a:prstGeom prst="rect">
            <a:avLst/>
          </a:prstGeom>
          <a:noFill/>
        </p:spPr>
        <p:txBody>
          <a:bodyPr wrap="square" anchor="t" lIns="0" rIns="0" tIns="0" bIns="0">
            <a:spAutoFit/>
          </a:bodyPr>
          <a:lstStyle/>
          <a:p>
            <a:pPr algn="l"/>
            <a:r>
              <a:rPr sz="2400" b="1" i="0">
                <a:solidFill>
                  <a:srgbClr val="B9C6FF"/>
                </a:solidFill>
                <a:latin typeface="Arial"/>
              </a:rPr>
              <a:t>What I don't know yet</a:t>
            </a:r>
          </a:p>
        </p:txBody>
      </p:sp>
      <p:sp>
        <p:nvSpPr>
          <p:cNvPr id="9" name="TextBox 8"/>
          <p:cNvSpPr txBox="1"/>
          <p:nvPr/>
        </p:nvSpPr>
        <p:spPr>
          <a:xfrm>
            <a:off x="6644487" y="2514600"/>
            <a:ext cx="4632807" cy="3108960"/>
          </a:xfrm>
          <a:prstGeom prst="rect">
            <a:avLst/>
          </a:prstGeom>
          <a:noFill/>
        </p:spPr>
        <p:txBody>
          <a:bodyPr wrap="square" anchor="t" lIns="0" rIns="0" tIns="0" bIns="0">
            <a:spAutoFit/>
          </a:bodyPr>
          <a:lstStyle/>
          <a:p>
            <a:pPr algn="l">
              <a:spcAft>
                <a:spcPts val="1400"/>
              </a:spcAft>
            </a:pPr>
            <a:r>
              <a:rPr sz="2000" b="0" i="0">
                <a:solidFill>
                  <a:srgbClr val="F2F4F7"/>
                </a:solidFill>
                <a:latin typeface="Arial"/>
              </a:rPr>
              <a:t>•  Do customers pay directly, or via checkout?</a:t>
            </a:r>
          </a:p>
          <a:p>
            <a:pPr algn="l">
              <a:spcAft>
                <a:spcPts val="1400"/>
              </a:spcAft>
            </a:pPr>
            <a:r>
              <a:rPr sz="2000" b="0" i="0">
                <a:solidFill>
                  <a:srgbClr val="F2F4F7"/>
                </a:solidFill>
                <a:latin typeface="Arial"/>
              </a:rPr>
              <a:t>•  Would finance teams use it?</a:t>
            </a:r>
          </a:p>
          <a:p>
            <a:pPr algn="l">
              <a:spcAft>
                <a:spcPts val="1400"/>
              </a:spcAft>
            </a:pPr>
            <a:r>
              <a:rPr sz="2000" b="0" i="0">
                <a:solidFill>
                  <a:srgbClr val="F2F4F7"/>
                </a:solidFill>
                <a:latin typeface="Arial"/>
              </a:rPr>
              <a:t>•  0 customers; my 3 calls reached vendors only</a:t>
            </a:r>
          </a:p>
        </p:txBody>
      </p:sp>
      <p:sp>
        <p:nvSpPr>
          <p:cNvPr id="10"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¹ Real transactions it hadn't seen before (demo/REPORT.md). The invoice-matching part is not yet tested on real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Three questions I'd love your view on</a:t>
            </a:r>
          </a:p>
        </p:txBody>
      </p:sp>
      <p:sp>
        <p:nvSpPr>
          <p:cNvPr id="4" name="TextBox 3"/>
          <p:cNvSpPr txBox="1"/>
          <p:nvPr/>
        </p:nvSpPr>
        <p:spPr>
          <a:xfrm>
            <a:off x="548640" y="1600200"/>
            <a:ext cx="640080" cy="731520"/>
          </a:xfrm>
          <a:prstGeom prst="rect">
            <a:avLst/>
          </a:prstGeom>
          <a:noFill/>
        </p:spPr>
        <p:txBody>
          <a:bodyPr wrap="square" anchor="ctr" lIns="0" rIns="0" tIns="0" bIns="0">
            <a:spAutoFit/>
          </a:bodyPr>
          <a:lstStyle/>
          <a:p>
            <a:pPr algn="l"/>
            <a:r>
              <a:rPr sz="3400" b="1" i="0">
                <a:solidFill>
                  <a:srgbClr val="8EA2FF"/>
                </a:solidFill>
                <a:latin typeface="Arial"/>
              </a:rPr>
              <a:t>1</a:t>
            </a:r>
          </a:p>
        </p:txBody>
      </p:sp>
      <p:sp>
        <p:nvSpPr>
          <p:cNvPr id="5" name="TextBox 4"/>
          <p:cNvSpPr txBox="1"/>
          <p:nvPr/>
        </p:nvSpPr>
        <p:spPr>
          <a:xfrm>
            <a:off x="1280160" y="1600200"/>
            <a:ext cx="10362895" cy="731520"/>
          </a:xfrm>
          <a:prstGeom prst="rect">
            <a:avLst/>
          </a:prstGeom>
          <a:noFill/>
        </p:spPr>
        <p:txBody>
          <a:bodyPr wrap="square" anchor="ctr" lIns="0" rIns="0" tIns="0" bIns="0">
            <a:spAutoFit/>
          </a:bodyPr>
          <a:lstStyle/>
          <a:p>
            <a:pPr algn="l"/>
            <a:r>
              <a:rPr sz="2600" b="1" i="0">
                <a:solidFill>
                  <a:srgbClr val="F2F4F7"/>
                </a:solidFill>
                <a:latin typeface="Arial"/>
              </a:rPr>
              <a:t>Does the direct-payment gap seem real to you?</a:t>
            </a:r>
          </a:p>
        </p:txBody>
      </p:sp>
      <p:sp>
        <p:nvSpPr>
          <p:cNvPr id="6" name="TextBox 5"/>
          <p:cNvSpPr txBox="1"/>
          <p:nvPr/>
        </p:nvSpPr>
        <p:spPr>
          <a:xfrm>
            <a:off x="548640" y="2468880"/>
            <a:ext cx="640080" cy="731520"/>
          </a:xfrm>
          <a:prstGeom prst="rect">
            <a:avLst/>
          </a:prstGeom>
          <a:noFill/>
        </p:spPr>
        <p:txBody>
          <a:bodyPr wrap="square" anchor="ctr" lIns="0" rIns="0" tIns="0" bIns="0">
            <a:spAutoFit/>
          </a:bodyPr>
          <a:lstStyle/>
          <a:p>
            <a:pPr algn="l"/>
            <a:r>
              <a:rPr sz="3400" b="1" i="0">
                <a:solidFill>
                  <a:srgbClr val="8EA2FF"/>
                </a:solidFill>
                <a:latin typeface="Arial"/>
              </a:rPr>
              <a:t>2</a:t>
            </a:r>
          </a:p>
        </p:txBody>
      </p:sp>
      <p:sp>
        <p:nvSpPr>
          <p:cNvPr id="7" name="TextBox 6"/>
          <p:cNvSpPr txBox="1"/>
          <p:nvPr/>
        </p:nvSpPr>
        <p:spPr>
          <a:xfrm>
            <a:off x="1280160" y="2468880"/>
            <a:ext cx="10362895" cy="731520"/>
          </a:xfrm>
          <a:prstGeom prst="rect">
            <a:avLst/>
          </a:prstGeom>
          <a:noFill/>
        </p:spPr>
        <p:txBody>
          <a:bodyPr wrap="square" anchor="ctr" lIns="0" rIns="0" tIns="0" bIns="0">
            <a:spAutoFit/>
          </a:bodyPr>
          <a:lstStyle/>
          <a:p>
            <a:pPr algn="l"/>
            <a:r>
              <a:rPr sz="2600" b="1" i="0">
                <a:solidFill>
                  <a:srgbClr val="F2F4F7"/>
                </a:solidFill>
                <a:latin typeface="Arial"/>
              </a:rPr>
              <a:t>What would you test first?</a:t>
            </a:r>
          </a:p>
        </p:txBody>
      </p:sp>
      <p:sp>
        <p:nvSpPr>
          <p:cNvPr id="8" name="TextBox 7"/>
          <p:cNvSpPr txBox="1"/>
          <p:nvPr/>
        </p:nvSpPr>
        <p:spPr>
          <a:xfrm>
            <a:off x="548640" y="3337560"/>
            <a:ext cx="640080" cy="731520"/>
          </a:xfrm>
          <a:prstGeom prst="rect">
            <a:avLst/>
          </a:prstGeom>
          <a:noFill/>
        </p:spPr>
        <p:txBody>
          <a:bodyPr wrap="square" anchor="ctr" lIns="0" rIns="0" tIns="0" bIns="0">
            <a:spAutoFit/>
          </a:bodyPr>
          <a:lstStyle/>
          <a:p>
            <a:pPr algn="l"/>
            <a:r>
              <a:rPr sz="3400" b="1" i="0">
                <a:solidFill>
                  <a:srgbClr val="8EA2FF"/>
                </a:solidFill>
                <a:latin typeface="Arial"/>
              </a:rPr>
              <a:t>3</a:t>
            </a:r>
          </a:p>
        </p:txBody>
      </p:sp>
      <p:sp>
        <p:nvSpPr>
          <p:cNvPr id="9" name="TextBox 8"/>
          <p:cNvSpPr txBox="1"/>
          <p:nvPr/>
        </p:nvSpPr>
        <p:spPr>
          <a:xfrm>
            <a:off x="1280160" y="3337560"/>
            <a:ext cx="10362895" cy="731520"/>
          </a:xfrm>
          <a:prstGeom prst="rect">
            <a:avLst/>
          </a:prstGeom>
          <a:noFill/>
        </p:spPr>
        <p:txBody>
          <a:bodyPr wrap="square" anchor="ctr" lIns="0" rIns="0" tIns="0" bIns="0">
            <a:spAutoFit/>
          </a:bodyPr>
          <a:lstStyle/>
          <a:p>
            <a:pPr algn="l"/>
            <a:r>
              <a:rPr sz="2600" b="1" i="0">
                <a:solidFill>
                  <a:srgbClr val="F2F4F7"/>
                </a:solidFill>
                <a:latin typeface="Arial"/>
              </a:rPr>
              <a:t>Is there anyone you'd suggest I speak to?</a:t>
            </a:r>
          </a:p>
        </p:txBody>
      </p:sp>
      <p:sp>
        <p:nvSpPr>
          <p:cNvPr id="10" name="Rounded Rectangle 9"/>
          <p:cNvSpPr/>
          <p:nvPr/>
        </p:nvSpPr>
        <p:spPr>
          <a:xfrm>
            <a:off x="548640" y="4434840"/>
            <a:ext cx="11094415" cy="1371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34840"/>
            <a:ext cx="5120640" cy="1371600"/>
          </a:xfrm>
          <a:prstGeom prst="rect">
            <a:avLst/>
          </a:prstGeom>
          <a:noFill/>
        </p:spPr>
        <p:txBody>
          <a:bodyPr wrap="square" anchor="ctr" lIns="0" rIns="0" tIns="0" bIns="0">
            <a:spAutoFit/>
          </a:bodyPr>
          <a:lstStyle/>
          <a:p>
            <a:pPr algn="l">
              <a:spcAft>
                <a:spcPts val="400"/>
              </a:spcAft>
            </a:pPr>
            <a:r>
              <a:rPr sz="2400" b="1" i="0">
                <a:solidFill>
                  <a:srgbClr val="F2F4F7"/>
                </a:solidFill>
                <a:latin typeface="Arial"/>
              </a:rPr>
              <a:t>Thank you for reading.</a:t>
            </a:r>
          </a:p>
          <a:p>
            <a:pPr algn="l">
              <a:spcAft>
                <a:spcPts val="400"/>
              </a:spcAft>
            </a:pPr>
            <a:r>
              <a:rPr sz="2000" b="0" i="0">
                <a:solidFill>
                  <a:srgbClr val="A3AAB6"/>
                </a:solidFill>
                <a:latin typeface="Arial"/>
              </a:rPr>
              <a:t>Happy to show the demo in 15 minutes.</a:t>
            </a:r>
          </a:p>
        </p:txBody>
      </p:sp>
      <p:sp>
        <p:nvSpPr>
          <p:cNvPr id="12" name="TextBox 11"/>
          <p:cNvSpPr txBox="1"/>
          <p:nvPr/>
        </p:nvSpPr>
        <p:spPr>
          <a:xfrm>
            <a:off x="6126479" y="4434840"/>
            <a:ext cx="5242255" cy="1371600"/>
          </a:xfrm>
          <a:prstGeom prst="rect">
            <a:avLst/>
          </a:prstGeom>
          <a:noFill/>
        </p:spPr>
        <p:txBody>
          <a:bodyPr wrap="square" anchor="ctr" lIns="0" rIns="0" tIns="0" bIns="0">
            <a:spAutoFit/>
          </a:bodyPr>
          <a:lstStyle/>
          <a:p>
            <a:pPr algn="l"/>
            <a:r>
              <a:rPr sz="2000" b="1" i="0">
                <a:solidFill>
                  <a:srgbClr val="F2F4F7"/>
                </a:solidFill>
                <a:latin typeface="Arial"/>
              </a:rPr>
              <a:t>Aashmiin Kaur</a:t>
            </a:r>
          </a:p>
          <a:p>
            <a:pPr algn="l"/>
            <a:r>
              <a:rPr sz="2000" b="0" i="0">
                <a:solidFill>
                  <a:srgbClr val="A3AAB6"/>
                </a:solidFill>
                <a:latin typeface="Arial"/>
              </a:rPr>
              <a:t>aashmiin@gmail.com</a:t>
            </a:r>
          </a:p>
          <a:p>
            <a:pPr algn="l"/>
            <a:r>
              <a:rPr sz="2000" b="0" i="0">
                <a:solidFill>
                  <a:srgbClr val="A3AAB6"/>
                </a:solidFill>
                <a:latin typeface="Arial"/>
              </a:rPr>
              <a:t>linkedin.com/in/aashmiin-kaur-479665391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