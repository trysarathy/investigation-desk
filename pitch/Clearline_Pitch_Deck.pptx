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Thank you for making time. This is Clearline, a working demo I built on my own. It helps a business that gets paid in digital dollars (stablecoins) by doing the detective work that today falls on a finance person. I'm here for honest feedback, not to sell anything.</a:t>
            </a:r>
          </a:p>
          <a:p>
            <a:r>
              <a:t>LABELS: no factual claims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Imagine Maya, a finance manager (an illustrative persona) whose customers pay in digital dollars. The money arrives in seconds, but every time something is off, she ends up in pages of codes, spreadsheets and email chains to work out what happened. The message on the right is the kind she gets every day. "Hours" is our assumption: it is the first thing the interviews must confirm.</a:t>
            </a:r>
          </a:p>
          <a:p>
            <a:r>
              <a:t>LABELS: "arrives in seconds" — [VERIFIED as general knowledge: stablecoin transfers settle on-chain within seconds to minutes; e.g. Ethereum blocks are ~12 s (ethereum.org/developers/docs/blocks)]. "Takes hours" — [ASSUMPTION], untested. The quote is illustrative, taken from the product's fictional demo data (Orbit Retail, INV-1043), not from a real customer.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Four things go wrong. Customers pay a little too little, for example because an exchange took a fee (how often is an assumption the interviews will measure). They send on the wrong network, like using the wrong road. Some are tricked into paying with counterfeit digital dollars: anyone can create a token with the same name. And many forget to say which invoice they're paying, because a blockchain transfer has no reference field.</a:t>
            </a:r>
          </a:p>
          <a:p>
            <a:r>
              <a:t>LABELS: "A transfer carries an amount and an address, not an invoice number" — [VERIFIED] ERC-20 standard: a Transfer has only from, to and value (eips.ethereum.org/EIPS/eip-20). Fake tokens with real names — [VERIFIED] any contract can set its own name/symbol (same standard). Which of the four is most common and how often — [ASSUMPTION], untested.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Clearline is a smart cashier for digital-dollar payments. Before anyone pays, it tells the customer exactly what to send, on which network and to which address. When a payment arrives correctly, it ticks the invoice off by itself. When something is wrong, it explains why in plain English and drafts the reply to the customer. It never moves money; a person makes every decision that isn't routine.</a:t>
            </a:r>
          </a:p>
          <a:p>
            <a:r>
              <a:t>LABELS: these are product capabilities, [VERIFIED] in the working demo (demo/REQUESTS_DEMO.md, "Working now" column). Real-world accuracy of the payment-matching side — not yet tested on real data (demo/REPORT.md).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Here is the real product, running on a fictional company. One: the customer's payment page says exactly what to send and on which network. Two: a correct payment is checked and marked paid with no one touching it. Three: fake digital dollars are caught, explained in plain English, and can't be marked paid by mistake. [Click the video to play the 60-second demo; for the full 2-minute walkthrough, play demo_live_full.mp4.]</a:t>
            </a:r>
          </a:p>
          <a:p>
            <a:r>
              <a:t>LABELS: screenshots captured from the app in demo mode (pitch/assets/shots); all data fictional. [VERIFIED]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Three things changed. Rules: the US signed its stablecoin law in July 2025, and Singapore's central bank published draft legislation for its stablecoin framework on 1 September 2026. Use: McKinsey and Artemis counted about 226 billion US dollars of business-to-business stablecoin payments in 2025, and Singapore is one of the top five sending countries. Gateways are arriving: Stripe accepts stablecoins and HitPay offers them to Singapore merchants. I expect more businesses will get paid this way, and the checking work to grow with them [ASSUMPTION].</a:t>
            </a:r>
          </a:p>
          <a:p>
            <a:r>
              <a:t>SOURCES:</a:t>
            </a:r>
          </a:p>
          <a:p>
            <a:r>
              <a:t>[1] GENIUS Act signed 18 July 2025 — eco.com GENIUS Act implementation tracker (Aug 2026); Morgan Lewis, July 2025 (House passed 17 July 2025). Final implementing rules still pending as of mid-2026.</a:t>
            </a:r>
          </a:p>
          <a:p>
            <a:r>
              <a:t>[2] MAS consultation and draft amendments to the Payment Services Act for the stablecoin framework, published 1 Sep 2026, comments closed 16 Oct 2026 — mas.gov.sg media release; Gibson Dunn client alert, Sep 2026.</a:t>
            </a:r>
          </a:p>
          <a:p>
            <a:r>
              <a:t>[3] "About $226 billion a year" of B2B stablecoin payments — McKinsey, "Stablecoins in payments: What the raw transaction numbers miss" (2026, with Artemis Analytics), mckinsey.com; an estimate assuming ~20% of tagged activity is B2B, annualised from Dec 2025; B2B penetration ~0.01%. Also reported by CoinDesk, 23 Jan 2026. NOTE: Artemis's own Oct 2025 report gives a lower B2B run-rate (US$76B annualised, Aug 2025; its conclusion says US$36B) — the definitions differ, so quote 226B only with "McKinsey &amp; Artemis" attached.</a:t>
            </a:r>
          </a:p>
          <a:p>
            <a:r>
              <a:t>[4] Singapore among the top five stablecoin-sending countries — Artemis, "Stablecoin Payments from the Ground Up", Oct 2025.</a:t>
            </a:r>
          </a:p>
          <a:p>
            <a:r>
              <a:t>[5] Stripe stablecoin payments: available to US businesses; private preview in the EU, Hong Kong, Mexico, Switzerland; not Singapore; USDC (USDP/USDG US-only); customer limit US$10,000 per transaction — docs.stripe.com/crypto/stablecoins (checked Oct 2026).</a:t>
            </a:r>
          </a:p>
          <a:p>
            <a:r>
              <a:t>[6] HitPay × Triple-A, 14 Oct 2025: "will enable more than 20,000 Singapore merchants" to accept stablecoins, with instant fiat settlement — fintechnews.sg. Eligible merchants, not active users.</a:t>
            </a:r>
          </a:p>
          <a:p>
            <a:r>
              <a:t>[4] note: checked via PaymentExpert's 29 Oct 2025 write-up of the Artemis report (US, Singapore, Hong Kong, Japan, UK); open the Artemis PDF once to see the exact chart.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Checkout pages already handle payments that go through them. Our first customer is the other lane: finance teams whose business customers send digital dollars directly, from an exchange account or a company wallet, to a fixed address. That's where short payments, wrong networks, fakes and missing references land on a person. In Singapore I'd start with crypto and Web3 companies that invoice other businesses in USDC or USDT.</a:t>
            </a:r>
          </a:p>
          <a:p>
            <a:r>
              <a:t>LABELS: that direct payments are common for this group — [ASSUMPTION], it is exactly what the key interview question tests. 300+ Web3 companies in Singapore — [VERIFIED] Singapore EDB, "Singapore: the onchain state" (edb.gov.sg). 37 MAS-licensed digital payment token service providers — [VERIFIED] fintechnews.sg, 6 Aug 2026, citing a parliamentary reply.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Every piece of this exists somewhere, and these companies do it well. Checkout tools match payments made through their own pages. Wallets warn the sender about look-alike addresses. Risk tools flag scam tokens. Accounting tools keep the books. What I haven't found is a tool built for the finance person facing a direct payment that went wrong, with the explanation and the reply ready. That's a gap I believe exists, not one I've proven.</a:t>
            </a:r>
          </a:p>
          <a:p>
            <a:r>
              <a:t>SOURCES:</a:t>
            </a:r>
          </a:p>
          <a:p>
            <a:r>
              <a:t>Stripe — docs.stripe.com/crypto/stablecoins (invoices, payment links, checkout; settles in local currency). Coinbase Commerce, Request Finance (hosted invoice pages; Request Finance marks invoices paid and syncs QuickBooks/Xero) — eco.com "Best B2B stablecoin invoicing tools 2026". HitPay × Triple-A — fintechnews.sg, Oct 2025.</a:t>
            </a:r>
          </a:p>
          <a:p>
            <a:r>
              <a:t>MetaMask address-poisoning alert (2026) — KuCoin News; Trust Wallet Address Poisoning Protection (Mar 2026) — trustwallet.com; Safe{Wallet} + Blockaid (Sep 2024) — blockaid.io.</a:t>
            </a:r>
          </a:p>
          <a:p>
            <a:r>
              <a:t>Blockaid token security (scam tokens, address poisoning) — blockaid.io/token-security. Elliptic, Chainalysis — blockchain analytics and compliance (general knowledge; not checked feature by feature).</a:t>
            </a:r>
          </a:p>
          <a:p>
            <a:r>
              <a:t>Bitwave — matches payouts to vendors and invoices, ERP sync (bitwave.io reconciliation guide).</a:t>
            </a:r>
          </a:p>
          <a:p>
            <a:r>
              <a:t>"Leaves to a person" column — [ASSUMPTION] from public product pages; not tested with these products.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Here's what I believe, and I want to be clear these are beliefs, not findings. First, many business customers pay from exchange accounts or company wallets rather than checkout pages. Second, the cost isn't the payments, it's the exceptions: each one is a small investigation. Third, gateways and custodians would rather plug in exception handling than build it. If the first belief is wrong, the plan changes, and slide 12 says how.</a:t>
            </a:r>
          </a:p>
          <a:p>
            <a:r>
              <a:t>LABELS: all three [ASSUMPTION]/[GUESS]. The "15–30 minutes per exception" is a [GUESS]: the demo's own "time saved" figure (20 min per explained exception) is a demo estimate, not a measurement. The three earlier calls (custodian and compliance-software teams) said reconciliation was "not really an issue" for them — that cuts against belief 2 for vendors; buyers (finance teams receiving payments) are untested.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 haven't tested pricing, so these are two hypotheses. Direct: a monthly subscription per finance team, priced by payment volume. Embedded: a gateway or custodian pays per exception Clearline handles for its merchants. The interviews will tell me which one people would actually pay for: I'll ask what an exception costs them today in staff time.</a:t>
            </a:r>
          </a:p>
          <a:p>
            <a:r>
              <a:t>LABELS: both models and all prices [ASSUMPTION]/[GUESS], untested.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Bottom-up, and deliberately small. Singapore has over 300 Web3 companies. If about half are paid directly in stablecoins, and a team pays about 6,000 Singapore dollars a year, that's under a million dollars a year. That's a test market, not the business. The bigger prize is the region and India, and the embedded route through gateways, and I'll size those once the interviews tell me how many exceptions a team really has.</a:t>
            </a:r>
          </a:p>
          <a:p>
            <a:r>
              <a:t>LABELS / SOURCES: 300+ Web3 companies in Singapore — [VERIFIED] Singapore EDB, "Singapore: the onchain state" (edb.gov.sg). "About half paid directly" — [GUESS]. S$6,000/year — [ASSUMPTION] (S$500/month, the middle of the untested range on slide 10). 300 × 50% × S$6,000 = S$900,000 / year. No top-down TAM is claimed.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Honestly: a working product, no customers yet. The demo runs seven real-world payment situations end to end. On the investigation side, it gave the correct verdict on 52 of 52 new real transactions, after being tuned on 59 others; but the explanations and the payment matching haven't been tested on real data, and the company records were sample data. My three early calls were with custodian and compliance-software teams about an earlier idea, and they said reconciliation wasn't really an issue for them. So the next step is ten conversations with the actual buyers, and one question decides the direction.</a:t>
            </a:r>
          </a:p>
          <a:p>
            <a:r>
              <a:t>SOURCES / LABELS: 7 payment cases — [VERIFIED] demo/REQUESTS_DEMO.md. Correct verdicts: 43/59 before fixes, 59/59 after, 52/52 on held-out cases collected afterwards (deposit-investigation part; 6 networks + Bitcoin IDs) — [VERIFIED] demo/REPORT.md, 24–25 Oct 2026; matching side and AI explanations NOT tested on real data. 3 early calls (custodian and compliance-software teams, 16 Oct 2026) — [VERIFIED from the founder's notes; names withheld]. 0 customers, 0 paid pilots — [VERIFIED].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It's just me for now. I'm a second-year accountancy student at SMU, which is why the finance person's side of this matters to me. I taught myself to code through Harvard's CS50 and built this product myself, using AI coding tools. I've done business development as a student analyst at Protégé Ventures and in partner outreach at Hatch, and I'm in SMU's BIG incubator. What I lack is payments operations experience, which is part of why I'm asking for your help.</a:t>
            </a:r>
          </a:p>
          <a:p>
            <a:r>
              <a:t>LABELS: background as stated by the founder — please check each line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Three things would help most. Your honest view of the wedge: am I right that direct payments and their exceptions are underserved, or am I missing something? Introductions to three to five finance teams that receive stablecoin payments, for a 20-minute conversation, not a sales pitch. And your advice on whether and how to approach gateways or custodians as partners. Thank you.</a:t>
            </a:r>
          </a:p>
          <a:p>
            <a:r>
              <a:t>LABELS: no factual claims.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(only if asked): These are the risks I see, and what I'd do about each.</a:t>
            </a:r>
          </a:p>
          <a:p>
            <a:r>
              <a:t>LABELS: mitigations are plans, [ASSUMPTION]. Licensing note is not legal advice: Clearline reads payment data and drafts messages; it never holds, moves or exchanges money, which is why I believe it sits outside a payment-services licence, but that needs confirming with a Singapore lawyer.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hardest questions from the honesty check, with the short answer to give. Full answers:</a:t>
            </a:r>
          </a:p>
          <a:p/>
          <a:p>
            <a:r>
              <a:t>Q: You haven't spoken to an actual buyer. How do you know anyone has this problem?</a:t>
            </a:r>
          </a:p>
          <a:p>
            <a:r>
              <a:t>A: Honestly, I don't know. My only three calls were with custodian and compliance-software teams, about an earlier idea, and they said reconciliation wasn't really an issue for them. Next I'll talk to ten finance teams that receive stablecoins, asking whether customers pay through a checkout or send directly, and how many exceptions they handle. If none of them feel the pain, I'll change direction.</a:t>
            </a:r>
          </a:p>
          <a:p/>
          <a:p>
            <a:r>
              <a:t>Q: Your own market estimate is S$0.9M. Why is this venture-scale?</a:t>
            </a:r>
          </a:p>
          <a:p>
            <a:r>
              <a:t>A: S$0.9M is deliberately a ceiling for a test market, built on a guess and an assumption. The bet is that business stablecoin payments keep growing (McKinsey and Artemis estimate about US$226B a year) and that gateways would pay per exception for their merchants. I can't size either honestly until I know how many exceptions a real finance team has, which is what the interviews ask.</a:t>
            </a:r>
          </a:p>
          <a:p/>
          <a:p>
            <a:r>
              <a:t>Q: Why won't Stripe, HitPay or Circle just build this?</a:t>
            </a:r>
          </a:p>
          <a:p>
            <a:r>
              <a:t>A: They could, and for payments made through their own pages they already handle matching. My untested belief is that business customers often pay directly from exchange accounts and company wallets, outside any checkout; Stripe also caps a payment at US$10,000 and takes USDC only. If interviews show most payments go through checkouts, Clearline becomes an exception-handling plug-in that gateways pay for per exception.</a:t>
            </a:r>
          </a:p>
          <a:p/>
          <a:p>
            <a:r>
              <a:t>Q: Why you: a solo second-year student with no payments experience?</a:t>
            </a:r>
          </a:p>
          <a:p>
            <a:r>
              <a:t>A: I'm a second-year accountancy student, so the finance person's side is what I'm trained in. I built the working demo myself, with AI coding tools, and tested its investigation side on real transactions. What I'm missing is payments-operations experience, and the deck says so; I'm looking for a co-founder or advisor with that background.</a:t>
            </a:r>
          </a:p>
          <a:p/>
          <a:p>
            <a:r>
              <a:t>Q: What does your real-data test actually prove?</a:t>
            </a:r>
          </a:p>
          <a:p>
            <a:r>
              <a:t>A: The investigation engine reached the right verdict on real on-chain cases across six networks, checked against independent sources such as Tronscan and the issuers' own contracts. It scored 43 of 59 before fixes and 59 of 59 after, then 52 of 52 on new cases collected afterwards. Company records were sample data, and the matching side and the plain-English explanations haven't been tested on real data. It shows the technology can work, not that anyone wants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hardest questions from the honesty check, with the short answer to give. Full answers:</a:t>
            </a:r>
          </a:p>
          <a:p/>
          <a:p>
            <a:r>
              <a:t>Q: A unique deposit address per invoice fixes missing references, and your demo uses one. What's left?</a:t>
            </a:r>
          </a:p>
          <a:p>
            <a:r>
              <a:t>A: Agreed: per-invoice addresses solve most of the reference problem, and Clearline's payment page uses them. What's left are exceptions that still happen: short payments, the wrong network, counterfeit tokens, and payments to a retired or another customer's address. All of these appear in my real-data test cases. Whether they happen often enough to pay for, I'll learn by asking ten finance teams for their monthly exception count.</a:t>
            </a:r>
          </a:p>
          <a:p/>
          <a:p>
            <a:r>
              <a:t>Q: Crypto accounting tools already reconcile on-chain payments to invoices. How are you different?</a:t>
            </a:r>
          </a:p>
          <a:p>
            <a:r>
              <a:t>A: From their public pages, Bitwave matches payments to invoices and syncs the ERP, and Request Finance marks invoices paid. My 'leaves to a person' column is an assumption from those public pages, not from using the products, and I haven't yet compared TRES Finance or Cryptio. Before claiming a gap I'll try the main tools, including any you'd name, and ask finance teams what they do when a payment doesn't match.</a:t>
            </a:r>
          </a:p>
          <a:p/>
          <a:p>
            <a:r>
              <a:t>Q: Singapore's likely buyers are licensed crypto firms with compliance tools. Why buy another?</a:t>
            </a:r>
          </a:p>
          <a:p>
            <a:r>
              <a:t>A: It's a real risk: my three early calls were with that kind of vendor team, and they said reconciliation wasn't really an issue for them. My target is the finance team receiving invoice payments, not the compliance team, and that buyer is untested. If these firms already handle it in-house, the fallback is selling through gateways per exception, which is also untested.</a:t>
            </a:r>
          </a:p>
          <a:p/>
          <a:p>
            <a:r>
              <a:t>Q: Who is liable if it marks a fake or frozen payment as paid, and do you need a licence?</a:t>
            </a:r>
          </a:p>
          <a:p>
            <a:r>
              <a:t>A: In the demo, only routine payments are marked paid by a rule; anything else goes to a person who confirms with a note, and fake tokens can't be marked paid by mistake. On real data the investigation side caught 13 of 13 fake-USDT and 11 of 11 issuer-freeze cases, but matching hasn't been tested on real data. Clearline only reads payment data and drafts messages, so I believe it sits outside a payment-services licence; a Singapore lawyer must confirm that before any live customer.</a:t>
            </a:r>
          </a:p>
          <a:p/>
          <a:p>
            <a:r>
              <a:t>Q: How many exceptions does a team see a month, and what does one cost?</a:t>
            </a:r>
          </a:p>
          <a:p>
            <a:r>
              <a:t>A: I don't have a number. The 15–30 minutes per exception is a guess, and the demo's 20-minute figure is an estimate, not a measurement. Pricing depends on this, so the interviews ask how many exceptions happen a month and what one costs in staff time. If it's only a handful, the subscription model doesn't work.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microsoft.com/office/2007/relationships/media" Target="../media/media1.mp4"/><Relationship Id="rId7" Type="http://schemas.openxmlformats.org/officeDocument/2006/relationships/video" Target="../media/media1.mp4"/><Relationship Id="rId8"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pic>
        <p:nvPicPr>
          <p:cNvPr id="2" name="Picture 1" descr="logo.png"/>
          <p:cNvPicPr>
            <a:picLocks noChangeAspect="1"/>
          </p:cNvPicPr>
          <p:nvPr/>
        </p:nvPicPr>
        <p:blipFill>
          <a:blip r:embed="rId3"/>
          <a:stretch>
            <a:fillRect/>
          </a:stretch>
        </p:blipFill>
        <p:spPr>
          <a:xfrm>
            <a:off x="548640" y="1874519"/>
            <a:ext cx="1051560" cy="1051560"/>
          </a:xfrm>
          <a:prstGeom prst="rect">
            <a:avLst/>
          </a:prstGeom>
        </p:spPr>
      </p:pic>
      <p:sp>
        <p:nvSpPr>
          <p:cNvPr id="3" name="TextBox 2"/>
          <p:cNvSpPr txBox="1"/>
          <p:nvPr/>
        </p:nvSpPr>
        <p:spPr>
          <a:xfrm>
            <a:off x="1828800" y="1783080"/>
            <a:ext cx="8229600" cy="1188720"/>
          </a:xfrm>
          <a:prstGeom prst="rect">
            <a:avLst/>
          </a:prstGeom>
          <a:noFill/>
        </p:spPr>
        <p:txBody>
          <a:bodyPr wrap="square" anchor="t" lIns="0" rIns="0" tIns="0" bIns="0">
            <a:spAutoFit/>
          </a:bodyPr>
          <a:lstStyle/>
          <a:p>
            <a:pPr algn="l"/>
            <a:r>
              <a:rPr sz="7200" b="1" i="0">
                <a:solidFill>
                  <a:srgbClr val="F2F4F7"/>
                </a:solidFill>
                <a:latin typeface="Arial"/>
              </a:rPr>
              <a:t>Clearline</a:t>
            </a:r>
          </a:p>
        </p:txBody>
      </p:sp>
      <p:sp>
        <p:nvSpPr>
          <p:cNvPr id="4" name="TextBox 3"/>
          <p:cNvSpPr txBox="1"/>
          <p:nvPr/>
        </p:nvSpPr>
        <p:spPr>
          <a:xfrm>
            <a:off x="548640" y="3200400"/>
            <a:ext cx="10058400" cy="731520"/>
          </a:xfrm>
          <a:prstGeom prst="rect">
            <a:avLst/>
          </a:prstGeom>
          <a:noFill/>
        </p:spPr>
        <p:txBody>
          <a:bodyPr wrap="square" anchor="t" lIns="0" rIns="0" tIns="0" bIns="0">
            <a:spAutoFit/>
          </a:bodyPr>
          <a:lstStyle/>
          <a:p>
            <a:pPr algn="l"/>
            <a:r>
              <a:rPr sz="3000" b="0" i="0">
                <a:solidFill>
                  <a:srgbClr val="B9C6FF"/>
                </a:solidFill>
                <a:latin typeface="Arial"/>
              </a:rPr>
              <a:t>Get paid in digital dollars without the detective work.</a:t>
            </a:r>
          </a:p>
        </p:txBody>
      </p:sp>
      <p:sp>
        <p:nvSpPr>
          <p:cNvPr id="5" name="TextBox 4"/>
          <p:cNvSpPr txBox="1"/>
          <p:nvPr/>
        </p:nvSpPr>
        <p:spPr>
          <a:xfrm>
            <a:off x="548640" y="3794760"/>
            <a:ext cx="10058400" cy="457200"/>
          </a:xfrm>
          <a:prstGeom prst="rect">
            <a:avLst/>
          </a:prstGeom>
          <a:noFill/>
        </p:spPr>
        <p:txBody>
          <a:bodyPr wrap="square" anchor="t" lIns="0" rIns="0" tIns="0" bIns="0">
            <a:spAutoFit/>
          </a:bodyPr>
          <a:lstStyle/>
          <a:p>
            <a:pPr algn="l"/>
            <a:r>
              <a:rPr sz="1800" b="0" i="0">
                <a:solidFill>
                  <a:srgbClr val="A3AAB6"/>
                </a:solidFill>
                <a:latin typeface="Arial"/>
              </a:rPr>
              <a:t>Digital dollars: stablecoins such as USDC and USDT.</a:t>
            </a:r>
          </a:p>
        </p:txBody>
      </p:sp>
      <p:sp>
        <p:nvSpPr>
          <p:cNvPr id="6" name="Rounded Rectangle 5"/>
          <p:cNvSpPr/>
          <p:nvPr/>
        </p:nvSpPr>
        <p:spPr>
          <a:xfrm>
            <a:off x="548640" y="4526280"/>
            <a:ext cx="4023360" cy="466344"/>
          </a:xfrm>
          <a:prstGeom prst="roundRect">
            <a:avLst>
              <a:gd name="adj" fmla="val 50000"/>
            </a:avLst>
          </a:prstGeom>
          <a:solidFill>
            <a:srgbClr val="0B0E14"/>
          </a:solidFill>
          <a:ln w="12700">
            <a:solidFill>
              <a:srgbClr val="8EA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526280"/>
            <a:ext cx="4023360" cy="466344"/>
          </a:xfrm>
          <a:prstGeom prst="rect">
            <a:avLst/>
          </a:prstGeom>
          <a:noFill/>
        </p:spPr>
        <p:txBody>
          <a:bodyPr wrap="square" anchor="ctr" lIns="0" rIns="0" tIns="0" bIns="0">
            <a:spAutoFit/>
          </a:bodyPr>
          <a:lstStyle/>
          <a:p>
            <a:pPr algn="ctr"/>
            <a:r>
              <a:rPr sz="1800" b="0" i="0">
                <a:solidFill>
                  <a:srgbClr val="8EA2FF"/>
                </a:solidFill>
                <a:latin typeface="Arial"/>
              </a:rPr>
              <a:t>Working demo · seeking feedback</a:t>
            </a:r>
          </a:p>
        </p:txBody>
      </p:sp>
      <p:sp>
        <p:nvSpPr>
          <p:cNvPr id="8" name="TextBox 7"/>
          <p:cNvSpPr txBox="1"/>
          <p:nvPr/>
        </p:nvSpPr>
        <p:spPr>
          <a:xfrm>
            <a:off x="548640" y="5760720"/>
            <a:ext cx="10058400" cy="365760"/>
          </a:xfrm>
          <a:prstGeom prst="rect">
            <a:avLst/>
          </a:prstGeom>
          <a:noFill/>
        </p:spPr>
        <p:txBody>
          <a:bodyPr wrap="square" anchor="t" lIns="0" rIns="0" tIns="0" bIns="0">
            <a:spAutoFit/>
          </a:bodyPr>
          <a:lstStyle/>
          <a:p>
            <a:pPr algn="l"/>
            <a:r>
              <a:rPr sz="1600" b="0" i="0">
                <a:solidFill>
                  <a:srgbClr val="A3AAB6"/>
                </a:solidFill>
                <a:latin typeface="Arial"/>
              </a:rPr>
              <a:t>Aashmiin Kaur  ·  Singapore Management University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itle"/>
          <p:cNvSpPr txBox="1"/>
          <p:nvPr/>
        </p:nvSpPr>
        <p:spPr>
          <a:xfrm>
            <a:off x="548640" y="457200"/>
            <a:ext cx="11094415" cy="822960"/>
          </a:xfrm>
          <a:prstGeom prst="rect">
            <a:avLst/>
          </a:prstGeom>
          <a:noFill/>
        </p:spPr>
        <p:txBody>
          <a:bodyPr wrap="square" anchor="t" lIns="0" rIns="0" tIns="0" bIns="0">
            <a:spAutoFit/>
          </a:bodyPr>
          <a:lstStyle/>
          <a:p>
            <a:pPr algn="l"/>
            <a:r>
              <a:rPr sz="3600" b="1" i="0">
                <a:solidFill>
                  <a:srgbClr val="F2F4F7"/>
                </a:solidFill>
                <a:latin typeface="Arial"/>
              </a:rPr>
              <a:t>Paid in seconds. Checked for hours.</a:t>
            </a:r>
          </a:p>
        </p:txBody>
      </p:sp>
      <p:pic>
        <p:nvPicPr>
          <p:cNvPr id="3" name="Picture 2" descr="dig_crop.jpg"/>
          <p:cNvPicPr>
            <a:picLocks noChangeAspect="1"/>
          </p:cNvPicPr>
          <p:nvPr/>
        </p:nvPicPr>
        <p:blipFill>
          <a:blip r:embed="rId3"/>
          <a:stretch>
            <a:fillRect/>
          </a:stretch>
        </p:blipFill>
        <p:spPr>
          <a:xfrm>
            <a:off x="548640" y="2057400"/>
            <a:ext cx="6766560" cy="1671259"/>
          </a:xfrm>
          <a:prstGeom prst="rect">
            <a:avLst/>
          </a:prstGeom>
        </p:spPr>
      </p:pic>
      <p:sp>
        <p:nvSpPr>
          <p:cNvPr id="4" name="TextBox 3"/>
          <p:cNvSpPr txBox="1"/>
          <p:nvPr/>
        </p:nvSpPr>
        <p:spPr>
          <a:xfrm>
            <a:off x="548640" y="3957258"/>
            <a:ext cx="6766560" cy="457200"/>
          </a:xfrm>
          <a:prstGeom prst="rect">
            <a:avLst/>
          </a:prstGeom>
          <a:noFill/>
        </p:spPr>
        <p:txBody>
          <a:bodyPr wrap="square" anchor="t" lIns="0" rIns="0" tIns="0" bIns="0">
            <a:spAutoFit/>
          </a:bodyPr>
          <a:lstStyle/>
          <a:p>
            <a:pPr algn="l"/>
            <a:r>
              <a:rPr sz="1800" b="0" i="0">
                <a:solidFill>
                  <a:srgbClr val="A3AAB6"/>
                </a:solidFill>
                <a:latin typeface="Arial"/>
              </a:rPr>
              <a:t>What a finance manager like Maya (illustrative) opens to find one payment</a:t>
            </a:r>
            <a:r>
              <a:rPr sz="1200" b="0" i="0">
                <a:solidFill>
                  <a:srgbClr val="B9C6FF"/>
                </a:solidFill>
                <a:latin typeface="Arial"/>
              </a:rPr>
              <a:t>  [ASSUMPTION]</a:t>
            </a:r>
          </a:p>
        </p:txBody>
      </p:sp>
      <p:sp>
        <p:nvSpPr>
          <p:cNvPr id="5" name="Rounded Rectangle 4"/>
          <p:cNvSpPr/>
          <p:nvPr/>
        </p:nvSpPr>
        <p:spPr>
          <a:xfrm>
            <a:off x="7818120" y="2057400"/>
            <a:ext cx="3822191" cy="237744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92440" y="2286000"/>
            <a:ext cx="3291840" cy="1463040"/>
          </a:xfrm>
          <a:prstGeom prst="rect">
            <a:avLst/>
          </a:prstGeom>
          <a:noFill/>
        </p:spPr>
        <p:txBody>
          <a:bodyPr wrap="square" anchor="t" lIns="0" rIns="0" tIns="0" bIns="0">
            <a:spAutoFit/>
          </a:bodyPr>
          <a:lstStyle/>
          <a:p>
            <a:pPr algn="l"/>
            <a:r>
              <a:rPr sz="2200" b="0" i="0">
                <a:solidFill>
                  <a:srgbClr val="F2F4F7"/>
                </a:solidFill>
                <a:latin typeface="Arial"/>
              </a:rPr>
              <a:t>“We paid INV-1043 in full yesterday. Please confirm and close the invoice.”</a:t>
            </a:r>
          </a:p>
        </p:txBody>
      </p:sp>
      <p:sp>
        <p:nvSpPr>
          <p:cNvPr id="7" name="TextBox 6"/>
          <p:cNvSpPr txBox="1"/>
          <p:nvPr/>
        </p:nvSpPr>
        <p:spPr>
          <a:xfrm>
            <a:off x="8092440" y="3840480"/>
            <a:ext cx="3291840" cy="457200"/>
          </a:xfrm>
          <a:prstGeom prst="rect">
            <a:avLst/>
          </a:prstGeom>
          <a:noFill/>
        </p:spPr>
        <p:txBody>
          <a:bodyPr wrap="square" anchor="t" lIns="0" rIns="0" tIns="0" bIns="0">
            <a:spAutoFit/>
          </a:bodyPr>
          <a:lstStyle/>
          <a:p>
            <a:pPr algn="l"/>
            <a:r>
              <a:rPr sz="1300" b="0" i="0">
                <a:solidFill>
                  <a:srgbClr val="767E8C"/>
                </a:solidFill>
                <a:latin typeface="Arial"/>
              </a:rPr>
              <a:t>Illustrative message · fictional demo company</a:t>
            </a:r>
          </a:p>
        </p:txBody>
      </p:sp>
      <p:sp>
        <p:nvSpPr>
          <p:cNvPr id="8" name="TextBox 7"/>
          <p:cNvSpPr txBox="1"/>
          <p:nvPr/>
        </p:nvSpPr>
        <p:spPr>
          <a:xfrm>
            <a:off x="7818120" y="4754880"/>
            <a:ext cx="3840480" cy="1097280"/>
          </a:xfrm>
          <a:prstGeom prst="rect">
            <a:avLst/>
          </a:prstGeom>
          <a:noFill/>
        </p:spPr>
        <p:txBody>
          <a:bodyPr wrap="square" anchor="t" lIns="0" rIns="0" tIns="0" bIns="0">
            <a:spAutoFit/>
          </a:bodyPr>
          <a:lstStyle/>
          <a:p>
            <a:pPr algn="l">
              <a:spcAft>
                <a:spcPts val="400"/>
              </a:spcAft>
            </a:pPr>
            <a:r>
              <a:rPr sz="2600" b="1" i="0">
                <a:solidFill>
                  <a:srgbClr val="F2F4F7"/>
                </a:solidFill>
                <a:latin typeface="Arial"/>
              </a:rPr>
              <a:t>Seconds</a:t>
            </a:r>
            <a:r>
              <a:rPr sz="2600" b="0" i="0">
                <a:solidFill>
                  <a:srgbClr val="A3AAB6"/>
                </a:solidFill>
                <a:latin typeface="Arial"/>
              </a:rPr>
              <a:t>  to pay.</a:t>
            </a:r>
          </a:p>
          <a:p>
            <a:pPr algn="l">
              <a:spcAft>
                <a:spcPts val="400"/>
              </a:spcAft>
            </a:pPr>
            <a:r>
              <a:rPr sz="2600" b="1" i="0">
                <a:solidFill>
                  <a:srgbClr val="B9C6FF"/>
                </a:solidFill>
                <a:latin typeface="Arial"/>
              </a:rPr>
              <a:t>Hours</a:t>
            </a:r>
            <a:r>
              <a:rPr sz="2600" b="0" i="0">
                <a:solidFill>
                  <a:srgbClr val="A3AAB6"/>
                </a:solidFill>
                <a:latin typeface="Arial"/>
              </a:rPr>
              <a:t>  to check.</a:t>
            </a:r>
            <a:r>
              <a:rPr sz="1200" b="0" i="0">
                <a:solidFill>
                  <a:srgbClr val="B9C6FF"/>
                </a:solidFill>
                <a:latin typeface="Arial"/>
              </a:rPr>
              <a:t>  [ASSUMPTION]</a:t>
            </a:r>
          </a:p>
        </p:txBody>
      </p:sp>
      <p:sp>
        <p:nvSpPr>
          <p:cNvPr id="9" name="Sources"/>
          <p:cNvSpPr txBox="1"/>
          <p:nvPr/>
        </p:nvSpPr>
        <p:spPr>
          <a:xfrm>
            <a:off x="548640" y="6400800"/>
            <a:ext cx="11094415" cy="274320"/>
          </a:xfrm>
          <a:prstGeom prst="rect">
            <a:avLst/>
          </a:prstGeom>
          <a:noFill/>
        </p:spPr>
        <p:txBody>
          <a:bodyPr wrap="square" anchor="t" lIns="0" rIns="0" tIns="0" bIns="0">
            <a:spAutoFit/>
          </a:bodyPr>
          <a:lstStyle/>
          <a:p>
            <a:pPr algn="l"/>
            <a:r>
              <a:rPr sz="1000" b="0" i="0">
                <a:solidFill>
                  <a:srgbClr val="767E8C"/>
                </a:solidFill>
                <a:latin typeface="Arial"/>
              </a:rPr>
              <a:t>Ethereum adds a block about every 12 s (ethereum.org); receivers may wait minutes for confirmations. “Hours” is our assumption, to be tested in interviews.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itle"/>
          <p:cNvSpPr txBox="1"/>
          <p:nvPr/>
        </p:nvSpPr>
        <p:spPr>
          <a:xfrm>
            <a:off x="548640" y="457200"/>
            <a:ext cx="11094415" cy="822960"/>
          </a:xfrm>
          <a:prstGeom prst="rect">
            <a:avLst/>
          </a:prstGeom>
          <a:noFill/>
        </p:spPr>
        <p:txBody>
          <a:bodyPr wrap="square" anchor="t" lIns="0" rIns="0" tIns="0" bIns="0">
            <a:spAutoFit/>
          </a:bodyPr>
          <a:lstStyle/>
          <a:p>
            <a:pPr algn="l"/>
            <a:r>
              <a:rPr sz="3600" b="1" i="0">
                <a:solidFill>
                  <a:srgbClr val="F2F4F7"/>
                </a:solidFill>
                <a:latin typeface="Arial"/>
              </a:rPr>
              <a:t>Four things go wrong with these payments</a:t>
            </a:r>
          </a:p>
        </p:txBody>
      </p:sp>
      <p:sp>
        <p:nvSpPr>
          <p:cNvPr id="3" name="Subtitle"/>
          <p:cNvSpPr txBox="1"/>
          <p:nvPr/>
        </p:nvSpPr>
        <p:spPr>
          <a:xfrm>
            <a:off x="548640" y="1261872"/>
            <a:ext cx="11094415" cy="457200"/>
          </a:xfrm>
          <a:prstGeom prst="rect">
            <a:avLst/>
          </a:prstGeom>
          <a:noFill/>
        </p:spPr>
        <p:txBody>
          <a:bodyPr wrap="square" anchor="t" lIns="0" rIns="0" tIns="0" bIns="0">
            <a:spAutoFit/>
          </a:bodyPr>
          <a:lstStyle/>
          <a:p>
            <a:pPr algn="l"/>
            <a:r>
              <a:rPr sz="2000" b="0" i="0">
                <a:solidFill>
                  <a:srgbClr val="A3AAB6"/>
                </a:solidFill>
                <a:latin typeface="Arial"/>
              </a:rPr>
              <a:t>A token transfer records sender, receiver and amount: no invoice reference.¹</a:t>
            </a:r>
          </a:p>
        </p:txBody>
      </p:sp>
      <p:sp>
        <p:nvSpPr>
          <p:cNvPr id="4" name="Rounded Rectangle 3"/>
          <p:cNvSpPr/>
          <p:nvPr/>
        </p:nvSpPr>
        <p:spPr>
          <a:xfrm>
            <a:off x="548640" y="2240280"/>
            <a:ext cx="2533573" cy="329184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hort.png"/>
          <p:cNvPicPr>
            <a:picLocks noChangeAspect="1"/>
          </p:cNvPicPr>
          <p:nvPr/>
        </p:nvPicPr>
        <p:blipFill>
          <a:blip r:embed="rId3"/>
          <a:stretch>
            <a:fillRect/>
          </a:stretch>
        </p:blipFill>
        <p:spPr>
          <a:xfrm>
            <a:off x="1038186" y="2560320"/>
            <a:ext cx="1554480" cy="1554480"/>
          </a:xfrm>
          <a:prstGeom prst="rect">
            <a:avLst/>
          </a:prstGeom>
        </p:spPr>
      </p:pic>
      <p:sp>
        <p:nvSpPr>
          <p:cNvPr id="6" name="TextBox 5"/>
          <p:cNvSpPr txBox="1"/>
          <p:nvPr/>
        </p:nvSpPr>
        <p:spPr>
          <a:xfrm>
            <a:off x="731520" y="4343400"/>
            <a:ext cx="2167813" cy="1005840"/>
          </a:xfrm>
          <a:prstGeom prst="rect">
            <a:avLst/>
          </a:prstGeom>
          <a:noFill/>
        </p:spPr>
        <p:txBody>
          <a:bodyPr wrap="square" anchor="t" lIns="0" rIns="0" tIns="0" bIns="0">
            <a:spAutoFit/>
          </a:bodyPr>
          <a:lstStyle/>
          <a:p>
            <a:pPr algn="ctr"/>
            <a:r>
              <a:rPr sz="2400" b="1" i="0">
                <a:solidFill>
                  <a:srgbClr val="F2F4F7"/>
                </a:solidFill>
                <a:latin typeface="Arial"/>
              </a:rPr>
              <a:t>Paid a little
too little</a:t>
            </a:r>
          </a:p>
        </p:txBody>
      </p:sp>
      <p:sp>
        <p:nvSpPr>
          <p:cNvPr id="7" name="Rounded Rectangle 6"/>
          <p:cNvSpPr/>
          <p:nvPr/>
        </p:nvSpPr>
        <p:spPr>
          <a:xfrm>
            <a:off x="3402253" y="2240280"/>
            <a:ext cx="2533573" cy="329184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road.png"/>
          <p:cNvPicPr>
            <a:picLocks noChangeAspect="1"/>
          </p:cNvPicPr>
          <p:nvPr/>
        </p:nvPicPr>
        <p:blipFill>
          <a:blip r:embed="rId4"/>
          <a:stretch>
            <a:fillRect/>
          </a:stretch>
        </p:blipFill>
        <p:spPr>
          <a:xfrm>
            <a:off x="3891800" y="2560320"/>
            <a:ext cx="1554480" cy="1554480"/>
          </a:xfrm>
          <a:prstGeom prst="rect">
            <a:avLst/>
          </a:prstGeom>
        </p:spPr>
      </p:pic>
      <p:sp>
        <p:nvSpPr>
          <p:cNvPr id="9" name="TextBox 8"/>
          <p:cNvSpPr txBox="1"/>
          <p:nvPr/>
        </p:nvSpPr>
        <p:spPr>
          <a:xfrm>
            <a:off x="3585133" y="4343400"/>
            <a:ext cx="2167813" cy="1005840"/>
          </a:xfrm>
          <a:prstGeom prst="rect">
            <a:avLst/>
          </a:prstGeom>
          <a:noFill/>
        </p:spPr>
        <p:txBody>
          <a:bodyPr wrap="square" anchor="t" lIns="0" rIns="0" tIns="0" bIns="0">
            <a:spAutoFit/>
          </a:bodyPr>
          <a:lstStyle/>
          <a:p>
            <a:pPr algn="ctr"/>
            <a:r>
              <a:rPr sz="2400" b="1" i="0">
                <a:solidFill>
                  <a:srgbClr val="F2F4F7"/>
                </a:solidFill>
                <a:latin typeface="Arial"/>
              </a:rPr>
              <a:t>Sent on the
wrong network</a:t>
            </a:r>
          </a:p>
        </p:txBody>
      </p:sp>
      <p:sp>
        <p:nvSpPr>
          <p:cNvPr id="10" name="Rounded Rectangle 9"/>
          <p:cNvSpPr/>
          <p:nvPr/>
        </p:nvSpPr>
        <p:spPr>
          <a:xfrm>
            <a:off x="6255867" y="2240280"/>
            <a:ext cx="2533573" cy="329184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ake.png"/>
          <p:cNvPicPr>
            <a:picLocks noChangeAspect="1"/>
          </p:cNvPicPr>
          <p:nvPr/>
        </p:nvPicPr>
        <p:blipFill>
          <a:blip r:embed="rId5"/>
          <a:stretch>
            <a:fillRect/>
          </a:stretch>
        </p:blipFill>
        <p:spPr>
          <a:xfrm>
            <a:off x="6745414" y="2560320"/>
            <a:ext cx="1554480" cy="1554480"/>
          </a:xfrm>
          <a:prstGeom prst="rect">
            <a:avLst/>
          </a:prstGeom>
        </p:spPr>
      </p:pic>
      <p:sp>
        <p:nvSpPr>
          <p:cNvPr id="12" name="TextBox 11"/>
          <p:cNvSpPr txBox="1"/>
          <p:nvPr/>
        </p:nvSpPr>
        <p:spPr>
          <a:xfrm>
            <a:off x="6438747" y="4343400"/>
            <a:ext cx="2167813" cy="1005840"/>
          </a:xfrm>
          <a:prstGeom prst="rect">
            <a:avLst/>
          </a:prstGeom>
          <a:noFill/>
        </p:spPr>
        <p:txBody>
          <a:bodyPr wrap="square" anchor="t" lIns="0" rIns="0" tIns="0" bIns="0">
            <a:spAutoFit/>
          </a:bodyPr>
          <a:lstStyle/>
          <a:p>
            <a:pPr algn="ctr"/>
            <a:r>
              <a:rPr sz="2400" b="1" i="0">
                <a:solidFill>
                  <a:srgbClr val="F2F4F7"/>
                </a:solidFill>
                <a:latin typeface="Arial"/>
              </a:rPr>
              <a:t>Counterfeit
digital dollars</a:t>
            </a:r>
          </a:p>
        </p:txBody>
      </p:sp>
      <p:sp>
        <p:nvSpPr>
          <p:cNvPr id="13" name="Rounded Rectangle 12"/>
          <p:cNvSpPr/>
          <p:nvPr/>
        </p:nvSpPr>
        <p:spPr>
          <a:xfrm>
            <a:off x="9109481" y="2240280"/>
            <a:ext cx="2533573" cy="329184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nolabel.png"/>
          <p:cNvPicPr>
            <a:picLocks noChangeAspect="1"/>
          </p:cNvPicPr>
          <p:nvPr/>
        </p:nvPicPr>
        <p:blipFill>
          <a:blip r:embed="rId6"/>
          <a:stretch>
            <a:fillRect/>
          </a:stretch>
        </p:blipFill>
        <p:spPr>
          <a:xfrm>
            <a:off x="9599028" y="2560320"/>
            <a:ext cx="1554480" cy="1554480"/>
          </a:xfrm>
          <a:prstGeom prst="rect">
            <a:avLst/>
          </a:prstGeom>
        </p:spPr>
      </p:pic>
      <p:sp>
        <p:nvSpPr>
          <p:cNvPr id="15" name="TextBox 14"/>
          <p:cNvSpPr txBox="1"/>
          <p:nvPr/>
        </p:nvSpPr>
        <p:spPr>
          <a:xfrm>
            <a:off x="9292361" y="4343400"/>
            <a:ext cx="2167813" cy="1005840"/>
          </a:xfrm>
          <a:prstGeom prst="rect">
            <a:avLst/>
          </a:prstGeom>
          <a:noFill/>
        </p:spPr>
        <p:txBody>
          <a:bodyPr wrap="square" anchor="t" lIns="0" rIns="0" tIns="0" bIns="0">
            <a:spAutoFit/>
          </a:bodyPr>
          <a:lstStyle/>
          <a:p>
            <a:pPr algn="ctr"/>
            <a:r>
              <a:rPr sz="2400" b="1" i="0">
                <a:solidFill>
                  <a:srgbClr val="F2F4F7"/>
                </a:solidFill>
                <a:latin typeface="Arial"/>
              </a:rPr>
              <a:t>No invoice
number</a:t>
            </a:r>
          </a:p>
        </p:txBody>
      </p:sp>
      <p:sp>
        <p:nvSpPr>
          <p:cNvPr id="16" name="TextBox 15"/>
          <p:cNvSpPr txBox="1"/>
          <p:nvPr/>
        </p:nvSpPr>
        <p:spPr>
          <a:xfrm>
            <a:off x="548640" y="5760720"/>
            <a:ext cx="11094415" cy="365760"/>
          </a:xfrm>
          <a:prstGeom prst="rect">
            <a:avLst/>
          </a:prstGeom>
          <a:noFill/>
        </p:spPr>
        <p:txBody>
          <a:bodyPr wrap="square" anchor="t" lIns="0" rIns="0" tIns="0" bIns="0">
            <a:spAutoFit/>
          </a:bodyPr>
          <a:lstStyle/>
          <a:p>
            <a:pPr algn="l"/>
            <a:r>
              <a:rPr sz="1800" b="0" i="0">
                <a:solidFill>
                  <a:srgbClr val="A3AAB6"/>
                </a:solidFill>
                <a:latin typeface="Arial"/>
              </a:rPr>
              <a:t>Today a person sorts out each one. How often each happens is what the interviews will measure.</a:t>
            </a:r>
            <a:r>
              <a:rPr sz="1200" b="0" i="0">
                <a:solidFill>
                  <a:srgbClr val="B9C6FF"/>
                </a:solidFill>
                <a:latin typeface="Arial"/>
              </a:rPr>
              <a:t>  [ASSUMPTION]</a:t>
            </a:r>
          </a:p>
        </p:txBody>
      </p:sp>
      <p:sp>
        <p:nvSpPr>
          <p:cNvPr id="17" name="Sources"/>
          <p:cNvSpPr txBox="1"/>
          <p:nvPr/>
        </p:nvSpPr>
        <p:spPr>
          <a:xfrm>
            <a:off x="548640" y="6400800"/>
            <a:ext cx="11094415" cy="274320"/>
          </a:xfrm>
          <a:prstGeom prst="rect">
            <a:avLst/>
          </a:prstGeom>
          <a:noFill/>
        </p:spPr>
        <p:txBody>
          <a:bodyPr wrap="square" anchor="t" lIns="0" rIns="0" tIns="0" bIns="0">
            <a:spAutoFit/>
          </a:bodyPr>
          <a:lstStyle/>
          <a:p>
            <a:pPr algn="l"/>
            <a:r>
              <a:rPr sz="1000" b="0" i="0">
                <a:solidFill>
                  <a:srgbClr val="767E8C"/>
                </a:solidFill>
                <a:latin typeface="Arial"/>
              </a:rPr>
              <a:t>¹ ERC-20 standard (eips.ethereum.org/EIPS/eip-20). Real cases in our tests include 13 fake-USDT and 6 wrong-network transfers (demo/REPORT.md).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itle"/>
          <p:cNvSpPr txBox="1"/>
          <p:nvPr/>
        </p:nvSpPr>
        <p:spPr>
          <a:xfrm>
            <a:off x="548640" y="457200"/>
            <a:ext cx="11094415" cy="822960"/>
          </a:xfrm>
          <a:prstGeom prst="rect">
            <a:avLst/>
          </a:prstGeom>
          <a:noFill/>
        </p:spPr>
        <p:txBody>
          <a:bodyPr wrap="square" anchor="t" lIns="0" rIns="0" tIns="0" bIns="0">
            <a:spAutoFit/>
          </a:bodyPr>
          <a:lstStyle/>
          <a:p>
            <a:pPr algn="l"/>
            <a:r>
              <a:rPr sz="3600" b="1" i="0">
                <a:solidFill>
                  <a:srgbClr val="F2F4F7"/>
                </a:solidFill>
                <a:latin typeface="Arial"/>
              </a:rPr>
              <a:t>A smart cashier for digital-dollar payments</a:t>
            </a:r>
          </a:p>
        </p:txBody>
      </p:sp>
      <p:sp>
        <p:nvSpPr>
          <p:cNvPr id="3" name="Subtitle"/>
          <p:cNvSpPr txBox="1"/>
          <p:nvPr/>
        </p:nvSpPr>
        <p:spPr>
          <a:xfrm>
            <a:off x="548640" y="1261872"/>
            <a:ext cx="11094415" cy="457200"/>
          </a:xfrm>
          <a:prstGeom prst="rect">
            <a:avLst/>
          </a:prstGeom>
          <a:noFill/>
        </p:spPr>
        <p:txBody>
          <a:bodyPr wrap="square" anchor="t" lIns="0" rIns="0" tIns="0" bIns="0">
            <a:spAutoFit/>
          </a:bodyPr>
          <a:lstStyle/>
          <a:p>
            <a:pPr algn="l"/>
            <a:r>
              <a:rPr sz="2000" b="0" i="0">
                <a:solidFill>
                  <a:srgbClr val="A3AAB6"/>
                </a:solidFill>
                <a:latin typeface="Arial"/>
              </a:rPr>
              <a:t>It does the checking a finance person does today, and shows its work.</a:t>
            </a:r>
          </a:p>
        </p:txBody>
      </p:sp>
      <p:sp>
        <p:nvSpPr>
          <p:cNvPr id="4" name="Rounded Rectangle 3"/>
          <p:cNvSpPr/>
          <p:nvPr/>
        </p:nvSpPr>
        <p:spPr>
          <a:xfrm>
            <a:off x="548640" y="2103120"/>
            <a:ext cx="3454298" cy="365760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howtopay.png"/>
          <p:cNvPicPr>
            <a:picLocks noChangeAspect="1"/>
          </p:cNvPicPr>
          <p:nvPr/>
        </p:nvPicPr>
        <p:blipFill>
          <a:blip r:embed="rId3"/>
          <a:stretch>
            <a:fillRect/>
          </a:stretch>
        </p:blipFill>
        <p:spPr>
          <a:xfrm>
            <a:off x="914400" y="2423160"/>
            <a:ext cx="1234440" cy="1234440"/>
          </a:xfrm>
          <a:prstGeom prst="rect">
            <a:avLst/>
          </a:prstGeom>
        </p:spPr>
      </p:pic>
      <p:sp>
        <p:nvSpPr>
          <p:cNvPr id="6" name="TextBox 5"/>
          <p:cNvSpPr txBox="1"/>
          <p:nvPr/>
        </p:nvSpPr>
        <p:spPr>
          <a:xfrm>
            <a:off x="914400" y="3703320"/>
            <a:ext cx="2722778" cy="1097280"/>
          </a:xfrm>
          <a:prstGeom prst="rect">
            <a:avLst/>
          </a:prstGeom>
          <a:noFill/>
        </p:spPr>
        <p:txBody>
          <a:bodyPr wrap="square" anchor="t" lIns="0" rIns="0" tIns="0" bIns="0">
            <a:spAutoFit/>
          </a:bodyPr>
          <a:lstStyle/>
          <a:p>
            <a:pPr algn="l"/>
            <a:r>
              <a:rPr sz="2400" b="1" i="0">
                <a:solidFill>
                  <a:srgbClr val="F2F4F7"/>
                </a:solidFill>
                <a:latin typeface="Arial"/>
              </a:rPr>
              <a:t>Customers know exactly how to pay</a:t>
            </a:r>
          </a:p>
        </p:txBody>
      </p:sp>
      <p:sp>
        <p:nvSpPr>
          <p:cNvPr id="7" name="TextBox 6"/>
          <p:cNvSpPr txBox="1"/>
          <p:nvPr/>
        </p:nvSpPr>
        <p:spPr>
          <a:xfrm>
            <a:off x="914400" y="4937760"/>
            <a:ext cx="2722778" cy="731520"/>
          </a:xfrm>
          <a:prstGeom prst="rect">
            <a:avLst/>
          </a:prstGeom>
          <a:noFill/>
        </p:spPr>
        <p:txBody>
          <a:bodyPr wrap="square" anchor="t" lIns="0" rIns="0" tIns="0" bIns="0">
            <a:spAutoFit/>
          </a:bodyPr>
          <a:lstStyle/>
          <a:p>
            <a:pPr algn="l"/>
            <a:r>
              <a:rPr sz="1800" b="0" i="0">
                <a:solidFill>
                  <a:srgbClr val="A3AAB6"/>
                </a:solidFill>
                <a:latin typeface="Arial"/>
              </a:rPr>
              <a:t>Amount, network and address on one page</a:t>
            </a:r>
          </a:p>
        </p:txBody>
      </p:sp>
      <p:sp>
        <p:nvSpPr>
          <p:cNvPr id="8" name="Rounded Rectangle 7"/>
          <p:cNvSpPr/>
          <p:nvPr/>
        </p:nvSpPr>
        <p:spPr>
          <a:xfrm>
            <a:off x="4368698" y="2103120"/>
            <a:ext cx="3454298" cy="365760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icked.png"/>
          <p:cNvPicPr>
            <a:picLocks noChangeAspect="1"/>
          </p:cNvPicPr>
          <p:nvPr/>
        </p:nvPicPr>
        <p:blipFill>
          <a:blip r:embed="rId4"/>
          <a:stretch>
            <a:fillRect/>
          </a:stretch>
        </p:blipFill>
        <p:spPr>
          <a:xfrm>
            <a:off x="4734458" y="2423160"/>
            <a:ext cx="1234440" cy="1234440"/>
          </a:xfrm>
          <a:prstGeom prst="rect">
            <a:avLst/>
          </a:prstGeom>
        </p:spPr>
      </p:pic>
      <p:sp>
        <p:nvSpPr>
          <p:cNvPr id="10" name="TextBox 9"/>
          <p:cNvSpPr txBox="1"/>
          <p:nvPr/>
        </p:nvSpPr>
        <p:spPr>
          <a:xfrm>
            <a:off x="4734458" y="3703320"/>
            <a:ext cx="2722778" cy="1097280"/>
          </a:xfrm>
          <a:prstGeom prst="rect">
            <a:avLst/>
          </a:prstGeom>
          <a:noFill/>
        </p:spPr>
        <p:txBody>
          <a:bodyPr wrap="square" anchor="t" lIns="0" rIns="0" tIns="0" bIns="0">
            <a:spAutoFit/>
          </a:bodyPr>
          <a:lstStyle/>
          <a:p>
            <a:pPr algn="l"/>
            <a:r>
              <a:rPr sz="2200" b="1" i="0">
                <a:solidFill>
                  <a:srgbClr val="F2F4F7"/>
                </a:solidFill>
                <a:latin typeface="Arial"/>
              </a:rPr>
              <a:t>Correct payments tick themselves off</a:t>
            </a:r>
          </a:p>
        </p:txBody>
      </p:sp>
      <p:sp>
        <p:nvSpPr>
          <p:cNvPr id="11" name="TextBox 10"/>
          <p:cNvSpPr txBox="1"/>
          <p:nvPr/>
        </p:nvSpPr>
        <p:spPr>
          <a:xfrm>
            <a:off x="4734458" y="4937760"/>
            <a:ext cx="2722778" cy="731520"/>
          </a:xfrm>
          <a:prstGeom prst="rect">
            <a:avLst/>
          </a:prstGeom>
          <a:noFill/>
        </p:spPr>
        <p:txBody>
          <a:bodyPr wrap="square" anchor="t" lIns="0" rIns="0" tIns="0" bIns="0">
            <a:spAutoFit/>
          </a:bodyPr>
          <a:lstStyle/>
          <a:p>
            <a:pPr algn="l"/>
            <a:r>
              <a:rPr sz="1800" b="0" i="0">
                <a:solidFill>
                  <a:srgbClr val="A3AAB6"/>
                </a:solidFill>
                <a:latin typeface="Arial"/>
              </a:rPr>
              <a:t>Checked and marked paid automatically</a:t>
            </a:r>
          </a:p>
        </p:txBody>
      </p:sp>
      <p:sp>
        <p:nvSpPr>
          <p:cNvPr id="12" name="Rounded Rectangle 11"/>
          <p:cNvSpPr/>
          <p:nvPr/>
        </p:nvSpPr>
        <p:spPr>
          <a:xfrm>
            <a:off x="8188756" y="2103120"/>
            <a:ext cx="3454298" cy="365760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explains.png"/>
          <p:cNvPicPr>
            <a:picLocks noChangeAspect="1"/>
          </p:cNvPicPr>
          <p:nvPr/>
        </p:nvPicPr>
        <p:blipFill>
          <a:blip r:embed="rId5"/>
          <a:stretch>
            <a:fillRect/>
          </a:stretch>
        </p:blipFill>
        <p:spPr>
          <a:xfrm>
            <a:off x="8554516" y="2423160"/>
            <a:ext cx="1234440" cy="1234440"/>
          </a:xfrm>
          <a:prstGeom prst="rect">
            <a:avLst/>
          </a:prstGeom>
        </p:spPr>
      </p:pic>
      <p:sp>
        <p:nvSpPr>
          <p:cNvPr id="14" name="TextBox 13"/>
          <p:cNvSpPr txBox="1"/>
          <p:nvPr/>
        </p:nvSpPr>
        <p:spPr>
          <a:xfrm>
            <a:off x="8554516" y="3703320"/>
            <a:ext cx="2722778" cy="1097280"/>
          </a:xfrm>
          <a:prstGeom prst="rect">
            <a:avLst/>
          </a:prstGeom>
          <a:noFill/>
        </p:spPr>
        <p:txBody>
          <a:bodyPr wrap="square" anchor="t" lIns="0" rIns="0" tIns="0" bIns="0">
            <a:spAutoFit/>
          </a:bodyPr>
          <a:lstStyle/>
          <a:p>
            <a:pPr algn="l"/>
            <a:r>
              <a:rPr sz="2400" b="1" i="0">
                <a:solidFill>
                  <a:srgbClr val="F2F4F7"/>
                </a:solidFill>
                <a:latin typeface="Arial"/>
              </a:rPr>
              <a:t>Problems explain themselves</a:t>
            </a:r>
          </a:p>
        </p:txBody>
      </p:sp>
      <p:sp>
        <p:nvSpPr>
          <p:cNvPr id="15" name="TextBox 14"/>
          <p:cNvSpPr txBox="1"/>
          <p:nvPr/>
        </p:nvSpPr>
        <p:spPr>
          <a:xfrm>
            <a:off x="8554516" y="4937760"/>
            <a:ext cx="2722778" cy="731520"/>
          </a:xfrm>
          <a:prstGeom prst="rect">
            <a:avLst/>
          </a:prstGeom>
          <a:noFill/>
        </p:spPr>
        <p:txBody>
          <a:bodyPr wrap="square" anchor="t" lIns="0" rIns="0" tIns="0" bIns="0">
            <a:spAutoFit/>
          </a:bodyPr>
          <a:lstStyle/>
          <a:p>
            <a:pPr algn="l"/>
            <a:r>
              <a:rPr sz="1800" b="0" i="0">
                <a:solidFill>
                  <a:srgbClr val="A3AAB6"/>
                </a:solidFill>
                <a:latin typeface="Arial"/>
              </a:rPr>
              <a:t>The cause in plain English, and the reply drafted</a:t>
            </a:r>
          </a:p>
        </p:txBody>
      </p:sp>
      <p:sp>
        <p:nvSpPr>
          <p:cNvPr id="16" name="Sources"/>
          <p:cNvSpPr txBox="1"/>
          <p:nvPr/>
        </p:nvSpPr>
        <p:spPr>
          <a:xfrm>
            <a:off x="548640" y="6400800"/>
            <a:ext cx="11094415" cy="274320"/>
          </a:xfrm>
          <a:prstGeom prst="rect">
            <a:avLst/>
          </a:prstGeom>
          <a:noFill/>
        </p:spPr>
        <p:txBody>
          <a:bodyPr wrap="square" anchor="t" lIns="0" rIns="0" tIns="0" bIns="0">
            <a:spAutoFit/>
          </a:bodyPr>
          <a:lstStyle/>
          <a:p>
            <a:pPr algn="l"/>
            <a:r>
              <a:rPr sz="1000" b="0" i="0">
                <a:solidFill>
                  <a:srgbClr val="767E8C"/>
                </a:solidFill>
                <a:latin typeface="Arial"/>
              </a:rPr>
              <a:t>All three run in the working demo today, on fictional data. Clearline reads payments; it never holds or moves money.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itle"/>
          <p:cNvSpPr txBox="1"/>
          <p:nvPr/>
        </p:nvSpPr>
        <p:spPr>
          <a:xfrm>
            <a:off x="548640" y="457200"/>
            <a:ext cx="11094415" cy="822960"/>
          </a:xfrm>
          <a:prstGeom prst="rect">
            <a:avLst/>
          </a:prstGeom>
          <a:noFill/>
        </p:spPr>
        <p:txBody>
          <a:bodyPr wrap="square" anchor="t" lIns="0" rIns="0" tIns="0" bIns="0">
            <a:spAutoFit/>
          </a:bodyPr>
          <a:lstStyle/>
          <a:p>
            <a:pPr algn="l"/>
            <a:r>
              <a:rPr sz="3600" b="1" i="0">
                <a:solidFill>
                  <a:srgbClr val="F2F4F7"/>
                </a:solidFill>
                <a:latin typeface="Arial"/>
              </a:rPr>
              <a:t>The working demo</a:t>
            </a:r>
          </a:p>
        </p:txBody>
      </p:sp>
      <p:sp>
        <p:nvSpPr>
          <p:cNvPr id="3" name="TextBox 2"/>
          <p:cNvSpPr txBox="1"/>
          <p:nvPr/>
        </p:nvSpPr>
        <p:spPr>
          <a:xfrm>
            <a:off x="548640" y="1463040"/>
            <a:ext cx="457200" cy="1325880"/>
          </a:xfrm>
          <a:prstGeom prst="rect">
            <a:avLst/>
          </a:prstGeom>
          <a:noFill/>
        </p:spPr>
        <p:txBody>
          <a:bodyPr wrap="square" anchor="ctr" lIns="0" rIns="0" tIns="0" bIns="0">
            <a:spAutoFit/>
          </a:bodyPr>
          <a:lstStyle/>
          <a:p>
            <a:pPr algn="l"/>
            <a:r>
              <a:rPr sz="3600" b="1" i="0">
                <a:solidFill>
                  <a:srgbClr val="8EA2FF"/>
                </a:solidFill>
                <a:latin typeface="Arial"/>
              </a:rPr>
              <a:t>1</a:t>
            </a:r>
          </a:p>
        </p:txBody>
      </p:sp>
      <p:sp>
        <p:nvSpPr>
          <p:cNvPr id="4" name="TextBox 3"/>
          <p:cNvSpPr txBox="1"/>
          <p:nvPr/>
        </p:nvSpPr>
        <p:spPr>
          <a:xfrm>
            <a:off x="1051560" y="1463040"/>
            <a:ext cx="2011680" cy="1325880"/>
          </a:xfrm>
          <a:prstGeom prst="rect">
            <a:avLst/>
          </a:prstGeom>
          <a:noFill/>
        </p:spPr>
        <p:txBody>
          <a:bodyPr wrap="square" anchor="ctr" lIns="0" rIns="0" tIns="0" bIns="0">
            <a:spAutoFit/>
          </a:bodyPr>
          <a:lstStyle/>
          <a:p>
            <a:pPr algn="l"/>
            <a:r>
              <a:rPr sz="1800" b="0" i="0">
                <a:solidFill>
                  <a:srgbClr val="F2F4F7"/>
                </a:solidFill>
                <a:latin typeface="Arial"/>
              </a:rPr>
              <a:t>The customer sees exactly what to send, and where</a:t>
            </a:r>
          </a:p>
        </p:txBody>
      </p:sp>
      <p:pic>
        <p:nvPicPr>
          <p:cNvPr id="5" name="Picture 4" descr="request_top.png"/>
          <p:cNvPicPr>
            <a:picLocks noChangeAspect="1"/>
          </p:cNvPicPr>
          <p:nvPr/>
        </p:nvPicPr>
        <p:blipFill>
          <a:blip r:embed="rId3"/>
          <a:stretch>
            <a:fillRect/>
          </a:stretch>
        </p:blipFill>
        <p:spPr>
          <a:xfrm>
            <a:off x="3246120" y="1574339"/>
            <a:ext cx="4572000" cy="1103282"/>
          </a:xfrm>
          <a:prstGeom prst="rect">
            <a:avLst/>
          </a:prstGeom>
        </p:spPr>
      </p:pic>
      <p:sp>
        <p:nvSpPr>
          <p:cNvPr id="6" name="TextBox 5"/>
          <p:cNvSpPr txBox="1"/>
          <p:nvPr/>
        </p:nvSpPr>
        <p:spPr>
          <a:xfrm>
            <a:off x="548640" y="3154680"/>
            <a:ext cx="457200" cy="1325880"/>
          </a:xfrm>
          <a:prstGeom prst="rect">
            <a:avLst/>
          </a:prstGeom>
          <a:noFill/>
        </p:spPr>
        <p:txBody>
          <a:bodyPr wrap="square" anchor="ctr" lIns="0" rIns="0" tIns="0" bIns="0">
            <a:spAutoFit/>
          </a:bodyPr>
          <a:lstStyle/>
          <a:p>
            <a:pPr algn="l"/>
            <a:r>
              <a:rPr sz="3600" b="1" i="0">
                <a:solidFill>
                  <a:srgbClr val="8EA2FF"/>
                </a:solidFill>
                <a:latin typeface="Arial"/>
              </a:rPr>
              <a:t>2</a:t>
            </a:r>
          </a:p>
        </p:txBody>
      </p:sp>
      <p:sp>
        <p:nvSpPr>
          <p:cNvPr id="7" name="TextBox 6"/>
          <p:cNvSpPr txBox="1"/>
          <p:nvPr/>
        </p:nvSpPr>
        <p:spPr>
          <a:xfrm>
            <a:off x="1051560" y="3154680"/>
            <a:ext cx="2011680" cy="1325880"/>
          </a:xfrm>
          <a:prstGeom prst="rect">
            <a:avLst/>
          </a:prstGeom>
          <a:noFill/>
        </p:spPr>
        <p:txBody>
          <a:bodyPr wrap="square" anchor="ctr" lIns="0" rIns="0" tIns="0" bIns="0">
            <a:spAutoFit/>
          </a:bodyPr>
          <a:lstStyle/>
          <a:p>
            <a:pPr algn="l"/>
            <a:r>
              <a:rPr sz="1800" b="0" i="0">
                <a:solidFill>
                  <a:srgbClr val="F2F4F7"/>
                </a:solidFill>
                <a:latin typeface="Arial"/>
              </a:rPr>
              <a:t>A correct payment marks itself paid</a:t>
            </a:r>
          </a:p>
        </p:txBody>
      </p:sp>
      <p:pic>
        <p:nvPicPr>
          <p:cNvPr id="8" name="Picture 7" descr="auto_paid.png"/>
          <p:cNvPicPr>
            <a:picLocks noChangeAspect="1"/>
          </p:cNvPicPr>
          <p:nvPr/>
        </p:nvPicPr>
        <p:blipFill>
          <a:blip r:embed="rId4"/>
          <a:stretch>
            <a:fillRect/>
          </a:stretch>
        </p:blipFill>
        <p:spPr>
          <a:xfrm>
            <a:off x="3246120" y="3154680"/>
            <a:ext cx="3907856" cy="1325880"/>
          </a:xfrm>
          <a:prstGeom prst="rect">
            <a:avLst/>
          </a:prstGeom>
        </p:spPr>
      </p:pic>
      <p:sp>
        <p:nvSpPr>
          <p:cNvPr id="9" name="TextBox 8"/>
          <p:cNvSpPr txBox="1"/>
          <p:nvPr/>
        </p:nvSpPr>
        <p:spPr>
          <a:xfrm>
            <a:off x="548640" y="4846320"/>
            <a:ext cx="457200" cy="1325880"/>
          </a:xfrm>
          <a:prstGeom prst="rect">
            <a:avLst/>
          </a:prstGeom>
          <a:noFill/>
        </p:spPr>
        <p:txBody>
          <a:bodyPr wrap="square" anchor="ctr" lIns="0" rIns="0" tIns="0" bIns="0">
            <a:spAutoFit/>
          </a:bodyPr>
          <a:lstStyle/>
          <a:p>
            <a:pPr algn="l"/>
            <a:r>
              <a:rPr sz="3600" b="1" i="0">
                <a:solidFill>
                  <a:srgbClr val="8EA2FF"/>
                </a:solidFill>
                <a:latin typeface="Arial"/>
              </a:rPr>
              <a:t>3</a:t>
            </a:r>
          </a:p>
        </p:txBody>
      </p:sp>
      <p:sp>
        <p:nvSpPr>
          <p:cNvPr id="10" name="TextBox 9"/>
          <p:cNvSpPr txBox="1"/>
          <p:nvPr/>
        </p:nvSpPr>
        <p:spPr>
          <a:xfrm>
            <a:off x="1051560" y="4846320"/>
            <a:ext cx="2011680" cy="1325880"/>
          </a:xfrm>
          <a:prstGeom prst="rect">
            <a:avLst/>
          </a:prstGeom>
          <a:noFill/>
        </p:spPr>
        <p:txBody>
          <a:bodyPr wrap="square" anchor="ctr" lIns="0" rIns="0" tIns="0" bIns="0">
            <a:spAutoFit/>
          </a:bodyPr>
          <a:lstStyle/>
          <a:p>
            <a:pPr algn="l"/>
            <a:r>
              <a:rPr sz="1800" b="0" i="0">
                <a:solidFill>
                  <a:srgbClr val="F2F4F7"/>
                </a:solidFill>
                <a:latin typeface="Arial"/>
              </a:rPr>
              <a:t>Fake digital dollars, explained in plain English</a:t>
            </a:r>
          </a:p>
        </p:txBody>
      </p:sp>
      <p:pic>
        <p:nvPicPr>
          <p:cNvPr id="11" name="Picture 10" descr="fake_verdict.png"/>
          <p:cNvPicPr>
            <a:picLocks noChangeAspect="1"/>
          </p:cNvPicPr>
          <p:nvPr/>
        </p:nvPicPr>
        <p:blipFill>
          <a:blip r:embed="rId5"/>
          <a:stretch>
            <a:fillRect/>
          </a:stretch>
        </p:blipFill>
        <p:spPr>
          <a:xfrm>
            <a:off x="3246120" y="4846320"/>
            <a:ext cx="4428386" cy="1325880"/>
          </a:xfrm>
          <a:prstGeom prst="rect">
            <a:avLst/>
          </a:prstGeom>
        </p:spPr>
      </p:pic>
      <p:pic>
        <p:nvPicPr>
          <p:cNvPr id="12" name="Live demo (60 s)">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8229600" y="2011680"/>
            <a:ext cx="3413455" cy="1920068"/>
          </a:xfrm>
          <a:prstGeom prst="rect">
            <a:avLst/>
          </a:prstGeom>
        </p:spPr>
      </p:pic>
      <p:sp>
        <p:nvSpPr>
          <p:cNvPr id="13" name="Rounded Rectangle 12"/>
          <p:cNvSpPr/>
          <p:nvPr/>
        </p:nvSpPr>
        <p:spPr>
          <a:xfrm>
            <a:off x="8229600" y="4160348"/>
            <a:ext cx="3413455" cy="362712"/>
          </a:xfrm>
          <a:prstGeom prst="roundRect">
            <a:avLst>
              <a:gd name="adj" fmla="val 50000"/>
            </a:avLst>
          </a:prstGeom>
          <a:solidFill>
            <a:srgbClr val="0B0E14"/>
          </a:solidFill>
          <a:ln w="12700">
            <a:solidFill>
              <a:srgbClr val="8EA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4160348"/>
            <a:ext cx="3413455" cy="362712"/>
          </a:xfrm>
          <a:prstGeom prst="rect">
            <a:avLst/>
          </a:prstGeom>
          <a:noFill/>
        </p:spPr>
        <p:txBody>
          <a:bodyPr wrap="square" anchor="ctr" lIns="0" rIns="0" tIns="0" bIns="0">
            <a:spAutoFit/>
          </a:bodyPr>
          <a:lstStyle/>
          <a:p>
            <a:pPr algn="ctr"/>
            <a:r>
              <a:rPr sz="1400" b="0" i="0">
                <a:solidFill>
                  <a:srgbClr val="8EA2FF"/>
                </a:solidFill>
                <a:latin typeface="Arial"/>
              </a:rPr>
              <a:t>▶  Live demo · 60 s · click to play</a:t>
            </a:r>
          </a:p>
        </p:txBody>
      </p:sp>
      <p:sp>
        <p:nvSpPr>
          <p:cNvPr id="15" name="TextBox 14"/>
          <p:cNvSpPr txBox="1"/>
          <p:nvPr/>
        </p:nvSpPr>
        <p:spPr>
          <a:xfrm>
            <a:off x="8229600" y="4708988"/>
            <a:ext cx="3413455" cy="731520"/>
          </a:xfrm>
          <a:prstGeom prst="rect">
            <a:avLst/>
          </a:prstGeom>
          <a:noFill/>
        </p:spPr>
        <p:txBody>
          <a:bodyPr wrap="square" anchor="t" lIns="0" rIns="0" tIns="0" bIns="0">
            <a:spAutoFit/>
          </a:bodyPr>
          <a:lstStyle/>
          <a:p>
            <a:pPr algn="ctr"/>
            <a:r>
              <a:rPr sz="1400" b="0" i="0">
                <a:solidFill>
                  <a:srgbClr val="A3AAB6"/>
                </a:solidFill>
                <a:latin typeface="Arial"/>
              </a:rPr>
              <a:t>Full 2-minute walkthrough: demo_live_full.mp4</a:t>
            </a:r>
          </a:p>
        </p:txBody>
      </p:sp>
      <p:sp>
        <p:nvSpPr>
          <p:cNvPr id="16" name="Sources"/>
          <p:cNvSpPr txBox="1"/>
          <p:nvPr/>
        </p:nvSpPr>
        <p:spPr>
          <a:xfrm>
            <a:off x="548640" y="6400800"/>
            <a:ext cx="11094415" cy="274320"/>
          </a:xfrm>
          <a:prstGeom prst="rect">
            <a:avLst/>
          </a:prstGeom>
          <a:noFill/>
        </p:spPr>
        <p:txBody>
          <a:bodyPr wrap="square" anchor="t" lIns="0" rIns="0" tIns="0" bIns="0">
            <a:spAutoFit/>
          </a:bodyPr>
          <a:lstStyle/>
          <a:p>
            <a:pPr algn="l"/>
            <a:r>
              <a:rPr sz="1000" b="0" i="0">
                <a:solidFill>
                  <a:srgbClr val="767E8C"/>
                </a:solidFill>
                <a:latin typeface="Arial"/>
              </a:rPr>
              <a:t>Real screenshots and a real recording of the app in demo mode. All companies, people and amounts are fictional.</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2"/>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itle"/>
          <p:cNvSpPr txBox="1"/>
          <p:nvPr/>
        </p:nvSpPr>
        <p:spPr>
          <a:xfrm>
            <a:off x="548640" y="457200"/>
            <a:ext cx="11094415" cy="822960"/>
          </a:xfrm>
          <a:prstGeom prst="rect">
            <a:avLst/>
          </a:prstGeom>
          <a:noFill/>
        </p:spPr>
        <p:txBody>
          <a:bodyPr wrap="square" anchor="t" lIns="0" rIns="0" tIns="0" bIns="0">
            <a:spAutoFit/>
          </a:bodyPr>
          <a:lstStyle/>
          <a:p>
            <a:pPr algn="l"/>
            <a:r>
              <a:rPr sz="3600" b="1" i="0">
                <a:solidFill>
                  <a:srgbClr val="F2F4F7"/>
                </a:solidFill>
                <a:latin typeface="Arial"/>
              </a:rPr>
              <a:t>Why now: rules, money and rails are arriving</a:t>
            </a:r>
          </a:p>
        </p:txBody>
      </p:sp>
      <p:sp>
        <p:nvSpPr>
          <p:cNvPr id="3" name="Rounded Rectangle 2"/>
          <p:cNvSpPr/>
          <p:nvPr/>
        </p:nvSpPr>
        <p:spPr>
          <a:xfrm>
            <a:off x="548640" y="1645920"/>
            <a:ext cx="3454298" cy="393192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874519"/>
            <a:ext cx="2814218" cy="457200"/>
          </a:xfrm>
          <a:prstGeom prst="rect">
            <a:avLst/>
          </a:prstGeom>
          <a:noFill/>
        </p:spPr>
        <p:txBody>
          <a:bodyPr wrap="square" anchor="t" lIns="0" rIns="0" tIns="0" bIns="0">
            <a:spAutoFit/>
          </a:bodyPr>
          <a:lstStyle/>
          <a:p>
            <a:pPr algn="l"/>
            <a:r>
              <a:rPr sz="2200" b="1" i="0">
                <a:solidFill>
                  <a:srgbClr val="B9C6FF"/>
                </a:solidFill>
                <a:latin typeface="Arial"/>
              </a:rPr>
              <a:t>Rules</a:t>
            </a:r>
          </a:p>
        </p:txBody>
      </p:sp>
      <p:sp>
        <p:nvSpPr>
          <p:cNvPr id="5" name="TextBox 4"/>
          <p:cNvSpPr txBox="1"/>
          <p:nvPr/>
        </p:nvSpPr>
        <p:spPr>
          <a:xfrm>
            <a:off x="868680" y="2514600"/>
            <a:ext cx="2814218" cy="2926080"/>
          </a:xfrm>
          <a:prstGeom prst="rect">
            <a:avLst/>
          </a:prstGeom>
          <a:noFill/>
        </p:spPr>
        <p:txBody>
          <a:bodyPr wrap="square" anchor="t" lIns="0" rIns="0" tIns="0" bIns="0">
            <a:spAutoFit/>
          </a:bodyPr>
          <a:lstStyle/>
          <a:p>
            <a:pPr algn="l">
              <a:spcAft>
                <a:spcPts val="1600"/>
              </a:spcAft>
            </a:pPr>
            <a:r>
              <a:rPr sz="2000" b="0" i="0">
                <a:solidFill>
                  <a:srgbClr val="F2F4F7"/>
                </a:solidFill>
                <a:latin typeface="Arial"/>
              </a:rPr>
              <a:t>US GENIUS Act signed, 18 Jul 2025</a:t>
            </a:r>
            <a:r>
              <a:rPr sz="1200" b="0" i="0">
                <a:solidFill>
                  <a:srgbClr val="767E8C"/>
                </a:solidFill>
                <a:latin typeface="Arial"/>
              </a:rPr>
              <a:t> 1</a:t>
            </a:r>
          </a:p>
          <a:p>
            <a:pPr algn="l">
              <a:spcAft>
                <a:spcPts val="1600"/>
              </a:spcAft>
            </a:pPr>
            <a:r>
              <a:rPr sz="2000" b="0" i="0">
                <a:solidFill>
                  <a:srgbClr val="F2F4F7"/>
                </a:solidFill>
                <a:latin typeface="Arial"/>
              </a:rPr>
              <a:t>MAS consulted on stablecoin law changes, Sep–Oct 2026</a:t>
            </a:r>
            <a:r>
              <a:rPr sz="1200" b="0" i="0">
                <a:solidFill>
                  <a:srgbClr val="767E8C"/>
                </a:solidFill>
                <a:latin typeface="Arial"/>
              </a:rPr>
              <a:t> 2</a:t>
            </a:r>
          </a:p>
        </p:txBody>
      </p:sp>
      <p:sp>
        <p:nvSpPr>
          <p:cNvPr id="6" name="Rounded Rectangle 5"/>
          <p:cNvSpPr/>
          <p:nvPr/>
        </p:nvSpPr>
        <p:spPr>
          <a:xfrm>
            <a:off x="4368698" y="1645920"/>
            <a:ext cx="3454298" cy="393192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88738" y="1874519"/>
            <a:ext cx="2814218" cy="457200"/>
          </a:xfrm>
          <a:prstGeom prst="rect">
            <a:avLst/>
          </a:prstGeom>
          <a:noFill/>
        </p:spPr>
        <p:txBody>
          <a:bodyPr wrap="square" anchor="t" lIns="0" rIns="0" tIns="0" bIns="0">
            <a:spAutoFit/>
          </a:bodyPr>
          <a:lstStyle/>
          <a:p>
            <a:pPr algn="l"/>
            <a:r>
              <a:rPr sz="2200" b="1" i="0">
                <a:solidFill>
                  <a:srgbClr val="B9C6FF"/>
                </a:solidFill>
                <a:latin typeface="Arial"/>
              </a:rPr>
              <a:t>Business use</a:t>
            </a:r>
          </a:p>
        </p:txBody>
      </p:sp>
      <p:sp>
        <p:nvSpPr>
          <p:cNvPr id="8" name="TextBox 7"/>
          <p:cNvSpPr txBox="1"/>
          <p:nvPr/>
        </p:nvSpPr>
        <p:spPr>
          <a:xfrm>
            <a:off x="4688738" y="2514600"/>
            <a:ext cx="2814218" cy="2926080"/>
          </a:xfrm>
          <a:prstGeom prst="rect">
            <a:avLst/>
          </a:prstGeom>
          <a:noFill/>
        </p:spPr>
        <p:txBody>
          <a:bodyPr wrap="square" anchor="t" lIns="0" rIns="0" tIns="0" bIns="0">
            <a:spAutoFit/>
          </a:bodyPr>
          <a:lstStyle/>
          <a:p>
            <a:pPr algn="l">
              <a:spcAft>
                <a:spcPts val="1600"/>
              </a:spcAft>
            </a:pPr>
            <a:r>
              <a:rPr sz="2000" b="0" i="0">
                <a:solidFill>
                  <a:srgbClr val="F2F4F7"/>
                </a:solidFill>
                <a:latin typeface="Arial"/>
              </a:rPr>
              <a:t>~US$226B a year of business stablecoin payments: an estimate, ~0.01% of B2B payments</a:t>
            </a:r>
            <a:r>
              <a:rPr sz="1200" b="0" i="0">
                <a:solidFill>
                  <a:srgbClr val="767E8C"/>
                </a:solidFill>
                <a:latin typeface="Arial"/>
              </a:rPr>
              <a:t> 3</a:t>
            </a:r>
          </a:p>
          <a:p>
            <a:pPr algn="l">
              <a:spcAft>
                <a:spcPts val="1600"/>
              </a:spcAft>
            </a:pPr>
            <a:r>
              <a:rPr sz="2000" b="0" i="0">
                <a:solidFill>
                  <a:srgbClr val="F2F4F7"/>
                </a:solidFill>
                <a:latin typeface="Arial"/>
              </a:rPr>
              <a:t>Singapore: a top-5 sender of stablecoin payments</a:t>
            </a:r>
            <a:r>
              <a:rPr sz="1200" b="0" i="0">
                <a:solidFill>
                  <a:srgbClr val="767E8C"/>
                </a:solidFill>
                <a:latin typeface="Arial"/>
              </a:rPr>
              <a:t> 4</a:t>
            </a:r>
          </a:p>
        </p:txBody>
      </p:sp>
      <p:sp>
        <p:nvSpPr>
          <p:cNvPr id="9" name="Rounded Rectangle 8"/>
          <p:cNvSpPr/>
          <p:nvPr/>
        </p:nvSpPr>
        <p:spPr>
          <a:xfrm>
            <a:off x="8188756" y="1645920"/>
            <a:ext cx="3454298" cy="393192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8796" y="1874519"/>
            <a:ext cx="2814218" cy="457200"/>
          </a:xfrm>
          <a:prstGeom prst="rect">
            <a:avLst/>
          </a:prstGeom>
          <a:noFill/>
        </p:spPr>
        <p:txBody>
          <a:bodyPr wrap="square" anchor="t" lIns="0" rIns="0" tIns="0" bIns="0">
            <a:spAutoFit/>
          </a:bodyPr>
          <a:lstStyle/>
          <a:p>
            <a:pPr algn="l"/>
            <a:r>
              <a:rPr sz="2200" b="1" i="0">
                <a:solidFill>
                  <a:srgbClr val="B9C6FF"/>
                </a:solidFill>
                <a:latin typeface="Arial"/>
              </a:rPr>
              <a:t>Gateways</a:t>
            </a:r>
          </a:p>
        </p:txBody>
      </p:sp>
      <p:sp>
        <p:nvSpPr>
          <p:cNvPr id="11" name="TextBox 10"/>
          <p:cNvSpPr txBox="1"/>
          <p:nvPr/>
        </p:nvSpPr>
        <p:spPr>
          <a:xfrm>
            <a:off x="8508796" y="2514600"/>
            <a:ext cx="2814218" cy="2926080"/>
          </a:xfrm>
          <a:prstGeom prst="rect">
            <a:avLst/>
          </a:prstGeom>
          <a:noFill/>
        </p:spPr>
        <p:txBody>
          <a:bodyPr wrap="square" anchor="t" lIns="0" rIns="0" tIns="0" bIns="0">
            <a:spAutoFit/>
          </a:bodyPr>
          <a:lstStyle/>
          <a:p>
            <a:pPr algn="l">
              <a:spcAft>
                <a:spcPts val="1600"/>
              </a:spcAft>
            </a:pPr>
            <a:r>
              <a:rPr sz="2000" b="0" i="0">
                <a:solidFill>
                  <a:srgbClr val="F2F4F7"/>
                </a:solidFill>
                <a:latin typeface="Arial"/>
              </a:rPr>
              <a:t>Stripe: US, EU/HK in preview; not Singapore; USDC, max US$10k</a:t>
            </a:r>
            <a:r>
              <a:rPr sz="1200" b="0" i="0">
                <a:solidFill>
                  <a:srgbClr val="767E8C"/>
                </a:solidFill>
                <a:latin typeface="Arial"/>
              </a:rPr>
              <a:t> 5</a:t>
            </a:r>
          </a:p>
          <a:p>
            <a:pPr algn="l">
              <a:spcAft>
                <a:spcPts val="1600"/>
              </a:spcAft>
            </a:pPr>
            <a:r>
              <a:rPr sz="2000" b="0" i="0">
                <a:solidFill>
                  <a:srgbClr val="F2F4F7"/>
                </a:solidFill>
                <a:latin typeface="Arial"/>
              </a:rPr>
              <a:t>HitPay + Triple-A: offered to 20,000+ Singapore merchants</a:t>
            </a:r>
            <a:r>
              <a:rPr sz="1200" b="0" i="0">
                <a:solidFill>
                  <a:srgbClr val="767E8C"/>
                </a:solidFill>
                <a:latin typeface="Arial"/>
              </a:rPr>
              <a:t> 6</a:t>
            </a:r>
          </a:p>
        </p:txBody>
      </p:sp>
      <p:sp>
        <p:nvSpPr>
          <p:cNvPr id="12" name="Sources"/>
          <p:cNvSpPr txBox="1"/>
          <p:nvPr/>
        </p:nvSpPr>
        <p:spPr>
          <a:xfrm>
            <a:off x="548640" y="6400800"/>
            <a:ext cx="11094415" cy="274320"/>
          </a:xfrm>
          <a:prstGeom prst="rect">
            <a:avLst/>
          </a:prstGeom>
          <a:noFill/>
        </p:spPr>
        <p:txBody>
          <a:bodyPr wrap="square" anchor="t" lIns="0" rIns="0" tIns="0" bIns="0">
            <a:spAutoFit/>
          </a:bodyPr>
          <a:lstStyle/>
          <a:p>
            <a:pPr algn="l"/>
            <a:r>
              <a:rPr sz="1000" b="0" i="0">
                <a:solidFill>
                  <a:srgbClr val="767E8C"/>
                </a:solidFill>
                <a:latin typeface="Arial"/>
              </a:rPr>
              <a:t>1 eco.com GENIUS tracker · 2 mas.gov.sg, Gibson Dunn · 3 McKinsey, 2026 (with Artemis) · 4 Artemis, Oct 2025 · 5 docs.stripe.com, Oct 2026 · 6 fintechnews.sg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itle"/>
          <p:cNvSpPr txBox="1"/>
          <p:nvPr/>
        </p:nvSpPr>
        <p:spPr>
          <a:xfrm>
            <a:off x="548640" y="457200"/>
            <a:ext cx="11094415" cy="822960"/>
          </a:xfrm>
          <a:prstGeom prst="rect">
            <a:avLst/>
          </a:prstGeom>
          <a:noFill/>
        </p:spPr>
        <p:txBody>
          <a:bodyPr wrap="square" anchor="t" lIns="0" rIns="0" tIns="0" bIns="0">
            <a:spAutoFit/>
          </a:bodyPr>
          <a:lstStyle/>
          <a:p>
            <a:pPr algn="l"/>
            <a:r>
              <a:rPr sz="3600" b="1" i="0">
                <a:solidFill>
                  <a:srgbClr val="F2F4F7"/>
                </a:solidFill>
                <a:latin typeface="Arial"/>
              </a:rPr>
              <a:t>First customer: teams paid directly</a:t>
            </a:r>
          </a:p>
        </p:txBody>
      </p:sp>
      <p:sp>
        <p:nvSpPr>
          <p:cNvPr id="3" name="Subtitle"/>
          <p:cNvSpPr txBox="1"/>
          <p:nvPr/>
        </p:nvSpPr>
        <p:spPr>
          <a:xfrm>
            <a:off x="548640" y="1261872"/>
            <a:ext cx="11094415" cy="457200"/>
          </a:xfrm>
          <a:prstGeom prst="rect">
            <a:avLst/>
          </a:prstGeom>
          <a:noFill/>
        </p:spPr>
        <p:txBody>
          <a:bodyPr wrap="square" anchor="t" lIns="0" rIns="0" tIns="0" bIns="0">
            <a:spAutoFit/>
          </a:bodyPr>
          <a:lstStyle/>
          <a:p>
            <a:pPr algn="l"/>
            <a:r>
              <a:rPr sz="2000" b="0" i="0">
                <a:solidFill>
                  <a:srgbClr val="A3AAB6"/>
                </a:solidFill>
                <a:latin typeface="Arial"/>
              </a:rPr>
              <a:t>Not through a checkout page, which already handles its own payments</a:t>
            </a:r>
          </a:p>
        </p:txBody>
      </p:sp>
      <p:sp>
        <p:nvSpPr>
          <p:cNvPr id="4" name="Rounded Rectangle 3"/>
          <p:cNvSpPr/>
          <p:nvPr/>
        </p:nvSpPr>
        <p:spPr>
          <a:xfrm>
            <a:off x="548640" y="1874519"/>
            <a:ext cx="11094415" cy="164592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075688"/>
            <a:ext cx="2743200" cy="457200"/>
          </a:xfrm>
          <a:prstGeom prst="rect">
            <a:avLst/>
          </a:prstGeom>
          <a:noFill/>
        </p:spPr>
        <p:txBody>
          <a:bodyPr wrap="square" anchor="t" lIns="0" rIns="0" tIns="0" bIns="0">
            <a:spAutoFit/>
          </a:bodyPr>
          <a:lstStyle/>
          <a:p>
            <a:pPr algn="l"/>
            <a:r>
              <a:rPr sz="2200" b="1" i="0">
                <a:solidFill>
                  <a:srgbClr val="A3AAB6"/>
                </a:solidFill>
                <a:latin typeface="Arial"/>
              </a:rPr>
              <a:t>Through a checkout page</a:t>
            </a:r>
          </a:p>
        </p:txBody>
      </p:sp>
      <p:sp>
        <p:nvSpPr>
          <p:cNvPr id="6" name="Rounded Rectangle 5"/>
          <p:cNvSpPr/>
          <p:nvPr/>
        </p:nvSpPr>
        <p:spPr>
          <a:xfrm>
            <a:off x="3749039" y="2148839"/>
            <a:ext cx="2514600" cy="1143000"/>
          </a:xfrm>
          <a:prstGeom prst="roundRect">
            <a:avLst>
              <a:gd name="adj" fmla="val 8000"/>
            </a:avLst>
          </a:prstGeom>
          <a:solidFill>
            <a:srgbClr val="0B0E1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86200" y="2148839"/>
            <a:ext cx="2240280" cy="1143000"/>
          </a:xfrm>
          <a:prstGeom prst="rect">
            <a:avLst/>
          </a:prstGeom>
          <a:noFill/>
        </p:spPr>
        <p:txBody>
          <a:bodyPr wrap="square" anchor="ctr" lIns="0" rIns="0" tIns="0" bIns="0">
            <a:spAutoFit/>
          </a:bodyPr>
          <a:lstStyle/>
          <a:p>
            <a:pPr algn="ctr"/>
            <a:r>
              <a:rPr sz="1800" b="0" i="0">
                <a:solidFill>
                  <a:srgbClr val="F2F4F7"/>
                </a:solidFill>
                <a:latin typeface="Arial"/>
              </a:rPr>
              <a:t>Customer clicks a payment link</a:t>
            </a:r>
          </a:p>
        </p:txBody>
      </p:sp>
      <p:sp>
        <p:nvSpPr>
          <p:cNvPr id="8" name="Rounded Rectangle 7"/>
          <p:cNvSpPr/>
          <p:nvPr/>
        </p:nvSpPr>
        <p:spPr>
          <a:xfrm>
            <a:off x="6537959" y="2148839"/>
            <a:ext cx="2514600" cy="1143000"/>
          </a:xfrm>
          <a:prstGeom prst="roundRect">
            <a:avLst>
              <a:gd name="adj" fmla="val 8000"/>
            </a:avLst>
          </a:prstGeom>
          <a:solidFill>
            <a:srgbClr val="0B0E1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2148839"/>
            <a:ext cx="2240280" cy="1143000"/>
          </a:xfrm>
          <a:prstGeom prst="rect">
            <a:avLst/>
          </a:prstGeom>
          <a:noFill/>
        </p:spPr>
        <p:txBody>
          <a:bodyPr wrap="square" anchor="ctr" lIns="0" rIns="0" tIns="0" bIns="0">
            <a:spAutoFit/>
          </a:bodyPr>
          <a:lstStyle/>
          <a:p>
            <a:pPr algn="ctr"/>
            <a:r>
              <a:rPr sz="1800" b="0" i="0">
                <a:solidFill>
                  <a:srgbClr val="F2F4F7"/>
                </a:solidFill>
                <a:latin typeface="Arial"/>
              </a:rPr>
              <a:t>Gateway matches it</a:t>
            </a:r>
          </a:p>
        </p:txBody>
      </p:sp>
      <p:sp>
        <p:nvSpPr>
          <p:cNvPr id="10" name="TextBox 9"/>
          <p:cNvSpPr txBox="1"/>
          <p:nvPr/>
        </p:nvSpPr>
        <p:spPr>
          <a:xfrm>
            <a:off x="9418319" y="2148839"/>
            <a:ext cx="2240280" cy="1143000"/>
          </a:xfrm>
          <a:prstGeom prst="rect">
            <a:avLst/>
          </a:prstGeom>
          <a:noFill/>
        </p:spPr>
        <p:txBody>
          <a:bodyPr wrap="square" anchor="ctr" lIns="0" rIns="0" tIns="0" bIns="0">
            <a:spAutoFit/>
          </a:bodyPr>
          <a:lstStyle/>
          <a:p>
            <a:pPr algn="l"/>
            <a:r>
              <a:rPr sz="1800" b="0" i="0">
                <a:solidFill>
                  <a:srgbClr val="A3AAB6"/>
                </a:solidFill>
                <a:latin typeface="Arial"/>
              </a:rPr>
              <a:t>Handled within their limits: Stripe, HitPay  [ASSUMPTION]</a:t>
            </a:r>
          </a:p>
        </p:txBody>
      </p:sp>
      <p:sp>
        <p:nvSpPr>
          <p:cNvPr id="11" name="Rounded Rectangle 10"/>
          <p:cNvSpPr/>
          <p:nvPr/>
        </p:nvSpPr>
        <p:spPr>
          <a:xfrm>
            <a:off x="548640" y="3703320"/>
            <a:ext cx="11094415" cy="1645920"/>
          </a:xfrm>
          <a:prstGeom prst="roundRect">
            <a:avLst>
              <a:gd name="adj" fmla="val 8000"/>
            </a:avLst>
          </a:prstGeom>
          <a:solidFill>
            <a:srgbClr val="151A24"/>
          </a:solidFill>
          <a:ln w="12700">
            <a:solidFill>
              <a:srgbClr val="8EA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904487"/>
            <a:ext cx="2743200" cy="457200"/>
          </a:xfrm>
          <a:prstGeom prst="rect">
            <a:avLst/>
          </a:prstGeom>
          <a:noFill/>
        </p:spPr>
        <p:txBody>
          <a:bodyPr wrap="square" anchor="t" lIns="0" rIns="0" tIns="0" bIns="0">
            <a:spAutoFit/>
          </a:bodyPr>
          <a:lstStyle/>
          <a:p>
            <a:pPr algn="l"/>
            <a:r>
              <a:rPr sz="2200" b="1" i="0">
                <a:solidFill>
                  <a:srgbClr val="B9C6FF"/>
                </a:solidFill>
                <a:latin typeface="Arial"/>
              </a:rPr>
              <a:t>Direct transfer</a:t>
            </a:r>
          </a:p>
        </p:txBody>
      </p:sp>
      <p:sp>
        <p:nvSpPr>
          <p:cNvPr id="13" name="Rounded Rectangle 12"/>
          <p:cNvSpPr/>
          <p:nvPr/>
        </p:nvSpPr>
        <p:spPr>
          <a:xfrm>
            <a:off x="3749039" y="3977639"/>
            <a:ext cx="2514600" cy="1143000"/>
          </a:xfrm>
          <a:prstGeom prst="roundRect">
            <a:avLst>
              <a:gd name="adj" fmla="val 8000"/>
            </a:avLst>
          </a:prstGeom>
          <a:solidFill>
            <a:srgbClr val="0B0E1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86200" y="3977639"/>
            <a:ext cx="2240280" cy="1143000"/>
          </a:xfrm>
          <a:prstGeom prst="rect">
            <a:avLst/>
          </a:prstGeom>
          <a:noFill/>
        </p:spPr>
        <p:txBody>
          <a:bodyPr wrap="square" anchor="ctr" lIns="0" rIns="0" tIns="0" bIns="0">
            <a:spAutoFit/>
          </a:bodyPr>
          <a:lstStyle/>
          <a:p>
            <a:pPr algn="ctr"/>
            <a:r>
              <a:rPr sz="1800" b="0" i="0">
                <a:solidFill>
                  <a:srgbClr val="F2F4F7"/>
                </a:solidFill>
                <a:latin typeface="Arial"/>
              </a:rPr>
              <a:t>From an exchange account or company wallet</a:t>
            </a:r>
          </a:p>
        </p:txBody>
      </p:sp>
      <p:sp>
        <p:nvSpPr>
          <p:cNvPr id="15" name="Rounded Rectangle 14"/>
          <p:cNvSpPr/>
          <p:nvPr/>
        </p:nvSpPr>
        <p:spPr>
          <a:xfrm>
            <a:off x="6537959" y="3977639"/>
            <a:ext cx="2514600" cy="1143000"/>
          </a:xfrm>
          <a:prstGeom prst="roundRect">
            <a:avLst>
              <a:gd name="adj" fmla="val 8000"/>
            </a:avLst>
          </a:prstGeom>
          <a:solidFill>
            <a:srgbClr val="0B0E1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0" y="3977639"/>
            <a:ext cx="2240280" cy="1143000"/>
          </a:xfrm>
          <a:prstGeom prst="rect">
            <a:avLst/>
          </a:prstGeom>
          <a:noFill/>
        </p:spPr>
        <p:txBody>
          <a:bodyPr wrap="square" anchor="ctr" lIns="0" rIns="0" tIns="0" bIns="0">
            <a:spAutoFit/>
          </a:bodyPr>
          <a:lstStyle/>
          <a:p>
            <a:pPr algn="ctr"/>
            <a:r>
              <a:rPr sz="1800" b="0" i="0">
                <a:solidFill>
                  <a:srgbClr val="F2F4F7"/>
                </a:solidFill>
                <a:latin typeface="Arial"/>
              </a:rPr>
              <a:t>To a fixed address, any network</a:t>
            </a:r>
          </a:p>
        </p:txBody>
      </p:sp>
      <p:sp>
        <p:nvSpPr>
          <p:cNvPr id="17" name="TextBox 16"/>
          <p:cNvSpPr txBox="1"/>
          <p:nvPr/>
        </p:nvSpPr>
        <p:spPr>
          <a:xfrm>
            <a:off x="9418319" y="3977639"/>
            <a:ext cx="2240280" cy="1143000"/>
          </a:xfrm>
          <a:prstGeom prst="rect">
            <a:avLst/>
          </a:prstGeom>
          <a:noFill/>
        </p:spPr>
        <p:txBody>
          <a:bodyPr wrap="square" anchor="ctr" lIns="0" rIns="0" tIns="0" bIns="0">
            <a:spAutoFit/>
          </a:bodyPr>
          <a:lstStyle/>
          <a:p>
            <a:pPr algn="l"/>
            <a:r>
              <a:rPr sz="1800" b="1" i="0">
                <a:solidFill>
                  <a:srgbClr val="B9C6FF"/>
                </a:solidFill>
                <a:latin typeface="Arial"/>
              </a:rPr>
              <a:t>Exceptions land on a person → Clearline  [ASSUMPTION]</a:t>
            </a:r>
          </a:p>
        </p:txBody>
      </p:sp>
      <p:sp>
        <p:nvSpPr>
          <p:cNvPr id="18" name="TextBox 17"/>
          <p:cNvSpPr txBox="1"/>
          <p:nvPr/>
        </p:nvSpPr>
        <p:spPr>
          <a:xfrm>
            <a:off x="548640" y="5486400"/>
            <a:ext cx="11094415" cy="640080"/>
          </a:xfrm>
          <a:prstGeom prst="rect">
            <a:avLst/>
          </a:prstGeom>
          <a:noFill/>
        </p:spPr>
        <p:txBody>
          <a:bodyPr wrap="square" anchor="t" lIns="0" rIns="0" tIns="0" bIns="0">
            <a:spAutoFit/>
          </a:bodyPr>
          <a:lstStyle/>
          <a:p>
            <a:pPr algn="l">
              <a:spcAft>
                <a:spcPts val="200"/>
              </a:spcAft>
            </a:pPr>
            <a:r>
              <a:rPr sz="1800" b="1" i="0">
                <a:solidFill>
                  <a:srgbClr val="F2F4F7"/>
                </a:solidFill>
                <a:latin typeface="Arial"/>
              </a:rPr>
              <a:t>Start: Singapore crypto and Web3 firms that invoice other businesses in USDC/USDT</a:t>
            </a:r>
            <a:r>
              <a:rPr sz="1200" b="0" i="0">
                <a:solidFill>
                  <a:srgbClr val="B9C6FF"/>
                </a:solidFill>
                <a:latin typeface="Arial"/>
              </a:rPr>
              <a:t>  [ASSUMPTION]</a:t>
            </a:r>
          </a:p>
          <a:p>
            <a:pPr algn="l">
              <a:spcAft>
                <a:spcPts val="200"/>
              </a:spcAft>
            </a:pPr>
            <a:r>
              <a:rPr sz="1800" b="0" i="0">
                <a:solidFill>
                  <a:srgbClr val="A3AAB6"/>
                </a:solidFill>
                <a:latin typeface="Arial"/>
              </a:rPr>
              <a:t>EDB counts 300+ Web3 companies¹; MAS licenses 37 token providers². How many are paid in stablecoins: unknown.</a:t>
            </a:r>
          </a:p>
        </p:txBody>
      </p:sp>
      <p:sp>
        <p:nvSpPr>
          <p:cNvPr id="19" name="Sources"/>
          <p:cNvSpPr txBox="1"/>
          <p:nvPr/>
        </p:nvSpPr>
        <p:spPr>
          <a:xfrm>
            <a:off x="548640" y="6400800"/>
            <a:ext cx="11094415" cy="274320"/>
          </a:xfrm>
          <a:prstGeom prst="rect">
            <a:avLst/>
          </a:prstGeom>
          <a:noFill/>
        </p:spPr>
        <p:txBody>
          <a:bodyPr wrap="square" anchor="t" lIns="0" rIns="0" tIns="0" bIns="0">
            <a:spAutoFit/>
          </a:bodyPr>
          <a:lstStyle/>
          <a:p>
            <a:pPr algn="l"/>
            <a:r>
              <a:rPr sz="1000" b="0" i="0">
                <a:solidFill>
                  <a:srgbClr val="767E8C"/>
                </a:solidFill>
                <a:latin typeface="Arial"/>
              </a:rPr>
              <a:t>¹ Singapore EDB, “Singapore: the onchain state” (undated; counting method not stated) · ² fintechnews.sg, 6 Aug 2026 (parliamentary reply)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itle"/>
          <p:cNvSpPr txBox="1"/>
          <p:nvPr/>
        </p:nvSpPr>
        <p:spPr>
          <a:xfrm>
            <a:off x="548640" y="457200"/>
            <a:ext cx="11094415" cy="822960"/>
          </a:xfrm>
          <a:prstGeom prst="rect">
            <a:avLst/>
          </a:prstGeom>
          <a:noFill/>
        </p:spPr>
        <p:txBody>
          <a:bodyPr wrap="square" anchor="t" lIns="0" rIns="0" tIns="0" bIns="0">
            <a:spAutoFit/>
          </a:bodyPr>
          <a:lstStyle/>
          <a:p>
            <a:pPr algn="l"/>
            <a:r>
              <a:rPr sz="3600" b="1" i="0">
                <a:solidFill>
                  <a:srgbClr val="F2F4F7"/>
                </a:solidFill>
                <a:latin typeface="Arial"/>
              </a:rPr>
              <a:t>The gap I believe exists: direct payments</a:t>
            </a:r>
          </a:p>
        </p:txBody>
      </p:sp>
      <p:sp>
        <p:nvSpPr>
          <p:cNvPr id="3" name="Subtitle"/>
          <p:cNvSpPr txBox="1"/>
          <p:nvPr/>
        </p:nvSpPr>
        <p:spPr>
          <a:xfrm>
            <a:off x="548640" y="1261872"/>
            <a:ext cx="11094415" cy="457200"/>
          </a:xfrm>
          <a:prstGeom prst="rect">
            <a:avLst/>
          </a:prstGeom>
          <a:noFill/>
        </p:spPr>
        <p:txBody>
          <a:bodyPr wrap="square" anchor="t" lIns="0" rIns="0" tIns="0" bIns="0">
            <a:spAutoFit/>
          </a:bodyPr>
          <a:lstStyle/>
          <a:p>
            <a:pPr algn="l"/>
            <a:r>
              <a:rPr sz="2000" b="0" i="0">
                <a:solidFill>
                  <a:srgbClr val="A3AAB6"/>
                </a:solidFill>
                <a:latin typeface="Arial"/>
              </a:rPr>
              <a:t>Every piece exists somewhere. What each does well, and what it leaves to a person.</a:t>
            </a:r>
          </a:p>
        </p:txBody>
      </p:sp>
      <p:graphicFrame>
        <p:nvGraphicFramePr>
          <p:cNvPr id="4" name="Table 3"/>
          <p:cNvGraphicFramePr>
            <a:graphicFrameLocks noGrp="1"/>
          </p:cNvGraphicFramePr>
          <p:nvPr/>
        </p:nvGraphicFramePr>
        <p:xfrm>
          <a:off x="548640" y="1874519"/>
          <a:ext cx="11094415" cy="4023360"/>
        </p:xfrm>
        <a:graphic>
          <a:graphicData uri="http://schemas.openxmlformats.org/drawingml/2006/table">
            <a:tbl>
              <a:tblPr firstRow="1" bandRow="1">
                <a:tableStyleId>{5C22544A-7EE6-4342-B048-85BDC9FD1C3A}</a:tableStyleId>
              </a:tblPr>
              <a:tblGrid>
                <a:gridCol w="3931920"/>
                <a:gridCol w="3566160"/>
                <a:gridCol w="3596335"/>
              </a:tblGrid>
              <a:tr h="670560">
                <a:tc>
                  <a:txBody>
                    <a:bodyPr/>
                    <a:lstStyle/>
                    <a:p>
                      <a:r>
                        <a:rPr sz="1600" b="1">
                          <a:solidFill>
                            <a:srgbClr val="A3AAB6"/>
                          </a:solidFill>
                          <a:latin typeface="Arial"/>
                        </a:rPr>
                        <a:t>Who</a:t>
                      </a:r>
                    </a:p>
                  </a:txBody>
                  <a:tcPr>
                    <a:solidFill>
                      <a:srgbClr val="0B0E14"/>
                    </a:solidFill>
                  </a:tcPr>
                </a:tc>
                <a:tc>
                  <a:txBody>
                    <a:bodyPr/>
                    <a:lstStyle/>
                    <a:p>
                      <a:r>
                        <a:rPr sz="1600" b="1">
                          <a:solidFill>
                            <a:srgbClr val="A3AAB6"/>
                          </a:solidFill>
                          <a:latin typeface="Arial"/>
                        </a:rPr>
                        <a:t>Does well</a:t>
                      </a:r>
                    </a:p>
                  </a:txBody>
                  <a:tcPr>
                    <a:solidFill>
                      <a:srgbClr val="0B0E14"/>
                    </a:solidFill>
                  </a:tcPr>
                </a:tc>
                <a:tc>
                  <a:txBody>
                    <a:bodyPr/>
                    <a:lstStyle/>
                    <a:p>
                      <a:r>
                        <a:rPr sz="1600" b="1">
                          <a:solidFill>
                            <a:srgbClr val="A3AAB6"/>
                          </a:solidFill>
                          <a:latin typeface="Arial"/>
                        </a:rPr>
                        <a:t>Leaves to a person  [ASSUMPTION]</a:t>
                      </a:r>
                    </a:p>
                  </a:txBody>
                  <a:tcPr>
                    <a:solidFill>
                      <a:srgbClr val="0B0E14"/>
                    </a:solidFill>
                  </a:tcPr>
                </a:tc>
              </a:tr>
              <a:tr h="670560">
                <a:tc>
                  <a:txBody>
                    <a:bodyPr wrap="square"/>
                    <a:lstStyle/>
                    <a:p>
                      <a:r>
                        <a:rPr sz="1800" b="1">
                          <a:solidFill>
                            <a:srgbClr val="F2F4F7"/>
                          </a:solidFill>
                          <a:latin typeface="Arial"/>
                        </a:rPr>
                        <a:t>Checkout pages</a:t>
                      </a:r>
                    </a:p>
                    <a:p>
                      <a:r>
                        <a:rPr sz="1300">
                          <a:solidFill>
                            <a:srgbClr val="A3AAB6"/>
                          </a:solidFill>
                          <a:latin typeface="Arial"/>
                        </a:rPr>
                        <a:t>Stripe, Coinbase Commerce, Request Finance, HitPay</a:t>
                      </a:r>
                    </a:p>
                  </a:txBody>
                  <a:tcPr marL="137160" marR="137160" marT="54864" marB="54864" anchor="ctr">
                    <a:solidFill>
                      <a:srgbClr val="151A24"/>
                    </a:solidFill>
                  </a:tcPr>
                </a:tc>
                <a:tc>
                  <a:txBody>
                    <a:bodyPr wrap="square"/>
                    <a:lstStyle/>
                    <a:p>
                      <a:r>
                        <a:rPr sz="1800">
                          <a:solidFill>
                            <a:srgbClr val="F2F4F7"/>
                          </a:solidFill>
                          <a:latin typeface="Arial"/>
                        </a:rPr>
                        <a:t>Match payments made through their page</a:t>
                      </a:r>
                    </a:p>
                  </a:txBody>
                  <a:tcPr marL="137160" marR="137160" marT="54864" marB="54864" anchor="ctr">
                    <a:solidFill>
                      <a:srgbClr val="151A24"/>
                    </a:solidFill>
                  </a:tcPr>
                </a:tc>
                <a:tc>
                  <a:txBody>
                    <a:bodyPr wrap="square"/>
                    <a:lstStyle/>
                    <a:p>
                      <a:r>
                        <a:rPr sz="1800">
                          <a:solidFill>
                            <a:srgbClr val="A3AAB6"/>
                          </a:solidFill>
                          <a:latin typeface="Arial"/>
                        </a:rPr>
                        <a:t>Payments sent straight to an address</a:t>
                      </a:r>
                    </a:p>
                  </a:txBody>
                  <a:tcPr marL="137160" marR="137160" marT="54864" marB="54864" anchor="ctr">
                    <a:solidFill>
                      <a:srgbClr val="151A24"/>
                    </a:solidFill>
                  </a:tcPr>
                </a:tc>
              </a:tr>
              <a:tr h="670560">
                <a:tc>
                  <a:txBody>
                    <a:bodyPr wrap="square"/>
                    <a:lstStyle/>
                    <a:p>
                      <a:r>
                        <a:rPr sz="1800" b="1">
                          <a:solidFill>
                            <a:srgbClr val="F2F4F7"/>
                          </a:solidFill>
                          <a:latin typeface="Arial"/>
                        </a:rPr>
                        <a:t>Wallet warnings</a:t>
                      </a:r>
                    </a:p>
                    <a:p>
                      <a:r>
                        <a:rPr sz="1300">
                          <a:solidFill>
                            <a:srgbClr val="A3AAB6"/>
                          </a:solidFill>
                          <a:latin typeface="Arial"/>
                        </a:rPr>
                        <a:t>MetaMask, Trust Wallet, Safe + Blockaid</a:t>
                      </a:r>
                    </a:p>
                  </a:txBody>
                  <a:tcPr marL="137160" marR="137160" marT="54864" marB="54864" anchor="ctr">
                    <a:solidFill>
                      <a:srgbClr val="151A24"/>
                    </a:solidFill>
                  </a:tcPr>
                </a:tc>
                <a:tc>
                  <a:txBody>
                    <a:bodyPr wrap="square"/>
                    <a:lstStyle/>
                    <a:p>
                      <a:r>
                        <a:rPr sz="1800">
                          <a:solidFill>
                            <a:srgbClr val="F2F4F7"/>
                          </a:solidFill>
                          <a:latin typeface="Arial"/>
                        </a:rPr>
                        <a:t>Warn the sender about look-alike addresses</a:t>
                      </a:r>
                    </a:p>
                  </a:txBody>
                  <a:tcPr marL="137160" marR="137160" marT="54864" marB="54864" anchor="ctr">
                    <a:solidFill>
                      <a:srgbClr val="151A24"/>
                    </a:solidFill>
                  </a:tcPr>
                </a:tc>
                <a:tc>
                  <a:txBody>
                    <a:bodyPr wrap="square"/>
                    <a:lstStyle/>
                    <a:p>
                      <a:r>
                        <a:rPr sz="1800">
                          <a:solidFill>
                            <a:srgbClr val="A3AAB6"/>
                          </a:solidFill>
                          <a:latin typeface="Arial"/>
                        </a:rPr>
                        <a:t>The invoice, and the receiving side</a:t>
                      </a:r>
                    </a:p>
                  </a:txBody>
                  <a:tcPr marL="137160" marR="137160" marT="54864" marB="54864" anchor="ctr">
                    <a:solidFill>
                      <a:srgbClr val="151A24"/>
                    </a:solidFill>
                  </a:tcPr>
                </a:tc>
              </a:tr>
              <a:tr h="670560">
                <a:tc>
                  <a:txBody>
                    <a:bodyPr wrap="square"/>
                    <a:lstStyle/>
                    <a:p>
                      <a:r>
                        <a:rPr sz="1800" b="1">
                          <a:solidFill>
                            <a:srgbClr val="F2F4F7"/>
                          </a:solidFill>
                          <a:latin typeface="Arial"/>
                        </a:rPr>
                        <a:t>Risk and compliance</a:t>
                      </a:r>
                    </a:p>
                    <a:p>
                      <a:r>
                        <a:rPr sz="1300">
                          <a:solidFill>
                            <a:srgbClr val="A3AAB6"/>
                          </a:solidFill>
                          <a:latin typeface="Arial"/>
                        </a:rPr>
                        <a:t>Blockaid, Elliptic, Chainalysis</a:t>
                      </a:r>
                    </a:p>
                  </a:txBody>
                  <a:tcPr marL="137160" marR="137160" marT="54864" marB="54864" anchor="ctr">
                    <a:solidFill>
                      <a:srgbClr val="151A24"/>
                    </a:solidFill>
                  </a:tcPr>
                </a:tc>
                <a:tc>
                  <a:txBody>
                    <a:bodyPr wrap="square"/>
                    <a:lstStyle/>
                    <a:p>
                      <a:r>
                        <a:rPr sz="1800">
                          <a:solidFill>
                            <a:srgbClr val="F2F4F7"/>
                          </a:solidFill>
                          <a:latin typeface="Arial"/>
                        </a:rPr>
                        <a:t>Flag scam tokens and risky addresses</a:t>
                      </a:r>
                    </a:p>
                  </a:txBody>
                  <a:tcPr marL="137160" marR="137160" marT="54864" marB="54864" anchor="ctr">
                    <a:solidFill>
                      <a:srgbClr val="151A24"/>
                    </a:solidFill>
                  </a:tcPr>
                </a:tc>
                <a:tc>
                  <a:txBody>
                    <a:bodyPr wrap="square"/>
                    <a:lstStyle/>
                    <a:p>
                      <a:r>
                        <a:rPr sz="1800">
                          <a:solidFill>
                            <a:srgbClr val="A3AAB6"/>
                          </a:solidFill>
                          <a:latin typeface="Arial"/>
                        </a:rPr>
                        <a:t>“Which invoice is this, and what do I reply?”</a:t>
                      </a:r>
                    </a:p>
                  </a:txBody>
                  <a:tcPr marL="137160" marR="137160" marT="54864" marB="54864" anchor="ctr">
                    <a:solidFill>
                      <a:srgbClr val="151A24"/>
                    </a:solidFill>
                  </a:tcPr>
                </a:tc>
              </a:tr>
              <a:tr h="670560">
                <a:tc>
                  <a:txBody>
                    <a:bodyPr wrap="square"/>
                    <a:lstStyle/>
                    <a:p>
                      <a:r>
                        <a:rPr sz="1800" b="1">
                          <a:solidFill>
                            <a:srgbClr val="F2F4F7"/>
                          </a:solidFill>
                          <a:latin typeface="Arial"/>
                        </a:rPr>
                        <a:t>Crypto accounting</a:t>
                      </a:r>
                    </a:p>
                    <a:p>
                      <a:r>
                        <a:rPr sz="1300">
                          <a:solidFill>
                            <a:srgbClr val="A3AAB6"/>
                          </a:solidFill>
                          <a:latin typeface="Arial"/>
                        </a:rPr>
                        <a:t>Bitwave, Request Finance</a:t>
                      </a:r>
                    </a:p>
                  </a:txBody>
                  <a:tcPr marL="137160" marR="137160" marT="54864" marB="54864" anchor="ctr">
                    <a:solidFill>
                      <a:srgbClr val="151A24"/>
                    </a:solidFill>
                  </a:tcPr>
                </a:tc>
                <a:tc>
                  <a:txBody>
                    <a:bodyPr wrap="square"/>
                    <a:lstStyle/>
                    <a:p>
                      <a:r>
                        <a:rPr sz="1800">
                          <a:solidFill>
                            <a:srgbClr val="F2F4F7"/>
                          </a:solidFill>
                          <a:latin typeface="Arial"/>
                        </a:rPr>
                        <a:t>Books, ERP sync, payouts</a:t>
                      </a:r>
                    </a:p>
                  </a:txBody>
                  <a:tcPr marL="137160" marR="137160" marT="54864" marB="54864" anchor="ctr">
                    <a:solidFill>
                      <a:srgbClr val="151A24"/>
                    </a:solidFill>
                  </a:tcPr>
                </a:tc>
                <a:tc>
                  <a:txBody>
                    <a:bodyPr wrap="square"/>
                    <a:lstStyle/>
                    <a:p>
                      <a:r>
                        <a:rPr sz="1800">
                          <a:solidFill>
                            <a:srgbClr val="A3AAB6"/>
                          </a:solidFill>
                          <a:latin typeface="Arial"/>
                        </a:rPr>
                        <a:t>Investigating each exception</a:t>
                      </a:r>
                    </a:p>
                  </a:txBody>
                  <a:tcPr marL="137160" marR="137160" marT="54864" marB="54864" anchor="ctr">
                    <a:solidFill>
                      <a:srgbClr val="151A24"/>
                    </a:solidFill>
                  </a:tcPr>
                </a:tc>
              </a:tr>
              <a:tr h="670560">
                <a:tc>
                  <a:txBody>
                    <a:bodyPr wrap="square"/>
                    <a:lstStyle/>
                    <a:p>
                      <a:r>
                        <a:rPr sz="1800" b="1">
                          <a:solidFill>
                            <a:srgbClr val="B9C6FF"/>
                          </a:solidFill>
                          <a:latin typeface="Arial"/>
                        </a:rPr>
                        <a:t>Clearline</a:t>
                      </a:r>
                    </a:p>
                    <a:p>
                      <a:r>
                        <a:rPr sz="1300">
                          <a:solidFill>
                            <a:srgbClr val="A3AAB6"/>
                          </a:solidFill>
                          <a:latin typeface="Arial"/>
                        </a:rPr>
                        <a:t>working demo, fictional data</a:t>
                      </a:r>
                    </a:p>
                  </a:txBody>
                  <a:tcPr marL="137160" marR="137160" marT="54864" marB="54864" anchor="ctr">
                    <a:solidFill>
                      <a:srgbClr val="1B2233"/>
                    </a:solidFill>
                  </a:tcPr>
                </a:tc>
                <a:tc>
                  <a:txBody>
                    <a:bodyPr wrap="square"/>
                    <a:lstStyle/>
                    <a:p>
                      <a:r>
                        <a:rPr sz="1800">
                          <a:solidFill>
                            <a:srgbClr val="F2F4F7"/>
                          </a:solidFill>
                          <a:latin typeface="Arial"/>
                        </a:rPr>
                        <a:t>Explains 7 payment situations, with the reply drafted</a:t>
                      </a:r>
                    </a:p>
                  </a:txBody>
                  <a:tcPr marL="137160" marR="137160" marT="54864" marB="54864" anchor="ctr">
                    <a:solidFill>
                      <a:srgbClr val="1B2233"/>
                    </a:solidFill>
                  </a:tcPr>
                </a:tc>
                <a:tc>
                  <a:txBody>
                    <a:bodyPr wrap="square"/>
                    <a:lstStyle/>
                    <a:p>
                      <a:r>
                        <a:rPr sz="1800">
                          <a:solidFill>
                            <a:srgbClr val="B9C6FF"/>
                          </a:solidFill>
                          <a:latin typeface="Arial"/>
                        </a:rPr>
                        <a:t>No customers; matching untested on real data</a:t>
                      </a:r>
                    </a:p>
                  </a:txBody>
                  <a:tcPr marL="137160" marR="137160" marT="54864" marB="54864" anchor="ctr">
                    <a:solidFill>
                      <a:srgbClr val="1B2233"/>
                    </a:solidFill>
                  </a:tcPr>
                </a:tc>
              </a:tr>
            </a:tbl>
          </a:graphicData>
        </a:graphic>
      </p:graphicFrame>
      <p:sp>
        <p:nvSpPr>
          <p:cNvPr id="5" name="Sources"/>
          <p:cNvSpPr txBox="1"/>
          <p:nvPr/>
        </p:nvSpPr>
        <p:spPr>
          <a:xfrm>
            <a:off x="548640" y="6400800"/>
            <a:ext cx="11094415" cy="274320"/>
          </a:xfrm>
          <a:prstGeom prst="rect">
            <a:avLst/>
          </a:prstGeom>
          <a:noFill/>
        </p:spPr>
        <p:txBody>
          <a:bodyPr wrap="square" anchor="t" lIns="0" rIns="0" tIns="0" bIns="0">
            <a:spAutoFit/>
          </a:bodyPr>
          <a:lstStyle/>
          <a:p>
            <a:pPr algn="l"/>
            <a:r>
              <a:rPr sz="1000" b="0" i="0">
                <a:solidFill>
                  <a:srgbClr val="767E8C"/>
                </a:solidFill>
                <a:latin typeface="Arial"/>
              </a:rPr>
              <a:t>Not yet compared: TRES Finance, Cryptio. Elliptic and Chainalysis described from general knowledge. Sources: docs.stripe.com · eco.com · fintechnews.sg · KuCoin News · trustwallet.com · blockaid.io · bitwave.io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itle"/>
          <p:cNvSpPr txBox="1"/>
          <p:nvPr/>
        </p:nvSpPr>
        <p:spPr>
          <a:xfrm>
            <a:off x="548640" y="457200"/>
            <a:ext cx="11094415" cy="822960"/>
          </a:xfrm>
          <a:prstGeom prst="rect">
            <a:avLst/>
          </a:prstGeom>
          <a:noFill/>
        </p:spPr>
        <p:txBody>
          <a:bodyPr wrap="square" anchor="t" lIns="0" rIns="0" tIns="0" bIns="0">
            <a:spAutoFit/>
          </a:bodyPr>
          <a:lstStyle/>
          <a:p>
            <a:pPr algn="l"/>
            <a:r>
              <a:rPr sz="3600" b="1" i="0">
                <a:solidFill>
                  <a:srgbClr val="F2F4F7"/>
                </a:solidFill>
                <a:latin typeface="Arial"/>
              </a:rPr>
              <a:t>What I believe that others may not</a:t>
            </a:r>
          </a:p>
        </p:txBody>
      </p:sp>
      <p:sp>
        <p:nvSpPr>
          <p:cNvPr id="3" name="Rounded Rectangle 2"/>
          <p:cNvSpPr/>
          <p:nvPr/>
        </p:nvSpPr>
        <p:spPr>
          <a:xfrm>
            <a:off x="548640" y="1600200"/>
            <a:ext cx="11094415" cy="128016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59" y="1600200"/>
            <a:ext cx="822960" cy="1280160"/>
          </a:xfrm>
          <a:prstGeom prst="rect">
            <a:avLst/>
          </a:prstGeom>
          <a:noFill/>
        </p:spPr>
        <p:txBody>
          <a:bodyPr wrap="square" anchor="ctr" lIns="0" rIns="0" tIns="0" bIns="0">
            <a:spAutoFit/>
          </a:bodyPr>
          <a:lstStyle/>
          <a:p>
            <a:pPr algn="l"/>
            <a:r>
              <a:rPr sz="4000" b="1" i="0">
                <a:solidFill>
                  <a:srgbClr val="8EA2FF"/>
                </a:solidFill>
                <a:latin typeface="Arial"/>
              </a:rPr>
              <a:t>1</a:t>
            </a:r>
          </a:p>
        </p:txBody>
      </p:sp>
      <p:sp>
        <p:nvSpPr>
          <p:cNvPr id="5" name="TextBox 4"/>
          <p:cNvSpPr txBox="1"/>
          <p:nvPr/>
        </p:nvSpPr>
        <p:spPr>
          <a:xfrm>
            <a:off x="1691640" y="1600200"/>
            <a:ext cx="9631375" cy="1280160"/>
          </a:xfrm>
          <a:prstGeom prst="rect">
            <a:avLst/>
          </a:prstGeom>
          <a:noFill/>
        </p:spPr>
        <p:txBody>
          <a:bodyPr wrap="square" anchor="ctr" lIns="0" rIns="0" tIns="0" bIns="0">
            <a:spAutoFit/>
          </a:bodyPr>
          <a:lstStyle/>
          <a:p>
            <a:pPr algn="l"/>
            <a:r>
              <a:rPr sz="2400" b="0" i="0">
                <a:solidFill>
                  <a:srgbClr val="F2F4F7"/>
                </a:solidFill>
                <a:latin typeface="Arial"/>
              </a:rPr>
              <a:t>Business customers often pay from exchange accounts and company wallets, not checkout pages.</a:t>
            </a:r>
            <a:r>
              <a:rPr sz="1200" b="0" i="0">
                <a:solidFill>
                  <a:srgbClr val="B9C6FF"/>
                </a:solidFill>
                <a:latin typeface="Arial"/>
              </a:rPr>
              <a:t>  [ASSUMPTION]</a:t>
            </a:r>
          </a:p>
        </p:txBody>
      </p:sp>
      <p:sp>
        <p:nvSpPr>
          <p:cNvPr id="6" name="Rounded Rectangle 5"/>
          <p:cNvSpPr/>
          <p:nvPr/>
        </p:nvSpPr>
        <p:spPr>
          <a:xfrm>
            <a:off x="548640" y="3108960"/>
            <a:ext cx="11094415" cy="128016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3108960"/>
            <a:ext cx="822960" cy="1280160"/>
          </a:xfrm>
          <a:prstGeom prst="rect">
            <a:avLst/>
          </a:prstGeom>
          <a:noFill/>
        </p:spPr>
        <p:txBody>
          <a:bodyPr wrap="square" anchor="ctr" lIns="0" rIns="0" tIns="0" bIns="0">
            <a:spAutoFit/>
          </a:bodyPr>
          <a:lstStyle/>
          <a:p>
            <a:pPr algn="l"/>
            <a:r>
              <a:rPr sz="4000" b="1" i="0">
                <a:solidFill>
                  <a:srgbClr val="8EA2FF"/>
                </a:solidFill>
                <a:latin typeface="Arial"/>
              </a:rPr>
              <a:t>2</a:t>
            </a:r>
          </a:p>
        </p:txBody>
      </p:sp>
      <p:sp>
        <p:nvSpPr>
          <p:cNvPr id="8" name="TextBox 7"/>
          <p:cNvSpPr txBox="1"/>
          <p:nvPr/>
        </p:nvSpPr>
        <p:spPr>
          <a:xfrm>
            <a:off x="1691640" y="3108960"/>
            <a:ext cx="9631375" cy="1280160"/>
          </a:xfrm>
          <a:prstGeom prst="rect">
            <a:avLst/>
          </a:prstGeom>
          <a:noFill/>
        </p:spPr>
        <p:txBody>
          <a:bodyPr wrap="square" anchor="ctr" lIns="0" rIns="0" tIns="0" bIns="0">
            <a:spAutoFit/>
          </a:bodyPr>
          <a:lstStyle/>
          <a:p>
            <a:pPr algn="l"/>
            <a:r>
              <a:rPr sz="2400" b="0" i="0">
                <a:solidFill>
                  <a:srgbClr val="F2F4F7"/>
                </a:solidFill>
                <a:latin typeface="Arial"/>
              </a:rPr>
              <a:t>The cost is in the exceptions: each one is a 15–30 minute investigation.</a:t>
            </a:r>
            <a:r>
              <a:rPr sz="1200" b="0" i="0">
                <a:solidFill>
                  <a:srgbClr val="B9C6FF"/>
                </a:solidFill>
                <a:latin typeface="Arial"/>
              </a:rPr>
              <a:t>  [GUESS]</a:t>
            </a:r>
          </a:p>
        </p:txBody>
      </p:sp>
      <p:sp>
        <p:nvSpPr>
          <p:cNvPr id="9" name="Rounded Rectangle 8"/>
          <p:cNvSpPr/>
          <p:nvPr/>
        </p:nvSpPr>
        <p:spPr>
          <a:xfrm>
            <a:off x="548640" y="4617720"/>
            <a:ext cx="11094415" cy="128016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4617720"/>
            <a:ext cx="822960" cy="1280160"/>
          </a:xfrm>
          <a:prstGeom prst="rect">
            <a:avLst/>
          </a:prstGeom>
          <a:noFill/>
        </p:spPr>
        <p:txBody>
          <a:bodyPr wrap="square" anchor="ctr" lIns="0" rIns="0" tIns="0" bIns="0">
            <a:spAutoFit/>
          </a:bodyPr>
          <a:lstStyle/>
          <a:p>
            <a:pPr algn="l"/>
            <a:r>
              <a:rPr sz="4000" b="1" i="0">
                <a:solidFill>
                  <a:srgbClr val="8EA2FF"/>
                </a:solidFill>
                <a:latin typeface="Arial"/>
              </a:rPr>
              <a:t>3</a:t>
            </a:r>
          </a:p>
        </p:txBody>
      </p:sp>
      <p:sp>
        <p:nvSpPr>
          <p:cNvPr id="11" name="TextBox 10"/>
          <p:cNvSpPr txBox="1"/>
          <p:nvPr/>
        </p:nvSpPr>
        <p:spPr>
          <a:xfrm>
            <a:off x="1691640" y="4617720"/>
            <a:ext cx="9631375" cy="1280160"/>
          </a:xfrm>
          <a:prstGeom prst="rect">
            <a:avLst/>
          </a:prstGeom>
          <a:noFill/>
        </p:spPr>
        <p:txBody>
          <a:bodyPr wrap="square" anchor="ctr" lIns="0" rIns="0" tIns="0" bIns="0">
            <a:spAutoFit/>
          </a:bodyPr>
          <a:lstStyle/>
          <a:p>
            <a:pPr algn="l"/>
            <a:r>
              <a:rPr sz="2400" b="0" i="0">
                <a:solidFill>
                  <a:srgbClr val="F2F4F7"/>
                </a:solidFill>
                <a:latin typeface="Arial"/>
              </a:rPr>
              <a:t>Gateways would rather plug in exception handling than build it.</a:t>
            </a:r>
            <a:r>
              <a:rPr sz="1200" b="0" i="0">
                <a:solidFill>
                  <a:srgbClr val="B9C6FF"/>
                </a:solidFill>
                <a:latin typeface="Arial"/>
              </a:rPr>
              <a:t>  [ASSUMPTION]</a:t>
            </a:r>
          </a:p>
        </p:txBody>
      </p:sp>
      <p:sp>
        <p:nvSpPr>
          <p:cNvPr id="12" name="Sources"/>
          <p:cNvSpPr txBox="1"/>
          <p:nvPr/>
        </p:nvSpPr>
        <p:spPr>
          <a:xfrm>
            <a:off x="548640" y="6400800"/>
            <a:ext cx="11094415" cy="274320"/>
          </a:xfrm>
          <a:prstGeom prst="rect">
            <a:avLst/>
          </a:prstGeom>
          <a:noFill/>
        </p:spPr>
        <p:txBody>
          <a:bodyPr wrap="square" anchor="t" lIns="0" rIns="0" tIns="0" bIns="0">
            <a:spAutoFit/>
          </a:bodyPr>
          <a:lstStyle/>
          <a:p>
            <a:pPr algn="l"/>
            <a:r>
              <a:rPr sz="1000" b="0" i="0">
                <a:solidFill>
                  <a:srgbClr val="767E8C"/>
                </a:solidFill>
                <a:latin typeface="Arial"/>
              </a:rPr>
              <a:t>None of these is tested yet. Three early calls with vendor teams, on an earlier idea, found reconciliation “not really an issue” for them; buyer teams are untested.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itle"/>
          <p:cNvSpPr txBox="1"/>
          <p:nvPr/>
        </p:nvSpPr>
        <p:spPr>
          <a:xfrm>
            <a:off x="548640" y="457200"/>
            <a:ext cx="11094415" cy="822960"/>
          </a:xfrm>
          <a:prstGeom prst="rect">
            <a:avLst/>
          </a:prstGeom>
          <a:noFill/>
        </p:spPr>
        <p:txBody>
          <a:bodyPr wrap="square" anchor="t" lIns="0" rIns="0" tIns="0" bIns="0">
            <a:spAutoFit/>
          </a:bodyPr>
          <a:lstStyle/>
          <a:p>
            <a:pPr algn="l"/>
            <a:r>
              <a:rPr sz="3600" b="1" i="0">
                <a:solidFill>
                  <a:srgbClr val="F2F4F7"/>
                </a:solidFill>
                <a:latin typeface="Arial"/>
              </a:rPr>
              <a:t>Business model: two hypotheses, both untested</a:t>
            </a:r>
          </a:p>
        </p:txBody>
      </p:sp>
      <p:sp>
        <p:nvSpPr>
          <p:cNvPr id="3" name="Rounded Rectangle 2"/>
          <p:cNvSpPr/>
          <p:nvPr/>
        </p:nvSpPr>
        <p:spPr>
          <a:xfrm>
            <a:off x="548640" y="1600200"/>
            <a:ext cx="5318607" cy="3749039"/>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74519"/>
            <a:ext cx="4587087" cy="548640"/>
          </a:xfrm>
          <a:prstGeom prst="rect">
            <a:avLst/>
          </a:prstGeom>
          <a:noFill/>
        </p:spPr>
        <p:txBody>
          <a:bodyPr wrap="square" anchor="t" lIns="0" rIns="0" tIns="0" bIns="0">
            <a:spAutoFit/>
          </a:bodyPr>
          <a:lstStyle/>
          <a:p>
            <a:pPr algn="l"/>
            <a:r>
              <a:rPr sz="2800" b="1" i="0">
                <a:solidFill>
                  <a:srgbClr val="B9C6FF"/>
                </a:solidFill>
                <a:latin typeface="Arial"/>
              </a:rPr>
              <a:t>Direct</a:t>
            </a:r>
          </a:p>
        </p:txBody>
      </p:sp>
      <p:sp>
        <p:nvSpPr>
          <p:cNvPr id="5" name="TextBox 4"/>
          <p:cNvSpPr txBox="1"/>
          <p:nvPr/>
        </p:nvSpPr>
        <p:spPr>
          <a:xfrm>
            <a:off x="914400" y="2606040"/>
            <a:ext cx="4587087" cy="1097280"/>
          </a:xfrm>
          <a:prstGeom prst="rect">
            <a:avLst/>
          </a:prstGeom>
          <a:noFill/>
        </p:spPr>
        <p:txBody>
          <a:bodyPr wrap="square" anchor="t" lIns="0" rIns="0" tIns="0" bIns="0">
            <a:spAutoFit/>
          </a:bodyPr>
          <a:lstStyle/>
          <a:p>
            <a:pPr algn="l"/>
            <a:r>
              <a:rPr sz="2200" b="0" i="0">
                <a:solidFill>
                  <a:srgbClr val="F2F4F7"/>
                </a:solidFill>
                <a:latin typeface="Arial"/>
              </a:rPr>
              <a:t>Monthly subscription per finance team, priced by payment volume</a:t>
            </a:r>
          </a:p>
        </p:txBody>
      </p:sp>
      <p:sp>
        <p:nvSpPr>
          <p:cNvPr id="6" name="TextBox 5"/>
          <p:cNvSpPr txBox="1"/>
          <p:nvPr/>
        </p:nvSpPr>
        <p:spPr>
          <a:xfrm>
            <a:off x="914400" y="4114800"/>
            <a:ext cx="4587087" cy="822960"/>
          </a:xfrm>
          <a:prstGeom prst="rect">
            <a:avLst/>
          </a:prstGeom>
          <a:noFill/>
        </p:spPr>
        <p:txBody>
          <a:bodyPr wrap="square" anchor="t" lIns="0" rIns="0" tIns="0" bIns="0">
            <a:spAutoFit/>
          </a:bodyPr>
          <a:lstStyle/>
          <a:p>
            <a:pPr algn="l"/>
            <a:r>
              <a:rPr sz="3600" b="1" i="0">
                <a:solidFill>
                  <a:srgbClr val="F2F4F7"/>
                </a:solidFill>
                <a:latin typeface="Arial"/>
              </a:rPr>
              <a:t>S$300–800 / month</a:t>
            </a:r>
            <a:r>
              <a:rPr sz="1200" b="0" i="0">
                <a:solidFill>
                  <a:srgbClr val="B9C6FF"/>
                </a:solidFill>
                <a:latin typeface="Arial"/>
              </a:rPr>
              <a:t>  [ASSUMPTION]</a:t>
            </a:r>
          </a:p>
        </p:txBody>
      </p:sp>
      <p:sp>
        <p:nvSpPr>
          <p:cNvPr id="7" name="Rounded Rectangle 6"/>
          <p:cNvSpPr/>
          <p:nvPr/>
        </p:nvSpPr>
        <p:spPr>
          <a:xfrm>
            <a:off x="6324447" y="1600200"/>
            <a:ext cx="5318607" cy="3749039"/>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90207" y="1874519"/>
            <a:ext cx="4587087" cy="548640"/>
          </a:xfrm>
          <a:prstGeom prst="rect">
            <a:avLst/>
          </a:prstGeom>
          <a:noFill/>
        </p:spPr>
        <p:txBody>
          <a:bodyPr wrap="square" anchor="t" lIns="0" rIns="0" tIns="0" bIns="0">
            <a:spAutoFit/>
          </a:bodyPr>
          <a:lstStyle/>
          <a:p>
            <a:pPr algn="l"/>
            <a:r>
              <a:rPr sz="2800" b="1" i="0">
                <a:solidFill>
                  <a:srgbClr val="B9C6FF"/>
                </a:solidFill>
                <a:latin typeface="Arial"/>
              </a:rPr>
              <a:t>Embedded</a:t>
            </a:r>
          </a:p>
        </p:txBody>
      </p:sp>
      <p:sp>
        <p:nvSpPr>
          <p:cNvPr id="9" name="TextBox 8"/>
          <p:cNvSpPr txBox="1"/>
          <p:nvPr/>
        </p:nvSpPr>
        <p:spPr>
          <a:xfrm>
            <a:off x="6690207" y="2606040"/>
            <a:ext cx="4587087" cy="1097280"/>
          </a:xfrm>
          <a:prstGeom prst="rect">
            <a:avLst/>
          </a:prstGeom>
          <a:noFill/>
        </p:spPr>
        <p:txBody>
          <a:bodyPr wrap="square" anchor="t" lIns="0" rIns="0" tIns="0" bIns="0">
            <a:spAutoFit/>
          </a:bodyPr>
          <a:lstStyle/>
          <a:p>
            <a:pPr algn="l"/>
            <a:r>
              <a:rPr sz="2200" b="0" i="0">
                <a:solidFill>
                  <a:srgbClr val="F2F4F7"/>
                </a:solidFill>
                <a:latin typeface="Arial"/>
              </a:rPr>
              <a:t>A gateway or custodian pays per exception handled for its merchants</a:t>
            </a:r>
          </a:p>
        </p:txBody>
      </p:sp>
      <p:sp>
        <p:nvSpPr>
          <p:cNvPr id="10" name="TextBox 9"/>
          <p:cNvSpPr txBox="1"/>
          <p:nvPr/>
        </p:nvSpPr>
        <p:spPr>
          <a:xfrm>
            <a:off x="6690207" y="4114800"/>
            <a:ext cx="4587087" cy="822960"/>
          </a:xfrm>
          <a:prstGeom prst="rect">
            <a:avLst/>
          </a:prstGeom>
          <a:noFill/>
        </p:spPr>
        <p:txBody>
          <a:bodyPr wrap="square" anchor="t" lIns="0" rIns="0" tIns="0" bIns="0">
            <a:spAutoFit/>
          </a:bodyPr>
          <a:lstStyle/>
          <a:p>
            <a:pPr algn="l"/>
            <a:r>
              <a:rPr sz="3600" b="1" i="0">
                <a:solidFill>
                  <a:srgbClr val="F2F4F7"/>
                </a:solidFill>
                <a:latin typeface="Arial"/>
              </a:rPr>
              <a:t>S$1–3 / exception</a:t>
            </a:r>
            <a:r>
              <a:rPr sz="1200" b="0" i="0">
                <a:solidFill>
                  <a:srgbClr val="B9C6FF"/>
                </a:solidFill>
                <a:latin typeface="Arial"/>
              </a:rPr>
              <a:t>  [GUESS]</a:t>
            </a:r>
          </a:p>
        </p:txBody>
      </p:sp>
      <p:sp>
        <p:nvSpPr>
          <p:cNvPr id="11" name="TextBox 10"/>
          <p:cNvSpPr txBox="1"/>
          <p:nvPr/>
        </p:nvSpPr>
        <p:spPr>
          <a:xfrm>
            <a:off x="548640" y="5623560"/>
            <a:ext cx="11094415" cy="548640"/>
          </a:xfrm>
          <a:prstGeom prst="rect">
            <a:avLst/>
          </a:prstGeom>
          <a:noFill/>
        </p:spPr>
        <p:txBody>
          <a:bodyPr wrap="square" anchor="t" lIns="0" rIns="0" tIns="0" bIns="0">
            <a:spAutoFit/>
          </a:bodyPr>
          <a:lstStyle/>
          <a:p>
            <a:pPr algn="l"/>
            <a:r>
              <a:rPr sz="2000" b="0" i="0">
                <a:solidFill>
                  <a:srgbClr val="A3AAB6"/>
                </a:solidFill>
                <a:latin typeface="Arial"/>
              </a:rPr>
              <a:t>Test: ask 10 teams what one exception costs them today, in staff time.</a:t>
            </a:r>
          </a:p>
        </p:txBody>
      </p:sp>
      <p:sp>
        <p:nvSpPr>
          <p:cNvPr id="12" name="Sources"/>
          <p:cNvSpPr txBox="1"/>
          <p:nvPr/>
        </p:nvSpPr>
        <p:spPr>
          <a:xfrm>
            <a:off x="548640" y="6400800"/>
            <a:ext cx="11094415" cy="274320"/>
          </a:xfrm>
          <a:prstGeom prst="rect">
            <a:avLst/>
          </a:prstGeom>
          <a:noFill/>
        </p:spPr>
        <p:txBody>
          <a:bodyPr wrap="square" anchor="t" lIns="0" rIns="0" tIns="0" bIns="0">
            <a:spAutoFit/>
          </a:bodyPr>
          <a:lstStyle/>
          <a:p>
            <a:pPr algn="l"/>
            <a:r>
              <a:rPr sz="1000" b="0" i="0">
                <a:solidFill>
                  <a:srgbClr val="767E8C"/>
                </a:solidFill>
                <a:latin typeface="Arial"/>
              </a:rPr>
              <a:t>Prices are placeholders for interviews, not quotes.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itle"/>
          <p:cNvSpPr txBox="1"/>
          <p:nvPr/>
        </p:nvSpPr>
        <p:spPr>
          <a:xfrm>
            <a:off x="548640" y="457200"/>
            <a:ext cx="11094415" cy="822960"/>
          </a:xfrm>
          <a:prstGeom prst="rect">
            <a:avLst/>
          </a:prstGeom>
          <a:noFill/>
        </p:spPr>
        <p:txBody>
          <a:bodyPr wrap="square" anchor="t" lIns="0" rIns="0" tIns="0" bIns="0">
            <a:spAutoFit/>
          </a:bodyPr>
          <a:lstStyle/>
          <a:p>
            <a:pPr algn="l"/>
            <a:r>
              <a:rPr sz="3600" b="1" i="0">
                <a:solidFill>
                  <a:srgbClr val="F2F4F7"/>
                </a:solidFill>
                <a:latin typeface="Arial"/>
              </a:rPr>
              <a:t>Market: start small and countable</a:t>
            </a:r>
          </a:p>
        </p:txBody>
      </p:sp>
      <p:sp>
        <p:nvSpPr>
          <p:cNvPr id="3" name="Rounded Rectangle 2"/>
          <p:cNvSpPr/>
          <p:nvPr/>
        </p:nvSpPr>
        <p:spPr>
          <a:xfrm>
            <a:off x="548640" y="1737360"/>
            <a:ext cx="2567863" cy="265176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59" y="1965960"/>
            <a:ext cx="2019223" cy="914400"/>
          </a:xfrm>
          <a:prstGeom prst="rect">
            <a:avLst/>
          </a:prstGeom>
          <a:noFill/>
        </p:spPr>
        <p:txBody>
          <a:bodyPr wrap="square" anchor="t" lIns="0" rIns="0" tIns="0" bIns="0">
            <a:spAutoFit/>
          </a:bodyPr>
          <a:lstStyle/>
          <a:p>
            <a:pPr algn="l"/>
            <a:r>
              <a:rPr sz="3600" b="1" i="0">
                <a:solidFill>
                  <a:srgbClr val="F2F4F7"/>
                </a:solidFill>
                <a:latin typeface="Arial"/>
              </a:rPr>
              <a:t>300+</a:t>
            </a:r>
          </a:p>
        </p:txBody>
      </p:sp>
      <p:sp>
        <p:nvSpPr>
          <p:cNvPr id="5" name="TextBox 4"/>
          <p:cNvSpPr txBox="1"/>
          <p:nvPr/>
        </p:nvSpPr>
        <p:spPr>
          <a:xfrm>
            <a:off x="822959" y="2880360"/>
            <a:ext cx="2019223" cy="1371600"/>
          </a:xfrm>
          <a:prstGeom prst="rect">
            <a:avLst/>
          </a:prstGeom>
          <a:noFill/>
        </p:spPr>
        <p:txBody>
          <a:bodyPr wrap="square" anchor="t" lIns="0" rIns="0" tIns="0" bIns="0">
            <a:spAutoFit/>
          </a:bodyPr>
          <a:lstStyle/>
          <a:p>
            <a:pPr algn="l"/>
            <a:r>
              <a:rPr sz="1800" b="0" i="0">
                <a:solidFill>
                  <a:srgbClr val="A3AAB6"/>
                </a:solidFill>
                <a:latin typeface="Arial"/>
              </a:rPr>
              <a:t>Web3 companies in Singapore¹</a:t>
            </a:r>
            <a:r>
              <a:rPr sz="1200" b="0" i="0">
                <a:solidFill>
                  <a:srgbClr val="A3AAB6"/>
                </a:solidFill>
                <a:latin typeface="Arial"/>
              </a:rPr>
              <a:t>  [VERIFIED]</a:t>
            </a:r>
          </a:p>
        </p:txBody>
      </p:sp>
      <p:sp>
        <p:nvSpPr>
          <p:cNvPr id="6" name="Rounded Rectangle 5"/>
          <p:cNvSpPr/>
          <p:nvPr/>
        </p:nvSpPr>
        <p:spPr>
          <a:xfrm>
            <a:off x="3390823" y="1737360"/>
            <a:ext cx="2567863" cy="265176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65143" y="1965960"/>
            <a:ext cx="2019223" cy="914400"/>
          </a:xfrm>
          <a:prstGeom prst="rect">
            <a:avLst/>
          </a:prstGeom>
          <a:noFill/>
        </p:spPr>
        <p:txBody>
          <a:bodyPr wrap="square" anchor="t" lIns="0" rIns="0" tIns="0" bIns="0">
            <a:spAutoFit/>
          </a:bodyPr>
          <a:lstStyle/>
          <a:p>
            <a:pPr algn="l"/>
            <a:r>
              <a:rPr sz="3600" b="1" i="0">
                <a:solidFill>
                  <a:srgbClr val="F2F4F7"/>
                </a:solidFill>
                <a:latin typeface="Arial"/>
              </a:rPr>
              <a:t>× ~50%</a:t>
            </a:r>
          </a:p>
        </p:txBody>
      </p:sp>
      <p:sp>
        <p:nvSpPr>
          <p:cNvPr id="8" name="TextBox 7"/>
          <p:cNvSpPr txBox="1"/>
          <p:nvPr/>
        </p:nvSpPr>
        <p:spPr>
          <a:xfrm>
            <a:off x="3665143" y="2880360"/>
            <a:ext cx="2019223" cy="1371600"/>
          </a:xfrm>
          <a:prstGeom prst="rect">
            <a:avLst/>
          </a:prstGeom>
          <a:noFill/>
        </p:spPr>
        <p:txBody>
          <a:bodyPr wrap="square" anchor="t" lIns="0" rIns="0" tIns="0" bIns="0">
            <a:spAutoFit/>
          </a:bodyPr>
          <a:lstStyle/>
          <a:p>
            <a:pPr algn="l"/>
            <a:r>
              <a:rPr sz="1800" b="0" i="0">
                <a:solidFill>
                  <a:srgbClr val="A3AAB6"/>
                </a:solidFill>
                <a:latin typeface="Arial"/>
              </a:rPr>
              <a:t>invoice businesses that pay them directly in stablecoins</a:t>
            </a:r>
            <a:r>
              <a:rPr sz="1200" b="0" i="0">
                <a:solidFill>
                  <a:srgbClr val="B9C6FF"/>
                </a:solidFill>
                <a:latin typeface="Arial"/>
              </a:rPr>
              <a:t>  [GUESS]</a:t>
            </a:r>
          </a:p>
        </p:txBody>
      </p:sp>
      <p:sp>
        <p:nvSpPr>
          <p:cNvPr id="9" name="Rounded Rectangle 8"/>
          <p:cNvSpPr/>
          <p:nvPr/>
        </p:nvSpPr>
        <p:spPr>
          <a:xfrm>
            <a:off x="6233007" y="1737360"/>
            <a:ext cx="2567863" cy="265176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07327" y="1965960"/>
            <a:ext cx="2019223" cy="914400"/>
          </a:xfrm>
          <a:prstGeom prst="rect">
            <a:avLst/>
          </a:prstGeom>
          <a:noFill/>
        </p:spPr>
        <p:txBody>
          <a:bodyPr wrap="square" anchor="t" lIns="0" rIns="0" tIns="0" bIns="0">
            <a:spAutoFit/>
          </a:bodyPr>
          <a:lstStyle/>
          <a:p>
            <a:pPr algn="l"/>
            <a:r>
              <a:rPr sz="3600" b="1" i="0">
                <a:solidFill>
                  <a:srgbClr val="F2F4F7"/>
                </a:solidFill>
                <a:latin typeface="Arial"/>
              </a:rPr>
              <a:t>× S$6k</a:t>
            </a:r>
          </a:p>
        </p:txBody>
      </p:sp>
      <p:sp>
        <p:nvSpPr>
          <p:cNvPr id="11" name="TextBox 10"/>
          <p:cNvSpPr txBox="1"/>
          <p:nvPr/>
        </p:nvSpPr>
        <p:spPr>
          <a:xfrm>
            <a:off x="6507327" y="2880360"/>
            <a:ext cx="2019223" cy="1371600"/>
          </a:xfrm>
          <a:prstGeom prst="rect">
            <a:avLst/>
          </a:prstGeom>
          <a:noFill/>
        </p:spPr>
        <p:txBody>
          <a:bodyPr wrap="square" anchor="t" lIns="0" rIns="0" tIns="0" bIns="0">
            <a:spAutoFit/>
          </a:bodyPr>
          <a:lstStyle/>
          <a:p>
            <a:pPr algn="l"/>
            <a:r>
              <a:rPr sz="1800" b="0" i="0">
                <a:solidFill>
                  <a:srgbClr val="A3AAB6"/>
                </a:solidFill>
                <a:latin typeface="Arial"/>
              </a:rPr>
              <a:t>a year per finance team</a:t>
            </a:r>
            <a:r>
              <a:rPr sz="1200" b="0" i="0">
                <a:solidFill>
                  <a:srgbClr val="B9C6FF"/>
                </a:solidFill>
                <a:latin typeface="Arial"/>
              </a:rPr>
              <a:t>  [ASSUMPTION]</a:t>
            </a:r>
          </a:p>
        </p:txBody>
      </p:sp>
      <p:sp>
        <p:nvSpPr>
          <p:cNvPr id="12" name="Rounded Rectangle 11"/>
          <p:cNvSpPr/>
          <p:nvPr/>
        </p:nvSpPr>
        <p:spPr>
          <a:xfrm>
            <a:off x="9075191" y="1737360"/>
            <a:ext cx="2567863" cy="2651760"/>
          </a:xfrm>
          <a:prstGeom prst="roundRect">
            <a:avLst>
              <a:gd name="adj" fmla="val 8000"/>
            </a:avLst>
          </a:prstGeom>
          <a:solidFill>
            <a:srgbClr val="151A24"/>
          </a:solidFill>
          <a:ln w="12700">
            <a:solidFill>
              <a:srgbClr val="8EA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49511" y="1965960"/>
            <a:ext cx="2019223" cy="914400"/>
          </a:xfrm>
          <a:prstGeom prst="rect">
            <a:avLst/>
          </a:prstGeom>
          <a:noFill/>
        </p:spPr>
        <p:txBody>
          <a:bodyPr wrap="square" anchor="t" lIns="0" rIns="0" tIns="0" bIns="0">
            <a:spAutoFit/>
          </a:bodyPr>
          <a:lstStyle/>
          <a:p>
            <a:pPr algn="l"/>
            <a:r>
              <a:rPr sz="3600" b="1" i="0">
                <a:solidFill>
                  <a:srgbClr val="B9C6FF"/>
                </a:solidFill>
                <a:latin typeface="Arial"/>
              </a:rPr>
              <a:t>S$0.9M</a:t>
            </a:r>
          </a:p>
        </p:txBody>
      </p:sp>
      <p:sp>
        <p:nvSpPr>
          <p:cNvPr id="14" name="TextBox 13"/>
          <p:cNvSpPr txBox="1"/>
          <p:nvPr/>
        </p:nvSpPr>
        <p:spPr>
          <a:xfrm>
            <a:off x="9349511" y="2880360"/>
            <a:ext cx="2019223" cy="1371600"/>
          </a:xfrm>
          <a:prstGeom prst="rect">
            <a:avLst/>
          </a:prstGeom>
          <a:noFill/>
        </p:spPr>
        <p:txBody>
          <a:bodyPr wrap="square" anchor="t" lIns="0" rIns="0" tIns="0" bIns="0">
            <a:spAutoFit/>
          </a:bodyPr>
          <a:lstStyle/>
          <a:p>
            <a:pPr algn="l"/>
            <a:r>
              <a:rPr sz="1800" b="0" i="0">
                <a:solidFill>
                  <a:srgbClr val="A3AAB6"/>
                </a:solidFill>
                <a:latin typeface="Arial"/>
              </a:rPr>
              <a:t>a year if every one bought: a ceiling for a test market</a:t>
            </a:r>
            <a:r>
              <a:rPr sz="1200" b="0" i="0">
                <a:solidFill>
                  <a:srgbClr val="B9C6FF"/>
                </a:solidFill>
                <a:latin typeface="Arial"/>
              </a:rPr>
              <a:t>  [ASSUMPTION]</a:t>
            </a:r>
          </a:p>
        </p:txBody>
      </p:sp>
      <p:sp>
        <p:nvSpPr>
          <p:cNvPr id="15" name="TextBox 14"/>
          <p:cNvSpPr txBox="1"/>
          <p:nvPr/>
        </p:nvSpPr>
        <p:spPr>
          <a:xfrm>
            <a:off x="548640" y="4800600"/>
            <a:ext cx="11094415" cy="1097280"/>
          </a:xfrm>
          <a:prstGeom prst="rect">
            <a:avLst/>
          </a:prstGeom>
          <a:noFill/>
        </p:spPr>
        <p:txBody>
          <a:bodyPr wrap="square" anchor="t" lIns="0" rIns="0" tIns="0" bIns="0">
            <a:spAutoFit/>
          </a:bodyPr>
          <a:lstStyle/>
          <a:p>
            <a:pPr algn="l"/>
            <a:r>
              <a:rPr sz="2000" b="1" i="0">
                <a:solidFill>
                  <a:srgbClr val="A3AAB6"/>
                </a:solidFill>
                <a:latin typeface="Arial"/>
              </a:rPr>
              <a:t>Next, sized only after interviews: </a:t>
            </a:r>
            <a:r>
              <a:rPr sz="2000" b="0" i="0">
                <a:solidFill>
                  <a:srgbClr val="A3AAB6"/>
                </a:solidFill>
                <a:latin typeface="Arial"/>
              </a:rPr>
              <a:t>Southeast Asia and India, and gateways' merchants through the embedded model.</a:t>
            </a:r>
          </a:p>
        </p:txBody>
      </p:sp>
      <p:sp>
        <p:nvSpPr>
          <p:cNvPr id="16" name="Sources"/>
          <p:cNvSpPr txBox="1"/>
          <p:nvPr/>
        </p:nvSpPr>
        <p:spPr>
          <a:xfrm>
            <a:off x="548640" y="6400800"/>
            <a:ext cx="11094415" cy="274320"/>
          </a:xfrm>
          <a:prstGeom prst="rect">
            <a:avLst/>
          </a:prstGeom>
          <a:noFill/>
        </p:spPr>
        <p:txBody>
          <a:bodyPr wrap="square" anchor="t" lIns="0" rIns="0" tIns="0" bIns="0">
            <a:spAutoFit/>
          </a:bodyPr>
          <a:lstStyle/>
          <a:p>
            <a:pPr algn="l"/>
            <a:r>
              <a:rPr sz="1000" b="0" i="0">
                <a:solidFill>
                  <a:srgbClr val="767E8C"/>
                </a:solidFill>
                <a:latin typeface="Arial"/>
              </a:rPr>
              <a:t>¹ Singapore EDB, “Singapore: the onchain state”, edb.gov.sg. The other three figures are estimates; no top-down market size is claimed.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itle"/>
          <p:cNvSpPr txBox="1"/>
          <p:nvPr/>
        </p:nvSpPr>
        <p:spPr>
          <a:xfrm>
            <a:off x="548640" y="457200"/>
            <a:ext cx="11094415" cy="822960"/>
          </a:xfrm>
          <a:prstGeom prst="rect">
            <a:avLst/>
          </a:prstGeom>
          <a:noFill/>
        </p:spPr>
        <p:txBody>
          <a:bodyPr wrap="square" anchor="t" lIns="0" rIns="0" tIns="0" bIns="0">
            <a:spAutoFit/>
          </a:bodyPr>
          <a:lstStyle/>
          <a:p>
            <a:pPr algn="l"/>
            <a:r>
              <a:rPr sz="3600" b="1" i="0">
                <a:solidFill>
                  <a:srgbClr val="F2F4F7"/>
                </a:solidFill>
                <a:latin typeface="Arial"/>
              </a:rPr>
              <a:t>Traction: a working product, no customers yet</a:t>
            </a:r>
          </a:p>
        </p:txBody>
      </p:sp>
      <p:sp>
        <p:nvSpPr>
          <p:cNvPr id="3" name="TextBox 2"/>
          <p:cNvSpPr txBox="1"/>
          <p:nvPr/>
        </p:nvSpPr>
        <p:spPr>
          <a:xfrm>
            <a:off x="548640" y="1554480"/>
            <a:ext cx="2567863" cy="822960"/>
          </a:xfrm>
          <a:prstGeom prst="rect">
            <a:avLst/>
          </a:prstGeom>
          <a:noFill/>
        </p:spPr>
        <p:txBody>
          <a:bodyPr wrap="square" anchor="t" lIns="0" rIns="0" tIns="0" bIns="0">
            <a:spAutoFit/>
          </a:bodyPr>
          <a:lstStyle/>
          <a:p>
            <a:pPr algn="l"/>
            <a:r>
              <a:rPr sz="4000" b="1" i="0">
                <a:solidFill>
                  <a:srgbClr val="F2F4F7"/>
                </a:solidFill>
                <a:latin typeface="Arial"/>
              </a:rPr>
              <a:t>7</a:t>
            </a:r>
          </a:p>
        </p:txBody>
      </p:sp>
      <p:sp>
        <p:nvSpPr>
          <p:cNvPr id="4" name="TextBox 3"/>
          <p:cNvSpPr txBox="1"/>
          <p:nvPr/>
        </p:nvSpPr>
        <p:spPr>
          <a:xfrm>
            <a:off x="548640" y="2377440"/>
            <a:ext cx="2567863" cy="822960"/>
          </a:xfrm>
          <a:prstGeom prst="rect">
            <a:avLst/>
          </a:prstGeom>
          <a:noFill/>
        </p:spPr>
        <p:txBody>
          <a:bodyPr wrap="square" anchor="t" lIns="0" rIns="0" tIns="0" bIns="0">
            <a:spAutoFit/>
          </a:bodyPr>
          <a:lstStyle/>
          <a:p>
            <a:pPr algn="l"/>
            <a:r>
              <a:rPr sz="1600" b="0" i="0">
                <a:solidFill>
                  <a:srgbClr val="A3AAB6"/>
                </a:solidFill>
                <a:latin typeface="Arial"/>
              </a:rPr>
              <a:t>payment situations
run end to end in the demo</a:t>
            </a:r>
          </a:p>
        </p:txBody>
      </p:sp>
      <p:sp>
        <p:nvSpPr>
          <p:cNvPr id="5" name="TextBox 4"/>
          <p:cNvSpPr txBox="1"/>
          <p:nvPr/>
        </p:nvSpPr>
        <p:spPr>
          <a:xfrm>
            <a:off x="3390823" y="1554480"/>
            <a:ext cx="2567863" cy="822960"/>
          </a:xfrm>
          <a:prstGeom prst="rect">
            <a:avLst/>
          </a:prstGeom>
          <a:noFill/>
        </p:spPr>
        <p:txBody>
          <a:bodyPr wrap="square" anchor="t" lIns="0" rIns="0" tIns="0" bIns="0">
            <a:spAutoFit/>
          </a:bodyPr>
          <a:lstStyle/>
          <a:p>
            <a:pPr algn="l"/>
            <a:r>
              <a:rPr sz="4000" b="1" i="0">
                <a:solidFill>
                  <a:srgbClr val="F2F4F7"/>
                </a:solidFill>
                <a:latin typeface="Arial"/>
              </a:rPr>
              <a:t>52 / 52</a:t>
            </a:r>
          </a:p>
        </p:txBody>
      </p:sp>
      <p:sp>
        <p:nvSpPr>
          <p:cNvPr id="6" name="TextBox 5"/>
          <p:cNvSpPr txBox="1"/>
          <p:nvPr/>
        </p:nvSpPr>
        <p:spPr>
          <a:xfrm>
            <a:off x="3390823" y="2377440"/>
            <a:ext cx="2567863" cy="822960"/>
          </a:xfrm>
          <a:prstGeom prst="rect">
            <a:avLst/>
          </a:prstGeom>
          <a:noFill/>
        </p:spPr>
        <p:txBody>
          <a:bodyPr wrap="square" anchor="t" lIns="0" rIns="0" tIns="0" bIns="0">
            <a:spAutoFit/>
          </a:bodyPr>
          <a:lstStyle/>
          <a:p>
            <a:pPr algn="l"/>
            <a:r>
              <a:rPr sz="1600" b="0" i="0">
                <a:solidFill>
                  <a:srgbClr val="A3AAB6"/>
                </a:solidFill>
                <a:latin typeface="Arial"/>
              </a:rPr>
              <a:t>new real transactions given
the correct verdict¹</a:t>
            </a:r>
          </a:p>
        </p:txBody>
      </p:sp>
      <p:sp>
        <p:nvSpPr>
          <p:cNvPr id="7" name="TextBox 6"/>
          <p:cNvSpPr txBox="1"/>
          <p:nvPr/>
        </p:nvSpPr>
        <p:spPr>
          <a:xfrm>
            <a:off x="6233007" y="1554480"/>
            <a:ext cx="2567863" cy="822960"/>
          </a:xfrm>
          <a:prstGeom prst="rect">
            <a:avLst/>
          </a:prstGeom>
          <a:noFill/>
        </p:spPr>
        <p:txBody>
          <a:bodyPr wrap="square" anchor="t" lIns="0" rIns="0" tIns="0" bIns="0">
            <a:spAutoFit/>
          </a:bodyPr>
          <a:lstStyle/>
          <a:p>
            <a:pPr algn="l"/>
            <a:r>
              <a:rPr sz="4000" b="1" i="0">
                <a:solidFill>
                  <a:srgbClr val="F2F4F7"/>
                </a:solidFill>
                <a:latin typeface="Arial"/>
              </a:rPr>
              <a:t>3</a:t>
            </a:r>
          </a:p>
        </p:txBody>
      </p:sp>
      <p:sp>
        <p:nvSpPr>
          <p:cNvPr id="8" name="TextBox 7"/>
          <p:cNvSpPr txBox="1"/>
          <p:nvPr/>
        </p:nvSpPr>
        <p:spPr>
          <a:xfrm>
            <a:off x="6233007" y="2377440"/>
            <a:ext cx="2567863" cy="822960"/>
          </a:xfrm>
          <a:prstGeom prst="rect">
            <a:avLst/>
          </a:prstGeom>
          <a:noFill/>
        </p:spPr>
        <p:txBody>
          <a:bodyPr wrap="square" anchor="t" lIns="0" rIns="0" tIns="0" bIns="0">
            <a:spAutoFit/>
          </a:bodyPr>
          <a:lstStyle/>
          <a:p>
            <a:pPr algn="l"/>
            <a:r>
              <a:rPr sz="1600" b="0" i="0">
                <a:solidFill>
                  <a:srgbClr val="A3AAB6"/>
                </a:solidFill>
                <a:latin typeface="Arial"/>
              </a:rPr>
              <a:t>early calls, all with
vendor teams²</a:t>
            </a:r>
          </a:p>
        </p:txBody>
      </p:sp>
      <p:sp>
        <p:nvSpPr>
          <p:cNvPr id="9" name="TextBox 8"/>
          <p:cNvSpPr txBox="1"/>
          <p:nvPr/>
        </p:nvSpPr>
        <p:spPr>
          <a:xfrm>
            <a:off x="9075191" y="1554480"/>
            <a:ext cx="2567863" cy="822960"/>
          </a:xfrm>
          <a:prstGeom prst="rect">
            <a:avLst/>
          </a:prstGeom>
          <a:noFill/>
        </p:spPr>
        <p:txBody>
          <a:bodyPr wrap="square" anchor="t" lIns="0" rIns="0" tIns="0" bIns="0">
            <a:spAutoFit/>
          </a:bodyPr>
          <a:lstStyle/>
          <a:p>
            <a:pPr algn="l"/>
            <a:r>
              <a:rPr sz="4000" b="1" i="0">
                <a:solidFill>
                  <a:srgbClr val="B9C6FF"/>
                </a:solidFill>
                <a:latin typeface="Arial"/>
              </a:rPr>
              <a:t>0</a:t>
            </a:r>
          </a:p>
        </p:txBody>
      </p:sp>
      <p:sp>
        <p:nvSpPr>
          <p:cNvPr id="10" name="TextBox 9"/>
          <p:cNvSpPr txBox="1"/>
          <p:nvPr/>
        </p:nvSpPr>
        <p:spPr>
          <a:xfrm>
            <a:off x="9075191" y="2377440"/>
            <a:ext cx="2567863" cy="822960"/>
          </a:xfrm>
          <a:prstGeom prst="rect">
            <a:avLst/>
          </a:prstGeom>
          <a:noFill/>
        </p:spPr>
        <p:txBody>
          <a:bodyPr wrap="square" anchor="t" lIns="0" rIns="0" tIns="0" bIns="0">
            <a:spAutoFit/>
          </a:bodyPr>
          <a:lstStyle/>
          <a:p>
            <a:pPr algn="l"/>
            <a:r>
              <a:rPr sz="1600" b="0" i="0">
                <a:solidFill>
                  <a:srgbClr val="A3AAB6"/>
                </a:solidFill>
                <a:latin typeface="Arial"/>
              </a:rPr>
              <a:t>customers or
paid pilots</a:t>
            </a:r>
          </a:p>
        </p:txBody>
      </p:sp>
      <p:sp>
        <p:nvSpPr>
          <p:cNvPr id="11" name="Rounded Rectangle 10"/>
          <p:cNvSpPr/>
          <p:nvPr/>
        </p:nvSpPr>
        <p:spPr>
          <a:xfrm>
            <a:off x="548640" y="3520440"/>
            <a:ext cx="11094415" cy="2240280"/>
          </a:xfrm>
          <a:prstGeom prst="roundRect">
            <a:avLst>
              <a:gd name="adj" fmla="val 8000"/>
            </a:avLst>
          </a:prstGeom>
          <a:solidFill>
            <a:srgbClr val="151A24"/>
          </a:solidFill>
          <a:ln w="12700">
            <a:solidFill>
              <a:srgbClr val="8EA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703320"/>
            <a:ext cx="10362895" cy="457200"/>
          </a:xfrm>
          <a:prstGeom prst="rect">
            <a:avLst/>
          </a:prstGeom>
          <a:noFill/>
        </p:spPr>
        <p:txBody>
          <a:bodyPr wrap="square" anchor="t" lIns="0" rIns="0" tIns="0" bIns="0">
            <a:spAutoFit/>
          </a:bodyPr>
          <a:lstStyle/>
          <a:p>
            <a:pPr algn="l"/>
            <a:r>
              <a:rPr sz="1800" b="0" i="0">
                <a:solidFill>
                  <a:srgbClr val="A3AAB6"/>
                </a:solidFill>
                <a:latin typeface="Arial"/>
              </a:rPr>
              <a:t>Next: 10 finance teams that receive stablecoins, one question</a:t>
            </a:r>
          </a:p>
        </p:txBody>
      </p:sp>
      <p:sp>
        <p:nvSpPr>
          <p:cNvPr id="13" name="TextBox 12"/>
          <p:cNvSpPr txBox="1"/>
          <p:nvPr/>
        </p:nvSpPr>
        <p:spPr>
          <a:xfrm>
            <a:off x="914400" y="4114800"/>
            <a:ext cx="10362895" cy="640080"/>
          </a:xfrm>
          <a:prstGeom prst="rect">
            <a:avLst/>
          </a:prstGeom>
          <a:noFill/>
        </p:spPr>
        <p:txBody>
          <a:bodyPr wrap="square" anchor="t" lIns="0" rIns="0" tIns="0" bIns="0">
            <a:spAutoFit/>
          </a:bodyPr>
          <a:lstStyle/>
          <a:p>
            <a:pPr algn="l"/>
            <a:r>
              <a:rPr sz="2600" b="1" i="0">
                <a:solidFill>
                  <a:srgbClr val="F2F4F7"/>
                </a:solidFill>
                <a:latin typeface="Arial"/>
              </a:rPr>
              <a:t>“Do customers pay through a checkout page, or send directly?”</a:t>
            </a:r>
          </a:p>
        </p:txBody>
      </p:sp>
      <p:sp>
        <p:nvSpPr>
          <p:cNvPr id="14" name="TextBox 13"/>
          <p:cNvSpPr txBox="1"/>
          <p:nvPr/>
        </p:nvSpPr>
        <p:spPr>
          <a:xfrm>
            <a:off x="914400" y="4983480"/>
            <a:ext cx="10362895" cy="731520"/>
          </a:xfrm>
          <a:prstGeom prst="rect">
            <a:avLst/>
          </a:prstGeom>
          <a:noFill/>
        </p:spPr>
        <p:txBody>
          <a:bodyPr wrap="square" anchor="t" lIns="0" rIns="0" tIns="0" bIns="0">
            <a:spAutoFit/>
          </a:bodyPr>
          <a:lstStyle/>
          <a:p>
            <a:pPr algn="l"/>
            <a:r>
              <a:rPr sz="2000" b="1" i="0">
                <a:solidFill>
                  <a:srgbClr val="F2F4F7"/>
                </a:solidFill>
                <a:latin typeface="Arial"/>
              </a:rPr>
              <a:t>Mostly directly → </a:t>
            </a:r>
            <a:r>
              <a:rPr sz="2000" b="0" i="0">
                <a:solidFill>
                  <a:srgbClr val="A3AAB6"/>
                </a:solidFill>
                <a:latin typeface="Arial"/>
              </a:rPr>
              <a:t>sell to finance teams.   </a:t>
            </a:r>
            <a:r>
              <a:rPr sz="2000" b="1" i="0">
                <a:solidFill>
                  <a:srgbClr val="F2F4F7"/>
                </a:solidFill>
                <a:latin typeface="Arial"/>
              </a:rPr>
              <a:t>Mostly checkout → </a:t>
            </a:r>
            <a:r>
              <a:rPr sz="2000" b="0" i="0">
                <a:solidFill>
                  <a:srgbClr val="A3AAB6"/>
                </a:solidFill>
                <a:latin typeface="Arial"/>
              </a:rPr>
              <a:t>become a plug-in for gateways.</a:t>
            </a:r>
          </a:p>
        </p:txBody>
      </p:sp>
      <p:sp>
        <p:nvSpPr>
          <p:cNvPr id="15" name="Sources"/>
          <p:cNvSpPr txBox="1"/>
          <p:nvPr/>
        </p:nvSpPr>
        <p:spPr>
          <a:xfrm>
            <a:off x="548640" y="6400800"/>
            <a:ext cx="11094415" cy="274320"/>
          </a:xfrm>
          <a:prstGeom prst="rect">
            <a:avLst/>
          </a:prstGeom>
          <a:noFill/>
        </p:spPr>
        <p:txBody>
          <a:bodyPr wrap="square" anchor="t" lIns="0" rIns="0" tIns="0" bIns="0">
            <a:spAutoFit/>
          </a:bodyPr>
          <a:lstStyle/>
          <a:p>
            <a:pPr algn="l"/>
            <a:r>
              <a:rPr sz="1000" b="0" i="0">
                <a:solidFill>
                  <a:srgbClr val="767E8C"/>
                </a:solidFill>
                <a:latin typeface="Arial"/>
              </a:rPr>
              <a:t>¹ demo/REPORT.md: held-out cases (59/59 on tuning cases). Explanations and matching not yet tested on real data; company records were sample data. ² Custodian and compliance-software teams, 16 Oct 2026, earlier idea.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itle"/>
          <p:cNvSpPr txBox="1"/>
          <p:nvPr/>
        </p:nvSpPr>
        <p:spPr>
          <a:xfrm>
            <a:off x="548640" y="457200"/>
            <a:ext cx="11094415" cy="822960"/>
          </a:xfrm>
          <a:prstGeom prst="rect">
            <a:avLst/>
          </a:prstGeom>
          <a:noFill/>
        </p:spPr>
        <p:txBody>
          <a:bodyPr wrap="square" anchor="t" lIns="0" rIns="0" tIns="0" bIns="0">
            <a:spAutoFit/>
          </a:bodyPr>
          <a:lstStyle/>
          <a:p>
            <a:pPr algn="l"/>
            <a:r>
              <a:rPr sz="3600" b="1" i="0">
                <a:solidFill>
                  <a:srgbClr val="F2F4F7"/>
                </a:solidFill>
                <a:latin typeface="Arial"/>
              </a:rPr>
              <a:t>Team</a:t>
            </a:r>
          </a:p>
        </p:txBody>
      </p:sp>
      <p:sp>
        <p:nvSpPr>
          <p:cNvPr id="3" name="Rounded Rectangle 2"/>
          <p:cNvSpPr/>
          <p:nvPr/>
        </p:nvSpPr>
        <p:spPr>
          <a:xfrm>
            <a:off x="548640" y="1600200"/>
            <a:ext cx="1371600" cy="1371600"/>
          </a:xfrm>
          <a:prstGeom prst="roundRect">
            <a:avLst>
              <a:gd name="adj" fmla="val 50000"/>
            </a:avLst>
          </a:prstGeom>
          <a:solidFill>
            <a:srgbClr val="151A24"/>
          </a:solidFill>
          <a:ln w="12700">
            <a:solidFill>
              <a:srgbClr val="8EA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00200"/>
            <a:ext cx="1371600" cy="1371600"/>
          </a:xfrm>
          <a:prstGeom prst="rect">
            <a:avLst/>
          </a:prstGeom>
          <a:noFill/>
        </p:spPr>
        <p:txBody>
          <a:bodyPr wrap="square" anchor="ctr" lIns="0" rIns="0" tIns="0" bIns="0">
            <a:spAutoFit/>
          </a:bodyPr>
          <a:lstStyle/>
          <a:p>
            <a:pPr algn="ctr"/>
            <a:r>
              <a:rPr sz="4000" b="1" i="0">
                <a:solidFill>
                  <a:srgbClr val="B9C6FF"/>
                </a:solidFill>
                <a:latin typeface="Arial"/>
              </a:rPr>
              <a:t>AK</a:t>
            </a:r>
          </a:p>
        </p:txBody>
      </p:sp>
      <p:sp>
        <p:nvSpPr>
          <p:cNvPr id="5" name="TextBox 4"/>
          <p:cNvSpPr txBox="1"/>
          <p:nvPr/>
        </p:nvSpPr>
        <p:spPr>
          <a:xfrm>
            <a:off x="2240280" y="1645920"/>
            <a:ext cx="7315200" cy="548640"/>
          </a:xfrm>
          <a:prstGeom prst="rect">
            <a:avLst/>
          </a:prstGeom>
          <a:noFill/>
        </p:spPr>
        <p:txBody>
          <a:bodyPr wrap="square" anchor="t" lIns="0" rIns="0" tIns="0" bIns="0">
            <a:spAutoFit/>
          </a:bodyPr>
          <a:lstStyle/>
          <a:p>
            <a:pPr algn="l"/>
            <a:r>
              <a:rPr sz="3200" b="1" i="0">
                <a:solidFill>
                  <a:srgbClr val="F2F4F7"/>
                </a:solidFill>
                <a:latin typeface="Arial"/>
              </a:rPr>
              <a:t>Aashmiin Kaur</a:t>
            </a:r>
          </a:p>
        </p:txBody>
      </p:sp>
      <p:sp>
        <p:nvSpPr>
          <p:cNvPr id="6" name="TextBox 5"/>
          <p:cNvSpPr txBox="1"/>
          <p:nvPr/>
        </p:nvSpPr>
        <p:spPr>
          <a:xfrm>
            <a:off x="2240280" y="2286000"/>
            <a:ext cx="8229600" cy="457200"/>
          </a:xfrm>
          <a:prstGeom prst="rect">
            <a:avLst/>
          </a:prstGeom>
          <a:noFill/>
        </p:spPr>
        <p:txBody>
          <a:bodyPr wrap="square" anchor="t" lIns="0" rIns="0" tIns="0" bIns="0">
            <a:spAutoFit/>
          </a:bodyPr>
          <a:lstStyle/>
          <a:p>
            <a:pPr algn="l"/>
            <a:r>
              <a:rPr sz="2000" b="0" i="0">
                <a:solidFill>
                  <a:srgbClr val="A3AAB6"/>
                </a:solidFill>
                <a:latin typeface="Arial"/>
              </a:rPr>
              <a:t>Founder · builds the product and talks to customers</a:t>
            </a:r>
          </a:p>
        </p:txBody>
      </p:sp>
      <p:sp>
        <p:nvSpPr>
          <p:cNvPr id="7" name="TextBox 6"/>
          <p:cNvSpPr txBox="1"/>
          <p:nvPr/>
        </p:nvSpPr>
        <p:spPr>
          <a:xfrm>
            <a:off x="2240280" y="3154680"/>
            <a:ext cx="9402775" cy="2286000"/>
          </a:xfrm>
          <a:prstGeom prst="rect">
            <a:avLst/>
          </a:prstGeom>
          <a:noFill/>
        </p:spPr>
        <p:txBody>
          <a:bodyPr wrap="square" anchor="t" lIns="0" rIns="0" tIns="0" bIns="0">
            <a:spAutoFit/>
          </a:bodyPr>
          <a:lstStyle/>
          <a:p>
            <a:pPr algn="l">
              <a:spcAft>
                <a:spcPts val="1200"/>
              </a:spcAft>
            </a:pPr>
            <a:r>
              <a:rPr sz="2000" b="0" i="0">
                <a:solidFill>
                  <a:srgbClr val="F2F4F7"/>
                </a:solidFill>
                <a:latin typeface="Arial"/>
              </a:rPr>
              <a:t>Year 2, Bachelor of Accountancy, Singapore Management University</a:t>
            </a:r>
          </a:p>
          <a:p>
            <a:pPr algn="l">
              <a:spcAft>
                <a:spcPts val="1200"/>
              </a:spcAft>
            </a:pPr>
            <a:r>
              <a:rPr sz="2000" b="0" i="0">
                <a:solidFill>
                  <a:srgbClr val="F2F4F7"/>
                </a:solidFill>
                <a:latin typeface="Arial"/>
              </a:rPr>
              <a:t>Self-taught coder (Harvard CS50); built Clearline's working product myself, with AI coding tools</a:t>
            </a:r>
          </a:p>
          <a:p>
            <a:pPr algn="l">
              <a:spcAft>
                <a:spcPts val="1200"/>
              </a:spcAft>
            </a:pPr>
            <a:r>
              <a:rPr sz="2000" b="0" i="0">
                <a:solidFill>
                  <a:srgbClr val="F2F4F7"/>
                </a:solidFill>
                <a:latin typeface="Arial"/>
              </a:rPr>
              <a:t>Business development: student analyst, Protégé Ventures; partner outreach, Hatch</a:t>
            </a:r>
          </a:p>
          <a:p>
            <a:pPr algn="l">
              <a:spcAft>
                <a:spcPts val="1200"/>
              </a:spcAft>
            </a:pPr>
            <a:r>
              <a:rPr sz="2000" b="0" i="0">
                <a:solidFill>
                  <a:srgbClr val="F2F4F7"/>
                </a:solidFill>
                <a:latin typeface="Arial"/>
              </a:rPr>
              <a:t>SMU BIG incubator</a:t>
            </a:r>
          </a:p>
        </p:txBody>
      </p:sp>
      <p:sp>
        <p:nvSpPr>
          <p:cNvPr id="8" name="TextBox 7"/>
          <p:cNvSpPr txBox="1"/>
          <p:nvPr/>
        </p:nvSpPr>
        <p:spPr>
          <a:xfrm>
            <a:off x="2240280" y="5532120"/>
            <a:ext cx="9402775" cy="548640"/>
          </a:xfrm>
          <a:prstGeom prst="rect">
            <a:avLst/>
          </a:prstGeom>
          <a:noFill/>
        </p:spPr>
        <p:txBody>
          <a:bodyPr wrap="square" anchor="t" lIns="0" rIns="0" tIns="0" bIns="0">
            <a:spAutoFit/>
          </a:bodyPr>
          <a:lstStyle/>
          <a:p>
            <a:pPr algn="l"/>
            <a:r>
              <a:rPr sz="2000" b="0" i="0">
                <a:solidFill>
                  <a:srgbClr val="B9C6FF"/>
                </a:solidFill>
                <a:latin typeface="Arial"/>
              </a:rPr>
              <a:t>Missing: payments operations experience. That's what I'm asking mentors for.</a:t>
            </a:r>
          </a:p>
        </p:txBody>
      </p:sp>
      <p:sp>
        <p:nvSpPr>
          <p:cNvPr id="9" name="Sources"/>
          <p:cNvSpPr txBox="1"/>
          <p:nvPr/>
        </p:nvSpPr>
        <p:spPr>
          <a:xfrm>
            <a:off x="548640" y="6400800"/>
            <a:ext cx="11094415" cy="274320"/>
          </a:xfrm>
          <a:prstGeom prst="rect">
            <a:avLst/>
          </a:prstGeom>
          <a:noFill/>
        </p:spPr>
        <p:txBody>
          <a:bodyPr wrap="square" anchor="t" lIns="0" rIns="0" tIns="0" bIns="0">
            <a:spAutoFit/>
          </a:bodyPr>
          <a:lstStyle/>
          <a:p>
            <a:pPr algn="l"/>
            <a:r>
              <a:rPr sz="1000" b="0" i="0">
                <a:solidFill>
                  <a:srgbClr val="767E8C"/>
                </a:solidFill>
                <a:latin typeface="Arial"/>
              </a:rPr>
              <a:t>Founder's own background.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itle"/>
          <p:cNvSpPr txBox="1"/>
          <p:nvPr/>
        </p:nvSpPr>
        <p:spPr>
          <a:xfrm>
            <a:off x="548640" y="457200"/>
            <a:ext cx="11094415" cy="822960"/>
          </a:xfrm>
          <a:prstGeom prst="rect">
            <a:avLst/>
          </a:prstGeom>
          <a:noFill/>
        </p:spPr>
        <p:txBody>
          <a:bodyPr wrap="square" anchor="t" lIns="0" rIns="0" tIns="0" bIns="0">
            <a:spAutoFit/>
          </a:bodyPr>
          <a:lstStyle/>
          <a:p>
            <a:pPr algn="l"/>
            <a:r>
              <a:rPr sz="3600" b="1" i="0">
                <a:solidFill>
                  <a:srgbClr val="F2F4F7"/>
                </a:solidFill>
                <a:latin typeface="Arial"/>
              </a:rPr>
              <a:t>What I'd value from you</a:t>
            </a:r>
          </a:p>
        </p:txBody>
      </p:sp>
      <p:sp>
        <p:nvSpPr>
          <p:cNvPr id="3" name="TextBox 2"/>
          <p:cNvSpPr txBox="1"/>
          <p:nvPr/>
        </p:nvSpPr>
        <p:spPr>
          <a:xfrm>
            <a:off x="548640" y="1554480"/>
            <a:ext cx="731520" cy="1005840"/>
          </a:xfrm>
          <a:prstGeom prst="rect">
            <a:avLst/>
          </a:prstGeom>
          <a:noFill/>
        </p:spPr>
        <p:txBody>
          <a:bodyPr wrap="square" anchor="t" lIns="0" rIns="0" tIns="0" bIns="0">
            <a:spAutoFit/>
          </a:bodyPr>
          <a:lstStyle/>
          <a:p>
            <a:pPr algn="l"/>
            <a:r>
              <a:rPr sz="4000" b="1" i="0">
                <a:solidFill>
                  <a:srgbClr val="8EA2FF"/>
                </a:solidFill>
                <a:latin typeface="Arial"/>
              </a:rPr>
              <a:t>1</a:t>
            </a:r>
          </a:p>
        </p:txBody>
      </p:sp>
      <p:sp>
        <p:nvSpPr>
          <p:cNvPr id="4" name="TextBox 3"/>
          <p:cNvSpPr txBox="1"/>
          <p:nvPr/>
        </p:nvSpPr>
        <p:spPr>
          <a:xfrm>
            <a:off x="1325880" y="1600200"/>
            <a:ext cx="9601200" cy="457200"/>
          </a:xfrm>
          <a:prstGeom prst="rect">
            <a:avLst/>
          </a:prstGeom>
          <a:noFill/>
        </p:spPr>
        <p:txBody>
          <a:bodyPr wrap="square" anchor="t" lIns="0" rIns="0" tIns="0" bIns="0">
            <a:spAutoFit/>
          </a:bodyPr>
          <a:lstStyle/>
          <a:p>
            <a:pPr algn="l"/>
            <a:r>
              <a:rPr sz="2600" b="1" i="0">
                <a:solidFill>
                  <a:srgbClr val="F2F4F7"/>
                </a:solidFill>
                <a:latin typeface="Arial"/>
              </a:rPr>
              <a:t>Honest feedback on the wedge</a:t>
            </a:r>
          </a:p>
        </p:txBody>
      </p:sp>
      <p:sp>
        <p:nvSpPr>
          <p:cNvPr id="5" name="TextBox 4"/>
          <p:cNvSpPr txBox="1"/>
          <p:nvPr/>
        </p:nvSpPr>
        <p:spPr>
          <a:xfrm>
            <a:off x="1325880" y="2103120"/>
            <a:ext cx="9601200" cy="457200"/>
          </a:xfrm>
          <a:prstGeom prst="rect">
            <a:avLst/>
          </a:prstGeom>
          <a:noFill/>
        </p:spPr>
        <p:txBody>
          <a:bodyPr wrap="square" anchor="t" lIns="0" rIns="0" tIns="0" bIns="0">
            <a:spAutoFit/>
          </a:bodyPr>
          <a:lstStyle/>
          <a:p>
            <a:pPr algn="l"/>
            <a:r>
              <a:rPr sz="2000" b="0" i="0">
                <a:solidFill>
                  <a:srgbClr val="A3AAB6"/>
                </a:solidFill>
                <a:latin typeface="Arial"/>
              </a:rPr>
              <a:t>Are direct payments and their exceptions really underserved?</a:t>
            </a:r>
          </a:p>
        </p:txBody>
      </p:sp>
      <p:sp>
        <p:nvSpPr>
          <p:cNvPr id="6" name="TextBox 5"/>
          <p:cNvSpPr txBox="1"/>
          <p:nvPr/>
        </p:nvSpPr>
        <p:spPr>
          <a:xfrm>
            <a:off x="548640" y="2788920"/>
            <a:ext cx="731520" cy="1005840"/>
          </a:xfrm>
          <a:prstGeom prst="rect">
            <a:avLst/>
          </a:prstGeom>
          <a:noFill/>
        </p:spPr>
        <p:txBody>
          <a:bodyPr wrap="square" anchor="t" lIns="0" rIns="0" tIns="0" bIns="0">
            <a:spAutoFit/>
          </a:bodyPr>
          <a:lstStyle/>
          <a:p>
            <a:pPr algn="l"/>
            <a:r>
              <a:rPr sz="4000" b="1" i="0">
                <a:solidFill>
                  <a:srgbClr val="8EA2FF"/>
                </a:solidFill>
                <a:latin typeface="Arial"/>
              </a:rPr>
              <a:t>2</a:t>
            </a:r>
          </a:p>
        </p:txBody>
      </p:sp>
      <p:sp>
        <p:nvSpPr>
          <p:cNvPr id="7" name="TextBox 6"/>
          <p:cNvSpPr txBox="1"/>
          <p:nvPr/>
        </p:nvSpPr>
        <p:spPr>
          <a:xfrm>
            <a:off x="1325880" y="2834639"/>
            <a:ext cx="9601200" cy="457200"/>
          </a:xfrm>
          <a:prstGeom prst="rect">
            <a:avLst/>
          </a:prstGeom>
          <a:noFill/>
        </p:spPr>
        <p:txBody>
          <a:bodyPr wrap="square" anchor="t" lIns="0" rIns="0" tIns="0" bIns="0">
            <a:spAutoFit/>
          </a:bodyPr>
          <a:lstStyle/>
          <a:p>
            <a:pPr algn="l"/>
            <a:r>
              <a:rPr sz="2600" b="1" i="0">
                <a:solidFill>
                  <a:srgbClr val="F2F4F7"/>
                </a:solidFill>
                <a:latin typeface="Arial"/>
              </a:rPr>
              <a:t>3–5 introductions</a:t>
            </a:r>
          </a:p>
        </p:txBody>
      </p:sp>
      <p:sp>
        <p:nvSpPr>
          <p:cNvPr id="8" name="TextBox 7"/>
          <p:cNvSpPr txBox="1"/>
          <p:nvPr/>
        </p:nvSpPr>
        <p:spPr>
          <a:xfrm>
            <a:off x="1325880" y="3337560"/>
            <a:ext cx="9601200" cy="457200"/>
          </a:xfrm>
          <a:prstGeom prst="rect">
            <a:avLst/>
          </a:prstGeom>
          <a:noFill/>
        </p:spPr>
        <p:txBody>
          <a:bodyPr wrap="square" anchor="t" lIns="0" rIns="0" tIns="0" bIns="0">
            <a:spAutoFit/>
          </a:bodyPr>
          <a:lstStyle/>
          <a:p>
            <a:pPr algn="l"/>
            <a:r>
              <a:rPr sz="2000" b="0" i="0">
                <a:solidFill>
                  <a:srgbClr val="A3AAB6"/>
                </a:solidFill>
                <a:latin typeface="Arial"/>
              </a:rPr>
              <a:t>Finance teams that receive stablecoin payments, for a 20-minute conversation</a:t>
            </a:r>
          </a:p>
        </p:txBody>
      </p:sp>
      <p:sp>
        <p:nvSpPr>
          <p:cNvPr id="9" name="TextBox 8"/>
          <p:cNvSpPr txBox="1"/>
          <p:nvPr/>
        </p:nvSpPr>
        <p:spPr>
          <a:xfrm>
            <a:off x="548640" y="4023360"/>
            <a:ext cx="731520" cy="1005840"/>
          </a:xfrm>
          <a:prstGeom prst="rect">
            <a:avLst/>
          </a:prstGeom>
          <a:noFill/>
        </p:spPr>
        <p:txBody>
          <a:bodyPr wrap="square" anchor="t" lIns="0" rIns="0" tIns="0" bIns="0">
            <a:spAutoFit/>
          </a:bodyPr>
          <a:lstStyle/>
          <a:p>
            <a:pPr algn="l"/>
            <a:r>
              <a:rPr sz="4000" b="1" i="0">
                <a:solidFill>
                  <a:srgbClr val="8EA2FF"/>
                </a:solidFill>
                <a:latin typeface="Arial"/>
              </a:rPr>
              <a:t>3</a:t>
            </a:r>
          </a:p>
        </p:txBody>
      </p:sp>
      <p:sp>
        <p:nvSpPr>
          <p:cNvPr id="10" name="TextBox 9"/>
          <p:cNvSpPr txBox="1"/>
          <p:nvPr/>
        </p:nvSpPr>
        <p:spPr>
          <a:xfrm>
            <a:off x="1325880" y="4069080"/>
            <a:ext cx="9601200" cy="457200"/>
          </a:xfrm>
          <a:prstGeom prst="rect">
            <a:avLst/>
          </a:prstGeom>
          <a:noFill/>
        </p:spPr>
        <p:txBody>
          <a:bodyPr wrap="square" anchor="t" lIns="0" rIns="0" tIns="0" bIns="0">
            <a:spAutoFit/>
          </a:bodyPr>
          <a:lstStyle/>
          <a:p>
            <a:pPr algn="l"/>
            <a:r>
              <a:rPr sz="2600" b="1" i="0">
                <a:solidFill>
                  <a:srgbClr val="F2F4F7"/>
                </a:solidFill>
                <a:latin typeface="Arial"/>
              </a:rPr>
              <a:t>Advice on gateways</a:t>
            </a:r>
          </a:p>
        </p:txBody>
      </p:sp>
      <p:sp>
        <p:nvSpPr>
          <p:cNvPr id="11" name="TextBox 10"/>
          <p:cNvSpPr txBox="1"/>
          <p:nvPr/>
        </p:nvSpPr>
        <p:spPr>
          <a:xfrm>
            <a:off x="1325880" y="4572000"/>
            <a:ext cx="9601200" cy="457200"/>
          </a:xfrm>
          <a:prstGeom prst="rect">
            <a:avLst/>
          </a:prstGeom>
          <a:noFill/>
        </p:spPr>
        <p:txBody>
          <a:bodyPr wrap="square" anchor="t" lIns="0" rIns="0" tIns="0" bIns="0">
            <a:spAutoFit/>
          </a:bodyPr>
          <a:lstStyle/>
          <a:p>
            <a:pPr algn="l"/>
            <a:r>
              <a:rPr sz="2000" b="0" i="0">
                <a:solidFill>
                  <a:srgbClr val="A3AAB6"/>
                </a:solidFill>
                <a:latin typeface="Arial"/>
              </a:rPr>
              <a:t>Whether and how to partner with gateways or custodians</a:t>
            </a:r>
          </a:p>
        </p:txBody>
      </p:sp>
      <p:sp>
        <p:nvSpPr>
          <p:cNvPr id="12" name="Rounded Rectangle 11"/>
          <p:cNvSpPr/>
          <p:nvPr/>
        </p:nvSpPr>
        <p:spPr>
          <a:xfrm>
            <a:off x="548640" y="5349240"/>
            <a:ext cx="11094415" cy="777240"/>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349240"/>
            <a:ext cx="10454335" cy="777240"/>
          </a:xfrm>
          <a:prstGeom prst="rect">
            <a:avLst/>
          </a:prstGeom>
          <a:noFill/>
        </p:spPr>
        <p:txBody>
          <a:bodyPr wrap="square" anchor="ctr" lIns="0" rIns="0" tIns="0" bIns="0">
            <a:spAutoFit/>
          </a:bodyPr>
          <a:lstStyle/>
          <a:p>
            <a:pPr algn="l"/>
            <a:r>
              <a:rPr sz="2000" b="1" i="0">
                <a:solidFill>
                  <a:srgbClr val="F2F4F7"/>
                </a:solidFill>
                <a:latin typeface="Arial"/>
              </a:rPr>
              <a:t>Aashmiin Kaur   </a:t>
            </a:r>
            <a:r>
              <a:rPr sz="2000" b="0" i="0">
                <a:solidFill>
                  <a:srgbClr val="A3AAB6"/>
                </a:solidFill>
                <a:latin typeface="Arial"/>
              </a:rPr>
              <a:t>aashmiin@gmail.com   ·   linkedin.com/in/aashmiin-kaur-479665391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itle"/>
          <p:cNvSpPr txBox="1"/>
          <p:nvPr/>
        </p:nvSpPr>
        <p:spPr>
          <a:xfrm>
            <a:off x="548640" y="457200"/>
            <a:ext cx="11094415" cy="822960"/>
          </a:xfrm>
          <a:prstGeom prst="rect">
            <a:avLst/>
          </a:prstGeom>
          <a:noFill/>
        </p:spPr>
        <p:txBody>
          <a:bodyPr wrap="square" anchor="t" lIns="0" rIns="0" tIns="0" bIns="0">
            <a:spAutoFit/>
          </a:bodyPr>
          <a:lstStyle/>
          <a:p>
            <a:pPr algn="l"/>
            <a:r>
              <a:rPr sz="3600" b="1" i="0">
                <a:solidFill>
                  <a:srgbClr val="F2F4F7"/>
                </a:solidFill>
                <a:latin typeface="Arial"/>
              </a:rPr>
              <a:t>Appendix · Risks and open questions</a:t>
            </a:r>
          </a:p>
        </p:txBody>
      </p:sp>
      <p:sp>
        <p:nvSpPr>
          <p:cNvPr id="3" name="Rounded Rectangle 2"/>
          <p:cNvSpPr/>
          <p:nvPr/>
        </p:nvSpPr>
        <p:spPr>
          <a:xfrm>
            <a:off x="548640" y="1463040"/>
            <a:ext cx="11094415" cy="749808"/>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59" y="1463040"/>
            <a:ext cx="3840480" cy="749808"/>
          </a:xfrm>
          <a:prstGeom prst="rect">
            <a:avLst/>
          </a:prstGeom>
          <a:noFill/>
        </p:spPr>
        <p:txBody>
          <a:bodyPr wrap="square" anchor="ctr" lIns="0" rIns="0" tIns="0" bIns="0">
            <a:spAutoFit/>
          </a:bodyPr>
          <a:lstStyle/>
          <a:p>
            <a:pPr algn="l"/>
            <a:r>
              <a:rPr sz="2000" b="1" i="0">
                <a:solidFill>
                  <a:srgbClr val="F2F4F7"/>
                </a:solidFill>
                <a:latin typeface="Arial"/>
              </a:rPr>
              <a:t>Checkout tools absorb the problem</a:t>
            </a:r>
          </a:p>
        </p:txBody>
      </p:sp>
      <p:sp>
        <p:nvSpPr>
          <p:cNvPr id="5" name="TextBox 4"/>
          <p:cNvSpPr txBox="1"/>
          <p:nvPr/>
        </p:nvSpPr>
        <p:spPr>
          <a:xfrm>
            <a:off x="4754879" y="1463040"/>
            <a:ext cx="6613855" cy="749808"/>
          </a:xfrm>
          <a:prstGeom prst="rect">
            <a:avLst/>
          </a:prstGeom>
          <a:noFill/>
        </p:spPr>
        <p:txBody>
          <a:bodyPr wrap="square" anchor="ctr" lIns="0" rIns="0" tIns="0" bIns="0">
            <a:spAutoFit/>
          </a:bodyPr>
          <a:lstStyle/>
          <a:p>
            <a:pPr algn="l"/>
            <a:r>
              <a:rPr sz="1800" b="0" i="0">
                <a:solidFill>
                  <a:srgbClr val="A3AAB6"/>
                </a:solidFill>
                <a:latin typeface="Arial"/>
              </a:rPr>
              <a:t>Interview test on slide 12; if so, become a plug-in for gateways</a:t>
            </a:r>
            <a:r>
              <a:rPr sz="1200" b="0" i="0">
                <a:solidFill>
                  <a:srgbClr val="B9C6FF"/>
                </a:solidFill>
                <a:latin typeface="Arial"/>
              </a:rPr>
              <a:t>  [ASSUMPTION]</a:t>
            </a:r>
          </a:p>
        </p:txBody>
      </p:sp>
      <p:sp>
        <p:nvSpPr>
          <p:cNvPr id="6" name="Rounded Rectangle 5"/>
          <p:cNvSpPr/>
          <p:nvPr/>
        </p:nvSpPr>
        <p:spPr>
          <a:xfrm>
            <a:off x="548640" y="2359152"/>
            <a:ext cx="11094415" cy="749808"/>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359152"/>
            <a:ext cx="3840480" cy="749808"/>
          </a:xfrm>
          <a:prstGeom prst="rect">
            <a:avLst/>
          </a:prstGeom>
          <a:noFill/>
        </p:spPr>
        <p:txBody>
          <a:bodyPr wrap="square" anchor="ctr" lIns="0" rIns="0" tIns="0" bIns="0">
            <a:spAutoFit/>
          </a:bodyPr>
          <a:lstStyle/>
          <a:p>
            <a:pPr algn="l"/>
            <a:r>
              <a:rPr sz="2000" b="1" i="0">
                <a:solidFill>
                  <a:srgbClr val="F2F4F7"/>
                </a:solidFill>
                <a:latin typeface="Arial"/>
              </a:rPr>
              <a:t>Licensing</a:t>
            </a:r>
          </a:p>
        </p:txBody>
      </p:sp>
      <p:sp>
        <p:nvSpPr>
          <p:cNvPr id="8" name="TextBox 7"/>
          <p:cNvSpPr txBox="1"/>
          <p:nvPr/>
        </p:nvSpPr>
        <p:spPr>
          <a:xfrm>
            <a:off x="4754879" y="2359152"/>
            <a:ext cx="6613855" cy="749808"/>
          </a:xfrm>
          <a:prstGeom prst="rect">
            <a:avLst/>
          </a:prstGeom>
          <a:noFill/>
        </p:spPr>
        <p:txBody>
          <a:bodyPr wrap="square" anchor="ctr" lIns="0" rIns="0" tIns="0" bIns="0">
            <a:spAutoFit/>
          </a:bodyPr>
          <a:lstStyle/>
          <a:p>
            <a:pPr algn="l"/>
            <a:r>
              <a:rPr sz="1800" b="0" i="0">
                <a:solidFill>
                  <a:srgbClr val="A3AAB6"/>
                </a:solidFill>
                <a:latin typeface="Arial"/>
              </a:rPr>
              <a:t>Read-only: never holds or moves money. Confirm with a Singapore lawyer</a:t>
            </a:r>
            <a:r>
              <a:rPr sz="1200" b="0" i="0">
                <a:solidFill>
                  <a:srgbClr val="B9C6FF"/>
                </a:solidFill>
                <a:latin typeface="Arial"/>
              </a:rPr>
              <a:t>  [ASSUMPTION]</a:t>
            </a:r>
          </a:p>
        </p:txBody>
      </p:sp>
      <p:sp>
        <p:nvSpPr>
          <p:cNvPr id="9" name="Rounded Rectangle 8"/>
          <p:cNvSpPr/>
          <p:nvPr/>
        </p:nvSpPr>
        <p:spPr>
          <a:xfrm>
            <a:off x="548640" y="3255264"/>
            <a:ext cx="11094415" cy="749808"/>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3255264"/>
            <a:ext cx="3840480" cy="749808"/>
          </a:xfrm>
          <a:prstGeom prst="rect">
            <a:avLst/>
          </a:prstGeom>
          <a:noFill/>
        </p:spPr>
        <p:txBody>
          <a:bodyPr wrap="square" anchor="ctr" lIns="0" rIns="0" tIns="0" bIns="0">
            <a:spAutoFit/>
          </a:bodyPr>
          <a:lstStyle/>
          <a:p>
            <a:pPr algn="l"/>
            <a:r>
              <a:rPr sz="2000" b="1" i="0">
                <a:solidFill>
                  <a:srgbClr val="F2F4F7"/>
                </a:solidFill>
                <a:latin typeface="Arial"/>
              </a:rPr>
              <a:t>Data access</a:t>
            </a:r>
          </a:p>
        </p:txBody>
      </p:sp>
      <p:sp>
        <p:nvSpPr>
          <p:cNvPr id="11" name="TextBox 10"/>
          <p:cNvSpPr txBox="1"/>
          <p:nvPr/>
        </p:nvSpPr>
        <p:spPr>
          <a:xfrm>
            <a:off x="4754879" y="3255264"/>
            <a:ext cx="6613855" cy="749808"/>
          </a:xfrm>
          <a:prstGeom prst="rect">
            <a:avLst/>
          </a:prstGeom>
          <a:noFill/>
        </p:spPr>
        <p:txBody>
          <a:bodyPr wrap="square" anchor="ctr" lIns="0" rIns="0" tIns="0" bIns="0">
            <a:spAutoFit/>
          </a:bodyPr>
          <a:lstStyle/>
          <a:p>
            <a:pPr algn="l"/>
            <a:r>
              <a:rPr sz="1800" b="0" i="0">
                <a:solidFill>
                  <a:srgbClr val="A3AAB6"/>
                </a:solidFill>
                <a:latin typeface="Arial"/>
              </a:rPr>
              <a:t>Start with public blockchain data plus an invoice export; integrations later</a:t>
            </a:r>
            <a:r>
              <a:rPr sz="1200" b="0" i="0">
                <a:solidFill>
                  <a:srgbClr val="B9C6FF"/>
                </a:solidFill>
                <a:latin typeface="Arial"/>
              </a:rPr>
              <a:t>  [ASSUMPTION]</a:t>
            </a:r>
          </a:p>
        </p:txBody>
      </p:sp>
      <p:sp>
        <p:nvSpPr>
          <p:cNvPr id="12" name="Rounded Rectangle 11"/>
          <p:cNvSpPr/>
          <p:nvPr/>
        </p:nvSpPr>
        <p:spPr>
          <a:xfrm>
            <a:off x="548640" y="4151376"/>
            <a:ext cx="11094415" cy="749808"/>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 y="4151376"/>
            <a:ext cx="3840480" cy="749808"/>
          </a:xfrm>
          <a:prstGeom prst="rect">
            <a:avLst/>
          </a:prstGeom>
          <a:noFill/>
        </p:spPr>
        <p:txBody>
          <a:bodyPr wrap="square" anchor="ctr" lIns="0" rIns="0" tIns="0" bIns="0">
            <a:spAutoFit/>
          </a:bodyPr>
          <a:lstStyle/>
          <a:p>
            <a:pPr algn="l"/>
            <a:r>
              <a:rPr sz="2000" b="1" i="0">
                <a:solidFill>
                  <a:srgbClr val="F2F4F7"/>
                </a:solidFill>
                <a:latin typeface="Arial"/>
              </a:rPr>
              <a:t>A wrong match</a:t>
            </a:r>
          </a:p>
        </p:txBody>
      </p:sp>
      <p:sp>
        <p:nvSpPr>
          <p:cNvPr id="14" name="TextBox 13"/>
          <p:cNvSpPr txBox="1"/>
          <p:nvPr/>
        </p:nvSpPr>
        <p:spPr>
          <a:xfrm>
            <a:off x="4754879" y="4151376"/>
            <a:ext cx="6613855" cy="749808"/>
          </a:xfrm>
          <a:prstGeom prst="rect">
            <a:avLst/>
          </a:prstGeom>
          <a:noFill/>
        </p:spPr>
        <p:txBody>
          <a:bodyPr wrap="square" anchor="ctr" lIns="0" rIns="0" tIns="0" bIns="0">
            <a:spAutoFit/>
          </a:bodyPr>
          <a:lstStyle/>
          <a:p>
            <a:pPr algn="l"/>
            <a:r>
              <a:rPr sz="1800" b="0" i="0">
                <a:solidFill>
                  <a:srgbClr val="A3AAB6"/>
                </a:solidFill>
                <a:latin typeface="Arial"/>
              </a:rPr>
              <a:t>Never matches on a guess; a person confirms with a note</a:t>
            </a:r>
            <a:r>
              <a:rPr sz="1200" b="0" i="0">
                <a:solidFill>
                  <a:srgbClr val="A3AAB6"/>
                </a:solidFill>
                <a:latin typeface="Arial"/>
              </a:rPr>
              <a:t>  [VERIFIED in the demo; untested on real data]</a:t>
            </a:r>
          </a:p>
        </p:txBody>
      </p:sp>
      <p:sp>
        <p:nvSpPr>
          <p:cNvPr id="15" name="Rounded Rectangle 14"/>
          <p:cNvSpPr/>
          <p:nvPr/>
        </p:nvSpPr>
        <p:spPr>
          <a:xfrm>
            <a:off x="548640" y="5047488"/>
            <a:ext cx="11094415" cy="749808"/>
          </a:xfrm>
          <a:prstGeom prst="roundRect">
            <a:avLst>
              <a:gd name="adj" fmla="val 8000"/>
            </a:avLst>
          </a:prstGeom>
          <a:solidFill>
            <a:srgbClr val="151A24"/>
          </a:solidFill>
          <a:ln w="12700">
            <a:solidFill>
              <a:srgbClr val="2A31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59" y="5047488"/>
            <a:ext cx="3840480" cy="749808"/>
          </a:xfrm>
          <a:prstGeom prst="rect">
            <a:avLst/>
          </a:prstGeom>
          <a:noFill/>
        </p:spPr>
        <p:txBody>
          <a:bodyPr wrap="square" anchor="ctr" lIns="0" rIns="0" tIns="0" bIns="0">
            <a:spAutoFit/>
          </a:bodyPr>
          <a:lstStyle/>
          <a:p>
            <a:pPr algn="l"/>
            <a:r>
              <a:rPr sz="2000" b="1" i="0">
                <a:solidFill>
                  <a:srgbClr val="F2F4F7"/>
                </a:solidFill>
                <a:latin typeface="Arial"/>
              </a:rPr>
              <a:t>Solo founder</a:t>
            </a:r>
          </a:p>
        </p:txBody>
      </p:sp>
      <p:sp>
        <p:nvSpPr>
          <p:cNvPr id="17" name="TextBox 16"/>
          <p:cNvSpPr txBox="1"/>
          <p:nvPr/>
        </p:nvSpPr>
        <p:spPr>
          <a:xfrm>
            <a:off x="4754879" y="5047488"/>
            <a:ext cx="6613855" cy="749808"/>
          </a:xfrm>
          <a:prstGeom prst="rect">
            <a:avLst/>
          </a:prstGeom>
          <a:noFill/>
        </p:spPr>
        <p:txBody>
          <a:bodyPr wrap="square" anchor="ctr" lIns="0" rIns="0" tIns="0" bIns="0">
            <a:spAutoFit/>
          </a:bodyPr>
          <a:lstStyle/>
          <a:p>
            <a:pPr algn="l"/>
            <a:r>
              <a:rPr sz="1800" b="0" i="0">
                <a:solidFill>
                  <a:srgbClr val="A3AAB6"/>
                </a:solidFill>
                <a:latin typeface="Arial"/>
              </a:rPr>
              <a:t>Find a co-founder with payments operations experience</a:t>
            </a:r>
            <a:r>
              <a:rPr sz="1200" b="0" i="0">
                <a:solidFill>
                  <a:srgbClr val="B9C6FF"/>
                </a:solidFill>
                <a:latin typeface="Arial"/>
              </a:rPr>
              <a:t>  [ASSUMPTION]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itle"/>
          <p:cNvSpPr txBox="1"/>
          <p:nvPr/>
        </p:nvSpPr>
        <p:spPr>
          <a:xfrm>
            <a:off x="548640" y="457200"/>
            <a:ext cx="11094415" cy="822960"/>
          </a:xfrm>
          <a:prstGeom prst="rect">
            <a:avLst/>
          </a:prstGeom>
          <a:noFill/>
        </p:spPr>
        <p:txBody>
          <a:bodyPr wrap="square" anchor="t" lIns="0" rIns="0" tIns="0" bIns="0">
            <a:spAutoFit/>
          </a:bodyPr>
          <a:lstStyle/>
          <a:p>
            <a:pPr algn="l"/>
            <a:r>
              <a:rPr sz="3600" b="1" i="0">
                <a:solidFill>
                  <a:srgbClr val="F2F4F7"/>
                </a:solidFill>
                <a:latin typeface="Arial"/>
              </a:rPr>
              <a:t>Appendix · Hard questions: a YC partner</a:t>
            </a:r>
          </a:p>
        </p:txBody>
      </p:sp>
      <p:sp>
        <p:nvSpPr>
          <p:cNvPr id="3" name="TextBox 2"/>
          <p:cNvSpPr txBox="1"/>
          <p:nvPr/>
        </p:nvSpPr>
        <p:spPr>
          <a:xfrm>
            <a:off x="548640" y="1371600"/>
            <a:ext cx="11094415" cy="914400"/>
          </a:xfrm>
          <a:prstGeom prst="rect">
            <a:avLst/>
          </a:prstGeom>
          <a:noFill/>
        </p:spPr>
        <p:txBody>
          <a:bodyPr wrap="square" anchor="t" lIns="0" rIns="0" tIns="0" bIns="0">
            <a:spAutoFit/>
          </a:bodyPr>
          <a:lstStyle/>
          <a:p>
            <a:pPr algn="l"/>
            <a:r>
              <a:rPr sz="1800" b="1" i="0">
                <a:solidFill>
                  <a:srgbClr val="F2F4F7"/>
                </a:solidFill>
                <a:latin typeface="Arial"/>
              </a:rPr>
              <a:t>You haven't spoken to an actual buyer. How do you know anyone has this problem?</a:t>
            </a:r>
          </a:p>
          <a:p>
            <a:pPr algn="l"/>
            <a:r>
              <a:rPr sz="1800" b="0" i="0">
                <a:solidFill>
                  <a:srgbClr val="A3AAB6"/>
                </a:solidFill>
                <a:latin typeface="Arial"/>
              </a:rPr>
              <a:t>I don't yet. Vendors said it isn't an issue for them; my next ten calls are finance teams that receive stablecoins.</a:t>
            </a:r>
          </a:p>
        </p:txBody>
      </p:sp>
      <p:sp>
        <p:nvSpPr>
          <p:cNvPr id="4" name="TextBox 3"/>
          <p:cNvSpPr txBox="1"/>
          <p:nvPr/>
        </p:nvSpPr>
        <p:spPr>
          <a:xfrm>
            <a:off x="548640" y="2359152"/>
            <a:ext cx="11094415" cy="914400"/>
          </a:xfrm>
          <a:prstGeom prst="rect">
            <a:avLst/>
          </a:prstGeom>
          <a:noFill/>
        </p:spPr>
        <p:txBody>
          <a:bodyPr wrap="square" anchor="t" lIns="0" rIns="0" tIns="0" bIns="0">
            <a:spAutoFit/>
          </a:bodyPr>
          <a:lstStyle/>
          <a:p>
            <a:pPr algn="l"/>
            <a:r>
              <a:rPr sz="1800" b="1" i="0">
                <a:solidFill>
                  <a:srgbClr val="F2F4F7"/>
                </a:solidFill>
                <a:latin typeface="Arial"/>
              </a:rPr>
              <a:t>Your own market estimate is S$0.9M. Why is this venture-scale?</a:t>
            </a:r>
          </a:p>
          <a:p>
            <a:pPr algn="l"/>
            <a:r>
              <a:rPr sz="1800" b="0" i="0">
                <a:solidFill>
                  <a:srgbClr val="A3AAB6"/>
                </a:solidFill>
                <a:latin typeface="Arial"/>
              </a:rPr>
              <a:t>It isn't proven. Singapore is a test market; the region and the gateway route get sized once interviews give exception counts.</a:t>
            </a:r>
          </a:p>
        </p:txBody>
      </p:sp>
      <p:sp>
        <p:nvSpPr>
          <p:cNvPr id="5" name="TextBox 4"/>
          <p:cNvSpPr txBox="1"/>
          <p:nvPr/>
        </p:nvSpPr>
        <p:spPr>
          <a:xfrm>
            <a:off x="548640" y="3346704"/>
            <a:ext cx="11094415" cy="914400"/>
          </a:xfrm>
          <a:prstGeom prst="rect">
            <a:avLst/>
          </a:prstGeom>
          <a:noFill/>
        </p:spPr>
        <p:txBody>
          <a:bodyPr wrap="square" anchor="t" lIns="0" rIns="0" tIns="0" bIns="0">
            <a:spAutoFit/>
          </a:bodyPr>
          <a:lstStyle/>
          <a:p>
            <a:pPr algn="l"/>
            <a:r>
              <a:rPr sz="1800" b="1" i="0">
                <a:solidFill>
                  <a:srgbClr val="F2F4F7"/>
                </a:solidFill>
                <a:latin typeface="Arial"/>
              </a:rPr>
              <a:t>Why won't Stripe, HitPay or Circle just build this?</a:t>
            </a:r>
          </a:p>
          <a:p>
            <a:pPr algn="l"/>
            <a:r>
              <a:rPr sz="1800" b="0" i="0">
                <a:solidFill>
                  <a:srgbClr val="A3AAB6"/>
                </a:solidFill>
                <a:latin typeface="Arial"/>
              </a:rPr>
              <a:t>They might. If buyers mostly pay through checkout pages, I'll build the plug-in for gateways instead of competing.</a:t>
            </a:r>
          </a:p>
        </p:txBody>
      </p:sp>
      <p:sp>
        <p:nvSpPr>
          <p:cNvPr id="6" name="TextBox 5"/>
          <p:cNvSpPr txBox="1"/>
          <p:nvPr/>
        </p:nvSpPr>
        <p:spPr>
          <a:xfrm>
            <a:off x="548640" y="4334256"/>
            <a:ext cx="11094415" cy="914400"/>
          </a:xfrm>
          <a:prstGeom prst="rect">
            <a:avLst/>
          </a:prstGeom>
          <a:noFill/>
        </p:spPr>
        <p:txBody>
          <a:bodyPr wrap="square" anchor="t" lIns="0" rIns="0" tIns="0" bIns="0">
            <a:spAutoFit/>
          </a:bodyPr>
          <a:lstStyle/>
          <a:p>
            <a:pPr algn="l"/>
            <a:r>
              <a:rPr sz="1800" b="1" i="0">
                <a:solidFill>
                  <a:srgbClr val="F2F4F7"/>
                </a:solidFill>
                <a:latin typeface="Arial"/>
              </a:rPr>
              <a:t>Why you: a solo second-year student with no payments experience?</a:t>
            </a:r>
          </a:p>
          <a:p>
            <a:pPr algn="l"/>
            <a:r>
              <a:rPr sz="1800" b="0" i="0">
                <a:solidFill>
                  <a:srgbClr val="A3AAB6"/>
                </a:solidFill>
                <a:latin typeface="Arial"/>
              </a:rPr>
              <a:t>I built a working product and I'm trained on the finance side. I lack payments operations experience, and I'm looking for it.</a:t>
            </a:r>
          </a:p>
        </p:txBody>
      </p:sp>
      <p:sp>
        <p:nvSpPr>
          <p:cNvPr id="7" name="TextBox 6"/>
          <p:cNvSpPr txBox="1"/>
          <p:nvPr/>
        </p:nvSpPr>
        <p:spPr>
          <a:xfrm>
            <a:off x="548640" y="5321808"/>
            <a:ext cx="11094415" cy="914400"/>
          </a:xfrm>
          <a:prstGeom prst="rect">
            <a:avLst/>
          </a:prstGeom>
          <a:noFill/>
        </p:spPr>
        <p:txBody>
          <a:bodyPr wrap="square" anchor="t" lIns="0" rIns="0" tIns="0" bIns="0">
            <a:spAutoFit/>
          </a:bodyPr>
          <a:lstStyle/>
          <a:p>
            <a:pPr algn="l"/>
            <a:r>
              <a:rPr sz="1800" b="1" i="0">
                <a:solidFill>
                  <a:srgbClr val="F2F4F7"/>
                </a:solidFill>
                <a:latin typeface="Arial"/>
              </a:rPr>
              <a:t>What does your real-data test actually prove?</a:t>
            </a:r>
          </a:p>
          <a:p>
            <a:pPr algn="l"/>
            <a:r>
              <a:rPr sz="1800" b="0" i="0">
                <a:solidFill>
                  <a:srgbClr val="A3AAB6"/>
                </a:solidFill>
                <a:latin typeface="Arial"/>
              </a:rPr>
              <a:t>Investigation verdicts were right on 52 of 52 new real transactions. Matching and explanations aren't tested on real data yet.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itle"/>
          <p:cNvSpPr txBox="1"/>
          <p:nvPr/>
        </p:nvSpPr>
        <p:spPr>
          <a:xfrm>
            <a:off x="548640" y="457200"/>
            <a:ext cx="11094415" cy="822960"/>
          </a:xfrm>
          <a:prstGeom prst="rect">
            <a:avLst/>
          </a:prstGeom>
          <a:noFill/>
        </p:spPr>
        <p:txBody>
          <a:bodyPr wrap="square" anchor="t" lIns="0" rIns="0" tIns="0" bIns="0">
            <a:spAutoFit/>
          </a:bodyPr>
          <a:lstStyle/>
          <a:p>
            <a:pPr algn="l"/>
            <a:r>
              <a:rPr sz="3600" b="1" i="0">
                <a:solidFill>
                  <a:srgbClr val="F2F4F7"/>
                </a:solidFill>
                <a:latin typeface="Arial"/>
              </a:rPr>
              <a:t>Appendix · Hard questions: a payments expert</a:t>
            </a:r>
          </a:p>
        </p:txBody>
      </p:sp>
      <p:sp>
        <p:nvSpPr>
          <p:cNvPr id="3" name="TextBox 2"/>
          <p:cNvSpPr txBox="1"/>
          <p:nvPr/>
        </p:nvSpPr>
        <p:spPr>
          <a:xfrm>
            <a:off x="548640" y="1371600"/>
            <a:ext cx="11094415" cy="914400"/>
          </a:xfrm>
          <a:prstGeom prst="rect">
            <a:avLst/>
          </a:prstGeom>
          <a:noFill/>
        </p:spPr>
        <p:txBody>
          <a:bodyPr wrap="square" anchor="t" lIns="0" rIns="0" tIns="0" bIns="0">
            <a:spAutoFit/>
          </a:bodyPr>
          <a:lstStyle/>
          <a:p>
            <a:pPr algn="l"/>
            <a:r>
              <a:rPr sz="1800" b="1" i="0">
                <a:solidFill>
                  <a:srgbClr val="F2F4F7"/>
                </a:solidFill>
                <a:latin typeface="Arial"/>
              </a:rPr>
              <a:t>A unique deposit address per invoice fixes missing references, and your demo uses one. What's left?</a:t>
            </a:r>
          </a:p>
          <a:p>
            <a:pPr algn="l"/>
            <a:r>
              <a:rPr sz="1800" b="0" i="0">
                <a:solidFill>
                  <a:srgbClr val="A3AAB6"/>
                </a:solidFill>
                <a:latin typeface="Arial"/>
              </a:rPr>
              <a:t>Payments that ignore the instructions: short, wrong network, fake tokens, old addresses. How common they are, I don't know yet.</a:t>
            </a:r>
          </a:p>
        </p:txBody>
      </p:sp>
      <p:sp>
        <p:nvSpPr>
          <p:cNvPr id="4" name="TextBox 3"/>
          <p:cNvSpPr txBox="1"/>
          <p:nvPr/>
        </p:nvSpPr>
        <p:spPr>
          <a:xfrm>
            <a:off x="548640" y="2359152"/>
            <a:ext cx="11094415" cy="914400"/>
          </a:xfrm>
          <a:prstGeom prst="rect">
            <a:avLst/>
          </a:prstGeom>
          <a:noFill/>
        </p:spPr>
        <p:txBody>
          <a:bodyPr wrap="square" anchor="t" lIns="0" rIns="0" tIns="0" bIns="0">
            <a:spAutoFit/>
          </a:bodyPr>
          <a:lstStyle/>
          <a:p>
            <a:pPr algn="l"/>
            <a:r>
              <a:rPr sz="1800" b="1" i="0">
                <a:solidFill>
                  <a:srgbClr val="F2F4F7"/>
                </a:solidFill>
                <a:latin typeface="Arial"/>
              </a:rPr>
              <a:t>Crypto accounting tools already reconcile on-chain payments to invoices. How are you different?</a:t>
            </a:r>
          </a:p>
          <a:p>
            <a:pPr algn="l"/>
            <a:r>
              <a:rPr sz="1800" b="0" i="0">
                <a:solidFill>
                  <a:srgbClr val="A3AAB6"/>
                </a:solidFill>
                <a:latin typeface="Arial"/>
              </a:rPr>
              <a:t>They match and book; I focus on investigating exceptions and drafting the reply. I haven't tested whether that difference matters.</a:t>
            </a:r>
          </a:p>
        </p:txBody>
      </p:sp>
      <p:sp>
        <p:nvSpPr>
          <p:cNvPr id="5" name="TextBox 4"/>
          <p:cNvSpPr txBox="1"/>
          <p:nvPr/>
        </p:nvSpPr>
        <p:spPr>
          <a:xfrm>
            <a:off x="548640" y="3346704"/>
            <a:ext cx="11094415" cy="914400"/>
          </a:xfrm>
          <a:prstGeom prst="rect">
            <a:avLst/>
          </a:prstGeom>
          <a:noFill/>
        </p:spPr>
        <p:txBody>
          <a:bodyPr wrap="square" anchor="t" lIns="0" rIns="0" tIns="0" bIns="0">
            <a:spAutoFit/>
          </a:bodyPr>
          <a:lstStyle/>
          <a:p>
            <a:pPr algn="l"/>
            <a:r>
              <a:rPr sz="1800" b="1" i="0">
                <a:solidFill>
                  <a:srgbClr val="F2F4F7"/>
                </a:solidFill>
                <a:latin typeface="Arial"/>
              </a:rPr>
              <a:t>Singapore's likely buyers are licensed crypto firms with compliance tools. Why buy another?</a:t>
            </a:r>
          </a:p>
          <a:p>
            <a:pPr algn="l"/>
            <a:r>
              <a:rPr sz="1800" b="0" i="0">
                <a:solidFill>
                  <a:srgbClr val="A3AAB6"/>
                </a:solidFill>
                <a:latin typeface="Arial"/>
              </a:rPr>
              <a:t>Maybe they won't. My three vendor calls said much the same. The buyer I need to test is the finance team receiving invoices.</a:t>
            </a:r>
          </a:p>
        </p:txBody>
      </p:sp>
      <p:sp>
        <p:nvSpPr>
          <p:cNvPr id="6" name="TextBox 5"/>
          <p:cNvSpPr txBox="1"/>
          <p:nvPr/>
        </p:nvSpPr>
        <p:spPr>
          <a:xfrm>
            <a:off x="548640" y="4334256"/>
            <a:ext cx="11094415" cy="914400"/>
          </a:xfrm>
          <a:prstGeom prst="rect">
            <a:avLst/>
          </a:prstGeom>
          <a:noFill/>
        </p:spPr>
        <p:txBody>
          <a:bodyPr wrap="square" anchor="t" lIns="0" rIns="0" tIns="0" bIns="0">
            <a:spAutoFit/>
          </a:bodyPr>
          <a:lstStyle/>
          <a:p>
            <a:pPr algn="l"/>
            <a:r>
              <a:rPr sz="1800" b="1" i="0">
                <a:solidFill>
                  <a:srgbClr val="F2F4F7"/>
                </a:solidFill>
                <a:latin typeface="Arial"/>
              </a:rPr>
              <a:t>Who is liable if it marks a fake or frozen payment as paid, and do you need a licence?</a:t>
            </a:r>
          </a:p>
          <a:p>
            <a:pPr algn="l"/>
            <a:r>
              <a:rPr sz="1800" b="0" i="0">
                <a:solidFill>
                  <a:srgbClr val="A3AAB6"/>
                </a:solidFill>
                <a:latin typeface="Arial"/>
              </a:rPr>
              <a:t>A person confirms anything non-routine, and fakes can't be marked paid. It never holds money; a lawyer must confirm licensing.</a:t>
            </a:r>
          </a:p>
        </p:txBody>
      </p:sp>
      <p:sp>
        <p:nvSpPr>
          <p:cNvPr id="7" name="TextBox 6"/>
          <p:cNvSpPr txBox="1"/>
          <p:nvPr/>
        </p:nvSpPr>
        <p:spPr>
          <a:xfrm>
            <a:off x="548640" y="5321808"/>
            <a:ext cx="11094415" cy="914400"/>
          </a:xfrm>
          <a:prstGeom prst="rect">
            <a:avLst/>
          </a:prstGeom>
          <a:noFill/>
        </p:spPr>
        <p:txBody>
          <a:bodyPr wrap="square" anchor="t" lIns="0" rIns="0" tIns="0" bIns="0">
            <a:spAutoFit/>
          </a:bodyPr>
          <a:lstStyle/>
          <a:p>
            <a:pPr algn="l"/>
            <a:r>
              <a:rPr sz="1800" b="1" i="0">
                <a:solidFill>
                  <a:srgbClr val="F2F4F7"/>
                </a:solidFill>
                <a:latin typeface="Arial"/>
              </a:rPr>
              <a:t>How many exceptions does a team see a month, and what does one cost?</a:t>
            </a:r>
          </a:p>
          <a:p>
            <a:pPr algn="l"/>
            <a:r>
              <a:rPr sz="1800" b="0" i="0">
                <a:solidFill>
                  <a:srgbClr val="A3AAB6"/>
                </a:solidFill>
                <a:latin typeface="Arial"/>
              </a:rPr>
              <a:t>I don't know. My 15–30 minutes is a guess; I'll ask ten teams for monthly counts and the staff time each takes.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