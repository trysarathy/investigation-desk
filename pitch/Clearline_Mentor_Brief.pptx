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short brief on a project I'm exploring, shared so you can see what I'm working on and tell me where I'm wrong. It takes about five minutes to read, and I'd be grateful for any reaction, however brief.</a:t>
            </a:r>
          </a:p>
          <a:p>
            <a:r>
              <a:t>NOTE: "Digital dollars" here means stablecoins, such as USDC and USDT: tokens designed to stay worth one US dollar.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Maya is an illustrative finance manager, not a real person. When her customers pay in stablecoins, the money arrives within seconds, but when something is off she has to piece together what happened from blockchain records, spreadsheets and emails. A token transfer carries only the sender, the receiver and the amount, so nothing in it says which invoice it pays.</a:t>
            </a:r>
          </a:p>
          <a:p>
            <a:r>
              <a:t>SOURCES / LABELS:</a:t>
            </a:r>
          </a:p>
          <a:p>
            <a:r>
              <a:t>- "Arrives in seconds" [VERIFIED, general knowledge]: Ethereum adds a block about every 12 s (ethereum.org); receivers may wait minutes for confirmations.</a:t>
            </a:r>
          </a:p>
          <a:p>
            <a:r>
              <a:t>- "Checking can take hours" [ASSUMPTION], untested; it is the first thing I need to check with finance teams.</a:t>
            </a:r>
          </a:p>
          <a:p>
            <a:r>
              <a:t>- ¹ No invoice reference [VERIFIED]: ERC-20 token standard, eips.ethereum.org/EIPS/eip-20.</a:t>
            </a:r>
          </a:p>
          <a:p>
            <a:r>
              <a:t>- Real examples in my tests include 13 counterfeit-USDT and 6 wrong-network transfers [VERIFIED]: demo/REPORT.md.</a:t>
            </a:r>
          </a:p>
          <a:p>
            <a:r>
              <a:t>- How I came across it [as stated by me — please check]: I started from month-end close tools for crypto finance teams and narrowed down to single payments that don't match.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context, not a forecast. Businesses are only starting to use stablecoins (the McKinsey and Artemis estimate is still about 0.01% of business payments), but the rules are being written now, and Singapore sits near the middle of this activity.</a:t>
            </a:r>
          </a:p>
          <a:p>
            <a:r>
              <a:t>SOURCES:</a:t>
            </a:r>
          </a:p>
          <a:p>
            <a:r>
              <a:t>[1] "About $226 billion a year" of business-to-business stablecoin payments — McKinsey, "Stablecoins in payments: What the raw transaction numbers miss" (2026, with Artemis Analytics). An estimate (assumes ~20% of tagged activity is B2B, annualised from Dec 2025); B2B penetration ~0.01%. Artemis's own Oct 2025 report gives a lower figure (US$76B annualised); definitions differ.</a:t>
            </a:r>
          </a:p>
          <a:p>
            <a:r>
              <a:t>[2] MAS consultation and draft amendments to the Payment Services Act for its stablecoin framework, published 1 Sep 2026, comments closed 16 Oct 2026 — mas.gov.sg; Gibson Dunn. (The US GENIUS Act was signed on 18 Jul 2025 — eco.com tracker.)</a:t>
            </a:r>
          </a:p>
          <a:p>
            <a:r>
              <a:t>[3] Singapore among the top five stablecoin-sending countries — Artemis, Oct 2025, via PaymentExpert's 29 Oct 2025 write-up.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problem properly, I built a working version myself, with AI coding tools. It only reads payment information and drafts messages: it never holds or moves money, and a person makes every decision that isn't routine.</a:t>
            </a:r>
          </a:p>
          <a:p>
            <a:r>
              <a:t>LABELS: all three steps work in the demo today, on fictional data [VERIFIED: demo/REQUESTS_DEMO.md]. The payment-matching side has not yet been tested on real data (demo/REPORT.md).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screenshots of the working app, running on a fictional company. The 60-second video walks through the same steps; it plays inside the PowerPoint, and I've also sent it alongside the PDF (demo_live_60s.mp4). A 2-minute version is available if useful.</a:t>
            </a:r>
          </a:p>
          <a:p>
            <a:r>
              <a:t>LABELS: all companies, people and amounts in the demo are fictional [VERIFIED].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 of this is already handled well by others, and I'd like to learn from them rather than compete with them. Checkout tools work best when the customer pays through their page; my open question is what happens when business customers send money directly instead.</a:t>
            </a:r>
          </a:p>
          <a:p>
            <a:r>
              <a:t>SOURCES:</a:t>
            </a:r>
          </a:p>
          <a:p>
            <a:r>
              <a:t>- Stripe: stablecoin payments in invoices, payment links and checkout, settling in local currency; US businesses, with EU/HK/MX/CH in preview; not yet Singapore; USDC; US$10,000 per transaction — docs.stripe.com/crypto/stablecoins (Oct 2026).</a:t>
            </a:r>
          </a:p>
          <a:p>
            <a:r>
              <a:t>- HitPay + Triple-A: stablecoin acceptance offered to 20,000+ Singapore merchants, with instant fiat settlement (14 Oct 2025) — fintechnews.sg.</a:t>
            </a:r>
          </a:p>
          <a:p>
            <a:r>
              <a:t>- Request Finance: invoices; marks them paid and syncs QuickBooks/Xero — eco.com "Best B2B stablecoin invoicing tools 2026".</a:t>
            </a:r>
          </a:p>
          <a:p>
            <a:r>
              <a:t>- Wallets: MetaMask (2026, KuCoin News), Trust Wallet (Mar 2026, trustwallet.com) and Safe + Blockaid (Sep 2024, blockaid.io) warn the sender about look-alike addresses.</a:t>
            </a:r>
          </a:p>
          <a:p>
            <a:r>
              <a:t>- Blockaid: flags scam tokens (blockaid.io/token-security).</a:t>
            </a:r>
          </a:p>
          <a:p>
            <a:r>
              <a:t>- Also relevant, not yet compared: Bitwave, TRES Finance, Cryptio (crypto accounting).</a:t>
            </a:r>
          </a:p>
          <a:p>
            <a:r>
              <a:t>- "The gap I think may remain" [ASSUMPTION]: drawn from public product pages, not from using the products.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side is further along than the customer side. The real-data test covered the part that investigates payments, not the matching or the plain-English explanations. The three calls I've had were with vendor teams (a custodian and compliance-software providers), not with the finance teams who would actually use this.</a:t>
            </a:r>
          </a:p>
          <a:p>
            <a:r>
              <a:t>SOURCES / LABELS:</a:t>
            </a:r>
          </a:p>
          <a:p>
            <a:r>
              <a:t>- 7 payment situations [VERIFIED]: demo/REQUESTS_DEMO.md.</a:t>
            </a:r>
          </a:p>
          <a:p>
            <a:r>
              <a:t>- 52/52 [VERIFIED]: demo/REPORT.md, 24–25 Oct 2026. These were held-out cases collected after the fixes; 59/59 on the cases used for tuning, and 43/59 before the fixes. The matching and explanations are not yet tested on real data, and company records were sample data.</a:t>
            </a:r>
          </a:p>
          <a:p>
            <a:r>
              <a:t>- 3 early calls [VERIFIED, my notes, names withheld]: 16 Oct 2026, about an earlier version of the idea; reconciliation was "not really an issue" for them.</a:t>
            </a:r>
          </a:p>
          <a:p>
            <a:r>
              <a:t>- 0 customers, 0 pilots.</a:t>
            </a:r>
          </a:p>
          <a:p>
            <a:r>
              <a:t>In full: "My 3 early calls reached vendors, who said it isn't a big issue for them"; "I haven't yet spoken to a finance team that receives stablecoins".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full: (1) Do business customers mostly pay through checkout pages, or send directly? (2) Is this big enough to be a business, or a feature for payment companies? (3) Should it serve finance teams, or plug into payment companies? (4) What licensing applies to a read-only tool? These are the questions I can't answer yet, and the ones I'd most like help thinking through. The first one matters most: if business customers mostly pay through checkout pages, most of these problems disappear, and Clearline is at best a feature for payment companies.</a:t>
            </a:r>
          </a:p>
          <a:p>
            <a:r>
              <a:t>LABELS: all open [UNTESTED]. On licensing: Clearline reads payment data and drafts messages; it never holds, moves or exchanges money, which is why I think it may sit outside a payment-services licence. I haven't confirmed that with a lawyer.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full: (1) Does the direct-payment gap seem real to you, from what you've seen, or not at all? (2) What would you test first, and how: what's the quickest way to learn if this matters? (3) Is there anyone I should speak to, especially finance teams that receive stablecoins? Any one of these would help, even a one-line reply. I'm especially keen to hear if you think I'm looking at the wrong problem altogether.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reading. If a short walk-through would be easier than slides, I can show the working demo in about 15 minutes, at whatever time suits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very rough, and I'm including it only in case you're curious; none of it is tested. I'd rather get the problem right first.</a:t>
            </a:r>
          </a:p>
          <a:p>
            <a:r>
              <a:t>SOURCES / LABELS:</a:t>
            </a:r>
          </a:p>
          <a:p>
            <a:r>
              <a:t>- Set (Aashmiin's decision, 31 Oct 2026): founding pilot US$300 for 30 days, then US$200/month, first 10 businesses.</a:t>
            </a:r>
          </a:p>
          <a:p>
            <a:r>
              <a:t>- Beyond the pilot, two pricing ideas [ASSUMPTION/GUESS]: a monthly fee per finance team (S$300–800, ASSUMPTION), or a fee per exception paid by a payment company (S$1–3, GUESS).</a:t>
            </a:r>
          </a:p>
          <a:p>
            <a:r>
              <a:t>- Size, Singapore only [mixed]: 300+ Web3 companies (VERIFIED: Singapore EDB, "Singapore: the onchain state", undated) × ~50% paid directly in stablecoins (GUESS) × S$6,000/year (ASSUMPTION) = about S$0.9M/year if every one bought. That's a ceiling for a test market; no wider market size is claimed.</a:t>
            </a:r>
          </a:p>
          <a:p>
            <a:r>
              <a:t>- Main risks [ASSUMPTION]: checkout tools absorb the problem; licensing (read-only, but unconfirmed); getting access to companies' payment and invoice data; I'm a solo founder without payments-operations experience.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pic>
        <p:nvPicPr>
          <p:cNvPr id="2" name="Picture 1" descr="logo.png"/>
          <p:cNvPicPr>
            <a:picLocks noChangeAspect="1"/>
          </p:cNvPicPr>
          <p:nvPr/>
        </p:nvPicPr>
        <p:blipFill>
          <a:blip r:embed="rId3"/>
          <a:stretch>
            <a:fillRect/>
          </a:stretch>
        </p:blipFill>
        <p:spPr>
          <a:xfrm>
            <a:off x="548640" y="1737360"/>
            <a:ext cx="914400" cy="914400"/>
          </a:xfrm>
          <a:prstGeom prst="rect">
            <a:avLst/>
          </a:prstGeom>
        </p:spPr>
      </p:pic>
      <p:sp>
        <p:nvSpPr>
          <p:cNvPr id="3" name="TextBox 2"/>
          <p:cNvSpPr txBox="1"/>
          <p:nvPr/>
        </p:nvSpPr>
        <p:spPr>
          <a:xfrm>
            <a:off x="1691640" y="1645920"/>
            <a:ext cx="10058400" cy="1097280"/>
          </a:xfrm>
          <a:prstGeom prst="rect">
            <a:avLst/>
          </a:prstGeom>
          <a:noFill/>
        </p:spPr>
        <p:txBody>
          <a:bodyPr wrap="square" anchor="t" lIns="0" rIns="0" tIns="0" bIns="0">
            <a:spAutoFit/>
          </a:bodyPr>
          <a:lstStyle/>
          <a:p>
            <a:pPr algn="l"/>
            <a:r>
              <a:rPr sz="6400" b="1" i="0">
                <a:solidFill>
                  <a:srgbClr val="F2F4F7"/>
                </a:solidFill>
                <a:latin typeface="Arial"/>
              </a:rPr>
              <a:t>Clearline</a:t>
            </a:r>
            <a:r>
              <a:rPr sz="4000" b="0" i="0">
                <a:solidFill>
                  <a:srgbClr val="A3AAB6"/>
                </a:solidFill>
                <a:latin typeface="Arial"/>
              </a:rPr>
              <a:t>: a project I'm exploring</a:t>
            </a:r>
          </a:p>
        </p:txBody>
      </p:sp>
      <p:sp>
        <p:nvSpPr>
          <p:cNvPr id="4" name="TextBox 3"/>
          <p:cNvSpPr txBox="1"/>
          <p:nvPr/>
        </p:nvSpPr>
        <p:spPr>
          <a:xfrm>
            <a:off x="548640" y="3017520"/>
            <a:ext cx="10515600" cy="731520"/>
          </a:xfrm>
          <a:prstGeom prst="rect">
            <a:avLst/>
          </a:prstGeom>
          <a:noFill/>
        </p:spPr>
        <p:txBody>
          <a:bodyPr wrap="square" anchor="t" lIns="0" rIns="0" tIns="0" bIns="0">
            <a:spAutoFit/>
          </a:bodyPr>
          <a:lstStyle/>
          <a:p>
            <a:pPr algn="l"/>
            <a:r>
              <a:rPr sz="2800" b="0" i="0">
                <a:solidFill>
                  <a:srgbClr val="B9C6FF"/>
                </a:solidFill>
                <a:latin typeface="Arial"/>
              </a:rPr>
              <a:t>A smart cashier for digital-dollar (stablecoin) payments.</a:t>
            </a:r>
          </a:p>
        </p:txBody>
      </p:sp>
      <p:sp>
        <p:nvSpPr>
          <p:cNvPr id="5" name="Rounded Rectangle 4"/>
          <p:cNvSpPr/>
          <p:nvPr/>
        </p:nvSpPr>
        <p:spPr>
          <a:xfrm>
            <a:off x="548640" y="3931920"/>
            <a:ext cx="4114800" cy="466344"/>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931920"/>
            <a:ext cx="4114800" cy="466344"/>
          </a:xfrm>
          <a:prstGeom prst="rect">
            <a:avLst/>
          </a:prstGeom>
          <a:noFill/>
        </p:spPr>
        <p:txBody>
          <a:bodyPr wrap="square" anchor="ctr" lIns="0" rIns="0" tIns="0" bIns="0">
            <a:spAutoFit/>
          </a:bodyPr>
          <a:lstStyle/>
          <a:p>
            <a:pPr algn="ctr"/>
            <a:r>
              <a:rPr sz="1800" b="0" i="0">
                <a:solidFill>
                  <a:srgbClr val="8EA2FF"/>
                </a:solidFill>
                <a:latin typeface="Arial"/>
              </a:rPr>
              <a:t>Shared for feedback and guidance</a:t>
            </a:r>
          </a:p>
        </p:txBody>
      </p:sp>
      <p:sp>
        <p:nvSpPr>
          <p:cNvPr id="7" name="TextBox 6"/>
          <p:cNvSpPr txBox="1"/>
          <p:nvPr/>
        </p:nvSpPr>
        <p:spPr>
          <a:xfrm>
            <a:off x="548640" y="5669280"/>
            <a:ext cx="10058400" cy="365760"/>
          </a:xfrm>
          <a:prstGeom prst="rect">
            <a:avLst/>
          </a:prstGeom>
          <a:noFill/>
        </p:spPr>
        <p:txBody>
          <a:bodyPr wrap="square" anchor="t" lIns="0" rIns="0" tIns="0" bIns="0">
            <a:spAutoFit/>
          </a:bodyPr>
          <a:lstStyle/>
          <a:p>
            <a:pPr algn="l"/>
            <a:r>
              <a:rPr sz="1600" b="0" i="0">
                <a:solidFill>
                  <a:srgbClr val="A3AAB6"/>
                </a:solidFill>
                <a:latin typeface="Arial"/>
              </a:rPr>
              <a:t>Aashmiin Kaur  ·  Singapore Management University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200" b="1" i="0">
                <a:solidFill>
                  <a:srgbClr val="F2F4F7"/>
                </a:solidFill>
                <a:latin typeface="Arial"/>
              </a:rPr>
              <a:t>Payments arrive in seconds; checking can take hours</a:t>
            </a:r>
            <a:r>
              <a:rPr sz="2600" b="1" i="0">
                <a:solidFill>
                  <a:srgbClr val="B9C6FF"/>
                </a:solidFill>
                <a:latin typeface="Arial"/>
              </a:rPr>
              <a:t>◦</a:t>
            </a:r>
          </a:p>
        </p:txBody>
      </p:sp>
      <p:sp>
        <p:nvSpPr>
          <p:cNvPr id="3" name="TextBox 2"/>
          <p:cNvSpPr txBox="1"/>
          <p:nvPr/>
        </p:nvSpPr>
        <p:spPr>
          <a:xfrm>
            <a:off x="548640" y="1371600"/>
            <a:ext cx="11094415" cy="457200"/>
          </a:xfrm>
          <a:prstGeom prst="rect">
            <a:avLst/>
          </a:prstGeom>
          <a:noFill/>
        </p:spPr>
        <p:txBody>
          <a:bodyPr wrap="square" anchor="t" lIns="0" rIns="0" tIns="0" bIns="0">
            <a:spAutoFit/>
          </a:bodyPr>
          <a:lstStyle/>
          <a:p>
            <a:pPr algn="l"/>
            <a:r>
              <a:rPr sz="2000" b="0" i="0">
                <a:solidFill>
                  <a:srgbClr val="A3AAB6"/>
                </a:solidFill>
                <a:latin typeface="Arial"/>
              </a:rPr>
              <a:t>Maya, a finance manager, must work out which of these went wrong:</a:t>
            </a:r>
          </a:p>
        </p:txBody>
      </p:sp>
      <p:sp>
        <p:nvSpPr>
          <p:cNvPr id="4" name="Rounded Rectangle 3"/>
          <p:cNvSpPr/>
          <p:nvPr/>
        </p:nvSpPr>
        <p:spPr>
          <a:xfrm>
            <a:off x="548640" y="2011680"/>
            <a:ext cx="253357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ort.png"/>
          <p:cNvPicPr>
            <a:picLocks noChangeAspect="1"/>
          </p:cNvPicPr>
          <p:nvPr/>
        </p:nvPicPr>
        <p:blipFill>
          <a:blip r:embed="rId3"/>
          <a:stretch>
            <a:fillRect/>
          </a:stretch>
        </p:blipFill>
        <p:spPr>
          <a:xfrm>
            <a:off x="1129626" y="2194560"/>
            <a:ext cx="1371600" cy="1371600"/>
          </a:xfrm>
          <a:prstGeom prst="rect">
            <a:avLst/>
          </a:prstGeom>
        </p:spPr>
      </p:pic>
      <p:sp>
        <p:nvSpPr>
          <p:cNvPr id="6" name="TextBox 5"/>
          <p:cNvSpPr txBox="1"/>
          <p:nvPr/>
        </p:nvSpPr>
        <p:spPr>
          <a:xfrm>
            <a:off x="685800" y="3840480"/>
            <a:ext cx="2259253" cy="640080"/>
          </a:xfrm>
          <a:prstGeom prst="rect">
            <a:avLst/>
          </a:prstGeom>
          <a:noFill/>
        </p:spPr>
        <p:txBody>
          <a:bodyPr wrap="square" anchor="t" lIns="0" rIns="0" tIns="0" bIns="0">
            <a:spAutoFit/>
          </a:bodyPr>
          <a:lstStyle/>
          <a:p>
            <a:pPr algn="ctr"/>
            <a:r>
              <a:rPr sz="2200" b="1" i="0">
                <a:solidFill>
                  <a:srgbClr val="F2F4F7"/>
                </a:solidFill>
                <a:latin typeface="Arial"/>
              </a:rPr>
              <a:t>Paid too little</a:t>
            </a:r>
          </a:p>
        </p:txBody>
      </p:sp>
      <p:sp>
        <p:nvSpPr>
          <p:cNvPr id="7" name="Rounded Rectangle 6"/>
          <p:cNvSpPr/>
          <p:nvPr/>
        </p:nvSpPr>
        <p:spPr>
          <a:xfrm>
            <a:off x="3402253" y="2011680"/>
            <a:ext cx="253357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ad.png"/>
          <p:cNvPicPr>
            <a:picLocks noChangeAspect="1"/>
          </p:cNvPicPr>
          <p:nvPr/>
        </p:nvPicPr>
        <p:blipFill>
          <a:blip r:embed="rId4"/>
          <a:stretch>
            <a:fillRect/>
          </a:stretch>
        </p:blipFill>
        <p:spPr>
          <a:xfrm>
            <a:off x="3983240" y="2194560"/>
            <a:ext cx="1371600" cy="1371600"/>
          </a:xfrm>
          <a:prstGeom prst="rect">
            <a:avLst/>
          </a:prstGeom>
        </p:spPr>
      </p:pic>
      <p:sp>
        <p:nvSpPr>
          <p:cNvPr id="9" name="TextBox 8"/>
          <p:cNvSpPr txBox="1"/>
          <p:nvPr/>
        </p:nvSpPr>
        <p:spPr>
          <a:xfrm>
            <a:off x="3539413" y="3840480"/>
            <a:ext cx="2259253" cy="640080"/>
          </a:xfrm>
          <a:prstGeom prst="rect">
            <a:avLst/>
          </a:prstGeom>
          <a:noFill/>
        </p:spPr>
        <p:txBody>
          <a:bodyPr wrap="square" anchor="t" lIns="0" rIns="0" tIns="0" bIns="0">
            <a:spAutoFit/>
          </a:bodyPr>
          <a:lstStyle/>
          <a:p>
            <a:pPr algn="ctr"/>
            <a:r>
              <a:rPr sz="2200" b="1" i="0">
                <a:solidFill>
                  <a:srgbClr val="F2F4F7"/>
                </a:solidFill>
                <a:latin typeface="Arial"/>
              </a:rPr>
              <a:t>Wrong network</a:t>
            </a:r>
          </a:p>
        </p:txBody>
      </p:sp>
      <p:sp>
        <p:nvSpPr>
          <p:cNvPr id="10" name="Rounded Rectangle 9"/>
          <p:cNvSpPr/>
          <p:nvPr/>
        </p:nvSpPr>
        <p:spPr>
          <a:xfrm>
            <a:off x="6255867" y="2011680"/>
            <a:ext cx="253357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ke.png"/>
          <p:cNvPicPr>
            <a:picLocks noChangeAspect="1"/>
          </p:cNvPicPr>
          <p:nvPr/>
        </p:nvPicPr>
        <p:blipFill>
          <a:blip r:embed="rId5"/>
          <a:stretch>
            <a:fillRect/>
          </a:stretch>
        </p:blipFill>
        <p:spPr>
          <a:xfrm>
            <a:off x="6836854" y="2194560"/>
            <a:ext cx="1371600" cy="1371600"/>
          </a:xfrm>
          <a:prstGeom prst="rect">
            <a:avLst/>
          </a:prstGeom>
        </p:spPr>
      </p:pic>
      <p:sp>
        <p:nvSpPr>
          <p:cNvPr id="12" name="TextBox 11"/>
          <p:cNvSpPr txBox="1"/>
          <p:nvPr/>
        </p:nvSpPr>
        <p:spPr>
          <a:xfrm>
            <a:off x="6393027" y="3840480"/>
            <a:ext cx="2259253" cy="640080"/>
          </a:xfrm>
          <a:prstGeom prst="rect">
            <a:avLst/>
          </a:prstGeom>
          <a:noFill/>
        </p:spPr>
        <p:txBody>
          <a:bodyPr wrap="square" anchor="t" lIns="0" rIns="0" tIns="0" bIns="0">
            <a:spAutoFit/>
          </a:bodyPr>
          <a:lstStyle/>
          <a:p>
            <a:pPr algn="ctr"/>
            <a:r>
              <a:rPr sz="2200" b="1" i="0">
                <a:solidFill>
                  <a:srgbClr val="F2F4F7"/>
                </a:solidFill>
                <a:latin typeface="Arial"/>
              </a:rPr>
              <a:t>Counterfeit</a:t>
            </a:r>
          </a:p>
        </p:txBody>
      </p:sp>
      <p:sp>
        <p:nvSpPr>
          <p:cNvPr id="13" name="Rounded Rectangle 12"/>
          <p:cNvSpPr/>
          <p:nvPr/>
        </p:nvSpPr>
        <p:spPr>
          <a:xfrm>
            <a:off x="9109481" y="2011680"/>
            <a:ext cx="253357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nolabel.png"/>
          <p:cNvPicPr>
            <a:picLocks noChangeAspect="1"/>
          </p:cNvPicPr>
          <p:nvPr/>
        </p:nvPicPr>
        <p:blipFill>
          <a:blip r:embed="rId6"/>
          <a:stretch>
            <a:fillRect/>
          </a:stretch>
        </p:blipFill>
        <p:spPr>
          <a:xfrm>
            <a:off x="9690468" y="2194560"/>
            <a:ext cx="1371600" cy="1371600"/>
          </a:xfrm>
          <a:prstGeom prst="rect">
            <a:avLst/>
          </a:prstGeom>
        </p:spPr>
      </p:pic>
      <p:sp>
        <p:nvSpPr>
          <p:cNvPr id="15" name="TextBox 14"/>
          <p:cNvSpPr txBox="1"/>
          <p:nvPr/>
        </p:nvSpPr>
        <p:spPr>
          <a:xfrm>
            <a:off x="9246641" y="3840480"/>
            <a:ext cx="2259253" cy="640080"/>
          </a:xfrm>
          <a:prstGeom prst="rect">
            <a:avLst/>
          </a:prstGeom>
          <a:noFill/>
        </p:spPr>
        <p:txBody>
          <a:bodyPr wrap="square" anchor="t" lIns="0" rIns="0" tIns="0" bIns="0">
            <a:spAutoFit/>
          </a:bodyPr>
          <a:lstStyle/>
          <a:p>
            <a:pPr algn="ctr"/>
            <a:r>
              <a:rPr sz="2200" b="1" i="0">
                <a:solidFill>
                  <a:srgbClr val="F2F4F7"/>
                </a:solidFill>
                <a:latin typeface="Arial"/>
              </a:rPr>
              <a:t>No invoice number¹</a:t>
            </a:r>
          </a:p>
        </p:txBody>
      </p:sp>
      <p:sp>
        <p:nvSpPr>
          <p:cNvPr id="16" name="TextBox 15"/>
          <p:cNvSpPr txBox="1"/>
          <p:nvPr/>
        </p:nvSpPr>
        <p:spPr>
          <a:xfrm>
            <a:off x="548640" y="4983480"/>
            <a:ext cx="11094415" cy="640080"/>
          </a:xfrm>
          <a:prstGeom prst="rect">
            <a:avLst/>
          </a:prstGeom>
          <a:noFill/>
        </p:spPr>
        <p:txBody>
          <a:bodyPr wrap="square" anchor="t" lIns="0" rIns="0" tIns="0" bIns="0">
            <a:spAutoFit/>
          </a:bodyPr>
          <a:lstStyle/>
          <a:p>
            <a:pPr algn="l"/>
            <a:r>
              <a:rPr sz="1800" b="0" i="0">
                <a:solidFill>
                  <a:srgbClr val="A3AAB6"/>
                </a:solidFill>
                <a:latin typeface="Arial"/>
              </a:rPr>
              <a:t>How I found it: exploring tools for crypto finance teams, I narrowed in on payments that don't match.</a:t>
            </a:r>
          </a:p>
        </p:txBody>
      </p:sp>
      <p:sp>
        <p:nvSpPr>
          <p:cNvPr id="17"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A token transfer records sender, receiver and amount only: no invoice reference (ERC-20 standard, eips.ethereum.org/EIPS/eip-20). Maya is illustrative.</a:t>
            </a:r>
          </a:p>
          <a:p>
            <a:pPr algn="l"/>
            <a:r>
              <a:rPr sz="1000" b="0" i="0">
                <a:solidFill>
                  <a:srgbClr val="A3AAB6"/>
                </a:solidFill>
                <a:latin typeface="Arial"/>
              </a:rPr>
              <a:t>◦ estimate or assumption   † untested   unmarked = sourced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200" b="1" i="0">
                <a:solidFill>
                  <a:srgbClr val="F2F4F7"/>
                </a:solidFill>
                <a:latin typeface="Arial"/>
              </a:rPr>
              <a:t>Stablecoin use is growing, and rules are arriving</a:t>
            </a:r>
          </a:p>
        </p:txBody>
      </p:sp>
      <p:sp>
        <p:nvSpPr>
          <p:cNvPr id="3" name="Rounded Rectangle 2"/>
          <p:cNvSpPr/>
          <p:nvPr/>
        </p:nvSpPr>
        <p:spPr>
          <a:xfrm>
            <a:off x="548640" y="1600200"/>
            <a:ext cx="3454298" cy="3794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2722778" cy="457200"/>
          </a:xfrm>
          <a:prstGeom prst="rect">
            <a:avLst/>
          </a:prstGeom>
          <a:noFill/>
        </p:spPr>
        <p:txBody>
          <a:bodyPr wrap="square" anchor="t" lIns="0" rIns="0" tIns="0" bIns="0">
            <a:spAutoFit/>
          </a:bodyPr>
          <a:lstStyle/>
          <a:p>
            <a:pPr algn="l"/>
            <a:r>
              <a:rPr sz="2200" b="1" i="0">
                <a:solidFill>
                  <a:srgbClr val="B9C6FF"/>
                </a:solidFill>
                <a:latin typeface="Arial"/>
              </a:rPr>
              <a:t>Business use</a:t>
            </a:r>
          </a:p>
        </p:txBody>
      </p:sp>
      <p:sp>
        <p:nvSpPr>
          <p:cNvPr id="5" name="TextBox 4"/>
          <p:cNvSpPr txBox="1"/>
          <p:nvPr/>
        </p:nvSpPr>
        <p:spPr>
          <a:xfrm>
            <a:off x="914400" y="2560320"/>
            <a:ext cx="2722778" cy="2651760"/>
          </a:xfrm>
          <a:prstGeom prst="rect">
            <a:avLst/>
          </a:prstGeom>
          <a:noFill/>
        </p:spPr>
        <p:txBody>
          <a:bodyPr wrap="square" anchor="t" lIns="0" rIns="0" tIns="0" bIns="0">
            <a:spAutoFit/>
          </a:bodyPr>
          <a:lstStyle/>
          <a:p>
            <a:pPr algn="l"/>
            <a:r>
              <a:rPr sz="2400" b="1" i="0">
                <a:solidFill>
                  <a:srgbClr val="F2F4F7"/>
                </a:solidFill>
                <a:latin typeface="Arial"/>
              </a:rPr>
              <a:t>About US$226B a year of business stablecoin payments, still ~0.01% of the total</a:t>
            </a:r>
            <a:r>
              <a:rPr sz="2600" b="1" i="0">
                <a:solidFill>
                  <a:srgbClr val="B9C6FF"/>
                </a:solidFill>
                <a:latin typeface="Arial"/>
              </a:rPr>
              <a:t>◦</a:t>
            </a:r>
            <a:r>
              <a:rPr sz="1200" b="0" i="0">
                <a:solidFill>
                  <a:srgbClr val="767E8C"/>
                </a:solidFill>
                <a:latin typeface="Arial"/>
              </a:rPr>
              <a:t>¹</a:t>
            </a:r>
          </a:p>
        </p:txBody>
      </p:sp>
      <p:sp>
        <p:nvSpPr>
          <p:cNvPr id="6" name="Rounded Rectangle 5"/>
          <p:cNvSpPr/>
          <p:nvPr/>
        </p:nvSpPr>
        <p:spPr>
          <a:xfrm>
            <a:off x="4368698" y="1600200"/>
            <a:ext cx="3454298" cy="3794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34458" y="1874519"/>
            <a:ext cx="2722778" cy="457200"/>
          </a:xfrm>
          <a:prstGeom prst="rect">
            <a:avLst/>
          </a:prstGeom>
          <a:noFill/>
        </p:spPr>
        <p:txBody>
          <a:bodyPr wrap="square" anchor="t" lIns="0" rIns="0" tIns="0" bIns="0">
            <a:spAutoFit/>
          </a:bodyPr>
          <a:lstStyle/>
          <a:p>
            <a:pPr algn="l"/>
            <a:r>
              <a:rPr sz="2200" b="1" i="0">
                <a:solidFill>
                  <a:srgbClr val="B9C6FF"/>
                </a:solidFill>
                <a:latin typeface="Arial"/>
              </a:rPr>
              <a:t>New rules</a:t>
            </a:r>
          </a:p>
        </p:txBody>
      </p:sp>
      <p:sp>
        <p:nvSpPr>
          <p:cNvPr id="8" name="TextBox 7"/>
          <p:cNvSpPr txBox="1"/>
          <p:nvPr/>
        </p:nvSpPr>
        <p:spPr>
          <a:xfrm>
            <a:off x="4734458" y="2560320"/>
            <a:ext cx="2722778" cy="2651760"/>
          </a:xfrm>
          <a:prstGeom prst="rect">
            <a:avLst/>
          </a:prstGeom>
          <a:noFill/>
        </p:spPr>
        <p:txBody>
          <a:bodyPr wrap="square" anchor="t" lIns="0" rIns="0" tIns="0" bIns="0">
            <a:spAutoFit/>
          </a:bodyPr>
          <a:lstStyle/>
          <a:p>
            <a:pPr algn="l"/>
            <a:r>
              <a:rPr sz="2400" b="1" i="0">
                <a:solidFill>
                  <a:srgbClr val="F2F4F7"/>
                </a:solidFill>
                <a:latin typeface="Arial"/>
              </a:rPr>
              <a:t>Singapore consulted on its stablecoin law, Sep–Oct 2026</a:t>
            </a:r>
            <a:r>
              <a:rPr sz="2600" b="1" i="0">
                <a:solidFill>
                  <a:srgbClr val="B9C6FF"/>
                </a:solidFill>
                <a:latin typeface="Arial"/>
              </a:rPr>
              <a:t/>
            </a:r>
            <a:r>
              <a:rPr sz="1200" b="0" i="0">
                <a:solidFill>
                  <a:srgbClr val="767E8C"/>
                </a:solidFill>
                <a:latin typeface="Arial"/>
              </a:rPr>
              <a:t>²</a:t>
            </a:r>
          </a:p>
        </p:txBody>
      </p:sp>
      <p:sp>
        <p:nvSpPr>
          <p:cNvPr id="9" name="Rounded Rectangle 8"/>
          <p:cNvSpPr/>
          <p:nvPr/>
        </p:nvSpPr>
        <p:spPr>
          <a:xfrm>
            <a:off x="8188756" y="1600200"/>
            <a:ext cx="3454298" cy="3794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54516" y="1874519"/>
            <a:ext cx="2722778" cy="457200"/>
          </a:xfrm>
          <a:prstGeom prst="rect">
            <a:avLst/>
          </a:prstGeom>
          <a:noFill/>
        </p:spPr>
        <p:txBody>
          <a:bodyPr wrap="square" anchor="t" lIns="0" rIns="0" tIns="0" bIns="0">
            <a:spAutoFit/>
          </a:bodyPr>
          <a:lstStyle/>
          <a:p>
            <a:pPr algn="l"/>
            <a:r>
              <a:rPr sz="2200" b="1" i="0">
                <a:solidFill>
                  <a:srgbClr val="B9C6FF"/>
                </a:solidFill>
                <a:latin typeface="Arial"/>
              </a:rPr>
              <a:t>Singapore's role</a:t>
            </a:r>
          </a:p>
        </p:txBody>
      </p:sp>
      <p:sp>
        <p:nvSpPr>
          <p:cNvPr id="11" name="TextBox 10"/>
          <p:cNvSpPr txBox="1"/>
          <p:nvPr/>
        </p:nvSpPr>
        <p:spPr>
          <a:xfrm>
            <a:off x="8554516" y="2560320"/>
            <a:ext cx="2722778" cy="2651760"/>
          </a:xfrm>
          <a:prstGeom prst="rect">
            <a:avLst/>
          </a:prstGeom>
          <a:noFill/>
        </p:spPr>
        <p:txBody>
          <a:bodyPr wrap="square" anchor="t" lIns="0" rIns="0" tIns="0" bIns="0">
            <a:spAutoFit/>
          </a:bodyPr>
          <a:lstStyle/>
          <a:p>
            <a:pPr algn="l"/>
            <a:r>
              <a:rPr sz="2400" b="1" i="0">
                <a:solidFill>
                  <a:srgbClr val="F2F4F7"/>
                </a:solidFill>
                <a:latin typeface="Arial"/>
              </a:rPr>
              <a:t>One of the top five countries sending stablecoin payments</a:t>
            </a:r>
            <a:r>
              <a:rPr sz="2600" b="1" i="0">
                <a:solidFill>
                  <a:srgbClr val="B9C6FF"/>
                </a:solidFill>
                <a:latin typeface="Arial"/>
              </a:rPr>
              <a:t/>
            </a:r>
            <a:r>
              <a:rPr sz="1200" b="0" i="0">
                <a:solidFill>
                  <a:srgbClr val="767E8C"/>
                </a:solidFill>
                <a:latin typeface="Arial"/>
              </a:rPr>
              <a:t>³</a:t>
            </a:r>
          </a:p>
        </p:txBody>
      </p:sp>
      <p:sp>
        <p:nvSpPr>
          <p:cNvPr id="12"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McKinsey with Artemis, 2026 (an estimate)  ² MAS consultation, 1 Sep 2026 (mas.gov.sg; Gibson Dunn)  ³ Artemis, Oct 2025</a:t>
            </a:r>
          </a:p>
          <a:p>
            <a:pPr algn="l"/>
            <a:r>
              <a:rPr sz="1000" b="0" i="0">
                <a:solidFill>
                  <a:srgbClr val="A3AAB6"/>
                </a:solidFill>
                <a:latin typeface="Arial"/>
              </a:rPr>
              <a:t>◦ estimate or assumption   † untested   unmarked = sourced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To explore it, I built a smart cashier</a:t>
            </a:r>
          </a:p>
        </p:txBody>
      </p:sp>
      <p:sp>
        <p:nvSpPr>
          <p:cNvPr id="3" name="Rounded Rectangle 2"/>
          <p:cNvSpPr/>
          <p:nvPr/>
        </p:nvSpPr>
        <p:spPr>
          <a:xfrm>
            <a:off x="548640" y="1645920"/>
            <a:ext cx="333237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914400" cy="548640"/>
          </a:xfrm>
          <a:prstGeom prst="rect">
            <a:avLst/>
          </a:prstGeom>
          <a:noFill/>
        </p:spPr>
        <p:txBody>
          <a:bodyPr wrap="square" anchor="t" lIns="0" rIns="0" tIns="0" bIns="0">
            <a:spAutoFit/>
          </a:bodyPr>
          <a:lstStyle/>
          <a:p>
            <a:pPr algn="l"/>
            <a:r>
              <a:rPr sz="3200" b="1" i="0">
                <a:solidFill>
                  <a:srgbClr val="8EA2FF"/>
                </a:solidFill>
                <a:latin typeface="Arial"/>
              </a:rPr>
              <a:t>1</a:t>
            </a:r>
          </a:p>
        </p:txBody>
      </p:sp>
      <p:pic>
        <p:nvPicPr>
          <p:cNvPr id="5" name="Picture 4" descr="howtopay.png"/>
          <p:cNvPicPr>
            <a:picLocks noChangeAspect="1"/>
          </p:cNvPicPr>
          <p:nvPr/>
        </p:nvPicPr>
        <p:blipFill>
          <a:blip r:embed="rId3"/>
          <a:stretch>
            <a:fillRect/>
          </a:stretch>
        </p:blipFill>
        <p:spPr>
          <a:xfrm>
            <a:off x="1529029" y="2148840"/>
            <a:ext cx="1371600" cy="1371600"/>
          </a:xfrm>
          <a:prstGeom prst="rect">
            <a:avLst/>
          </a:prstGeom>
        </p:spPr>
      </p:pic>
      <p:sp>
        <p:nvSpPr>
          <p:cNvPr id="6" name="TextBox 5"/>
          <p:cNvSpPr txBox="1"/>
          <p:nvPr/>
        </p:nvSpPr>
        <p:spPr>
          <a:xfrm>
            <a:off x="868680" y="3794760"/>
            <a:ext cx="2692298" cy="1280160"/>
          </a:xfrm>
          <a:prstGeom prst="rect">
            <a:avLst/>
          </a:prstGeom>
          <a:noFill/>
        </p:spPr>
        <p:txBody>
          <a:bodyPr wrap="square" anchor="t" lIns="0" rIns="0" tIns="0" bIns="0">
            <a:spAutoFit/>
          </a:bodyPr>
          <a:lstStyle/>
          <a:p>
            <a:pPr algn="ctr"/>
            <a:r>
              <a:rPr sz="2400" b="1" i="0">
                <a:solidFill>
                  <a:srgbClr val="F2F4F7"/>
                </a:solidFill>
                <a:latin typeface="Arial"/>
              </a:rPr>
              <a:t>The customer sees exactly how to pay</a:t>
            </a:r>
          </a:p>
        </p:txBody>
      </p:sp>
      <p:sp>
        <p:nvSpPr>
          <p:cNvPr id="7" name="TextBox 6"/>
          <p:cNvSpPr txBox="1"/>
          <p:nvPr/>
        </p:nvSpPr>
        <p:spPr>
          <a:xfrm>
            <a:off x="3926738" y="3017520"/>
            <a:ext cx="457200" cy="548640"/>
          </a:xfrm>
          <a:prstGeom prst="rect">
            <a:avLst/>
          </a:prstGeom>
          <a:noFill/>
        </p:spPr>
        <p:txBody>
          <a:bodyPr wrap="square" anchor="t" lIns="0" rIns="0" tIns="0" bIns="0">
            <a:spAutoFit/>
          </a:bodyPr>
          <a:lstStyle/>
          <a:p>
            <a:pPr algn="ctr"/>
            <a:r>
              <a:rPr sz="3200" b="0" i="0">
                <a:solidFill>
                  <a:srgbClr val="8EA2FF"/>
                </a:solidFill>
                <a:latin typeface="Arial"/>
              </a:rPr>
              <a:t>→</a:t>
            </a:r>
          </a:p>
        </p:txBody>
      </p:sp>
      <p:sp>
        <p:nvSpPr>
          <p:cNvPr id="8" name="Rounded Rectangle 7"/>
          <p:cNvSpPr/>
          <p:nvPr/>
        </p:nvSpPr>
        <p:spPr>
          <a:xfrm>
            <a:off x="4429658" y="1645920"/>
            <a:ext cx="333237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9698" y="1828800"/>
            <a:ext cx="914400" cy="548640"/>
          </a:xfrm>
          <a:prstGeom prst="rect">
            <a:avLst/>
          </a:prstGeom>
          <a:noFill/>
        </p:spPr>
        <p:txBody>
          <a:bodyPr wrap="square" anchor="t" lIns="0" rIns="0" tIns="0" bIns="0">
            <a:spAutoFit/>
          </a:bodyPr>
          <a:lstStyle/>
          <a:p>
            <a:pPr algn="l"/>
            <a:r>
              <a:rPr sz="3200" b="1" i="0">
                <a:solidFill>
                  <a:srgbClr val="8EA2FF"/>
                </a:solidFill>
                <a:latin typeface="Arial"/>
              </a:rPr>
              <a:t>2</a:t>
            </a:r>
          </a:p>
        </p:txBody>
      </p:sp>
      <p:pic>
        <p:nvPicPr>
          <p:cNvPr id="10" name="Picture 9" descr="ticked.png"/>
          <p:cNvPicPr>
            <a:picLocks noChangeAspect="1"/>
          </p:cNvPicPr>
          <p:nvPr/>
        </p:nvPicPr>
        <p:blipFill>
          <a:blip r:embed="rId4"/>
          <a:stretch>
            <a:fillRect/>
          </a:stretch>
        </p:blipFill>
        <p:spPr>
          <a:xfrm>
            <a:off x="5410047" y="2148840"/>
            <a:ext cx="1371600" cy="1371600"/>
          </a:xfrm>
          <a:prstGeom prst="rect">
            <a:avLst/>
          </a:prstGeom>
        </p:spPr>
      </p:pic>
      <p:sp>
        <p:nvSpPr>
          <p:cNvPr id="11" name="TextBox 10"/>
          <p:cNvSpPr txBox="1"/>
          <p:nvPr/>
        </p:nvSpPr>
        <p:spPr>
          <a:xfrm>
            <a:off x="4749698" y="3794760"/>
            <a:ext cx="2692298" cy="1280160"/>
          </a:xfrm>
          <a:prstGeom prst="rect">
            <a:avLst/>
          </a:prstGeom>
          <a:noFill/>
        </p:spPr>
        <p:txBody>
          <a:bodyPr wrap="square" anchor="t" lIns="0" rIns="0" tIns="0" bIns="0">
            <a:spAutoFit/>
          </a:bodyPr>
          <a:lstStyle/>
          <a:p>
            <a:pPr algn="ctr"/>
            <a:r>
              <a:rPr sz="2400" b="1" i="0">
                <a:solidFill>
                  <a:srgbClr val="F2F4F7"/>
                </a:solidFill>
                <a:latin typeface="Arial"/>
              </a:rPr>
              <a:t>Correct payments: ready to mark paid once you approve</a:t>
            </a:r>
          </a:p>
        </p:txBody>
      </p:sp>
      <p:sp>
        <p:nvSpPr>
          <p:cNvPr id="12" name="TextBox 11"/>
          <p:cNvSpPr txBox="1"/>
          <p:nvPr/>
        </p:nvSpPr>
        <p:spPr>
          <a:xfrm>
            <a:off x="7807756" y="3017520"/>
            <a:ext cx="457200" cy="548640"/>
          </a:xfrm>
          <a:prstGeom prst="rect">
            <a:avLst/>
          </a:prstGeom>
          <a:noFill/>
        </p:spPr>
        <p:txBody>
          <a:bodyPr wrap="square" anchor="t" lIns="0" rIns="0" tIns="0" bIns="0">
            <a:spAutoFit/>
          </a:bodyPr>
          <a:lstStyle/>
          <a:p>
            <a:pPr algn="ctr"/>
            <a:r>
              <a:rPr sz="3200" b="0" i="0">
                <a:solidFill>
                  <a:srgbClr val="8EA2FF"/>
                </a:solidFill>
                <a:latin typeface="Arial"/>
              </a:rPr>
              <a:t>→</a:t>
            </a:r>
          </a:p>
        </p:txBody>
      </p:sp>
      <p:sp>
        <p:nvSpPr>
          <p:cNvPr id="13" name="Rounded Rectangle 12"/>
          <p:cNvSpPr/>
          <p:nvPr/>
        </p:nvSpPr>
        <p:spPr>
          <a:xfrm>
            <a:off x="8310676" y="1645920"/>
            <a:ext cx="333237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0716" y="1828800"/>
            <a:ext cx="914400" cy="548640"/>
          </a:xfrm>
          <a:prstGeom prst="rect">
            <a:avLst/>
          </a:prstGeom>
          <a:noFill/>
        </p:spPr>
        <p:txBody>
          <a:bodyPr wrap="square" anchor="t" lIns="0" rIns="0" tIns="0" bIns="0">
            <a:spAutoFit/>
          </a:bodyPr>
          <a:lstStyle/>
          <a:p>
            <a:pPr algn="l"/>
            <a:r>
              <a:rPr sz="3200" b="1" i="0">
                <a:solidFill>
                  <a:srgbClr val="8EA2FF"/>
                </a:solidFill>
                <a:latin typeface="Arial"/>
              </a:rPr>
              <a:t>3</a:t>
            </a:r>
          </a:p>
        </p:txBody>
      </p:sp>
      <p:pic>
        <p:nvPicPr>
          <p:cNvPr id="15" name="Picture 14" descr="explains.png"/>
          <p:cNvPicPr>
            <a:picLocks noChangeAspect="1"/>
          </p:cNvPicPr>
          <p:nvPr/>
        </p:nvPicPr>
        <p:blipFill>
          <a:blip r:embed="rId5"/>
          <a:stretch>
            <a:fillRect/>
          </a:stretch>
        </p:blipFill>
        <p:spPr>
          <a:xfrm>
            <a:off x="9291066" y="2148840"/>
            <a:ext cx="1371600" cy="1371600"/>
          </a:xfrm>
          <a:prstGeom prst="rect">
            <a:avLst/>
          </a:prstGeom>
        </p:spPr>
      </p:pic>
      <p:sp>
        <p:nvSpPr>
          <p:cNvPr id="16" name="TextBox 15"/>
          <p:cNvSpPr txBox="1"/>
          <p:nvPr/>
        </p:nvSpPr>
        <p:spPr>
          <a:xfrm>
            <a:off x="8630716" y="3794760"/>
            <a:ext cx="2692298" cy="1280160"/>
          </a:xfrm>
          <a:prstGeom prst="rect">
            <a:avLst/>
          </a:prstGeom>
          <a:noFill/>
        </p:spPr>
        <p:txBody>
          <a:bodyPr wrap="square" anchor="t" lIns="0" rIns="0" tIns="0" bIns="0">
            <a:spAutoFit/>
          </a:bodyPr>
          <a:lstStyle/>
          <a:p>
            <a:pPr algn="ctr"/>
            <a:r>
              <a:rPr sz="2400" b="1" i="0">
                <a:solidFill>
                  <a:srgbClr val="F2F4F7"/>
                </a:solidFill>
                <a:latin typeface="Arial"/>
              </a:rPr>
              <a:t>Problems are explained, with the reply drafted</a:t>
            </a:r>
          </a:p>
        </p:txBody>
      </p:sp>
      <p:sp>
        <p:nvSpPr>
          <p:cNvPr id="17"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It reads payment information only; it never holds or moves money.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The working demo, on fictional data</a:t>
            </a:r>
          </a:p>
        </p:txBody>
      </p:sp>
      <p:sp>
        <p:nvSpPr>
          <p:cNvPr id="3" name="TextBox 2"/>
          <p:cNvSpPr txBox="1"/>
          <p:nvPr/>
        </p:nvSpPr>
        <p:spPr>
          <a:xfrm>
            <a:off x="548640" y="1463040"/>
            <a:ext cx="457200" cy="1325880"/>
          </a:xfrm>
          <a:prstGeom prst="rect">
            <a:avLst/>
          </a:prstGeom>
          <a:noFill/>
        </p:spPr>
        <p:txBody>
          <a:bodyPr wrap="square" anchor="ctr" lIns="0" rIns="0" tIns="0" bIns="0">
            <a:spAutoFit/>
          </a:bodyPr>
          <a:lstStyle/>
          <a:p>
            <a:pPr algn="l"/>
            <a:r>
              <a:rPr sz="3600" b="1" i="0">
                <a:solidFill>
                  <a:srgbClr val="8EA2FF"/>
                </a:solidFill>
                <a:latin typeface="Arial"/>
              </a:rPr>
              <a:t>1</a:t>
            </a:r>
          </a:p>
        </p:txBody>
      </p:sp>
      <p:sp>
        <p:nvSpPr>
          <p:cNvPr id="4" name="TextBox 3"/>
          <p:cNvSpPr txBox="1"/>
          <p:nvPr/>
        </p:nvSpPr>
        <p:spPr>
          <a:xfrm>
            <a:off x="1051560" y="1463040"/>
            <a:ext cx="2011680" cy="1325880"/>
          </a:xfrm>
          <a:prstGeom prst="rect">
            <a:avLst/>
          </a:prstGeom>
          <a:noFill/>
        </p:spPr>
        <p:txBody>
          <a:bodyPr wrap="square" anchor="ctr" lIns="0" rIns="0" tIns="0" bIns="0">
            <a:spAutoFit/>
          </a:bodyPr>
          <a:lstStyle/>
          <a:p>
            <a:pPr algn="l"/>
            <a:r>
              <a:rPr sz="1800" b="0" i="0">
                <a:solidFill>
                  <a:srgbClr val="F2F4F7"/>
                </a:solidFill>
                <a:latin typeface="Arial"/>
              </a:rPr>
              <a:t>What the customer sees</a:t>
            </a:r>
          </a:p>
        </p:txBody>
      </p:sp>
      <p:pic>
        <p:nvPicPr>
          <p:cNvPr id="5" name="Picture 4" descr="request_top.png"/>
          <p:cNvPicPr>
            <a:picLocks noChangeAspect="1"/>
          </p:cNvPicPr>
          <p:nvPr/>
        </p:nvPicPr>
        <p:blipFill>
          <a:blip r:embed="rId3"/>
          <a:stretch>
            <a:fillRect/>
          </a:stretch>
        </p:blipFill>
        <p:spPr>
          <a:xfrm>
            <a:off x="3246120" y="1574339"/>
            <a:ext cx="4572000" cy="1103282"/>
          </a:xfrm>
          <a:prstGeom prst="rect">
            <a:avLst/>
          </a:prstGeom>
        </p:spPr>
      </p:pic>
      <p:sp>
        <p:nvSpPr>
          <p:cNvPr id="6" name="TextBox 5"/>
          <p:cNvSpPr txBox="1"/>
          <p:nvPr/>
        </p:nvSpPr>
        <p:spPr>
          <a:xfrm>
            <a:off x="548640" y="3154680"/>
            <a:ext cx="457200" cy="1325880"/>
          </a:xfrm>
          <a:prstGeom prst="rect">
            <a:avLst/>
          </a:prstGeom>
          <a:noFill/>
        </p:spPr>
        <p:txBody>
          <a:bodyPr wrap="square" anchor="ctr" lIns="0" rIns="0" tIns="0" bIns="0">
            <a:spAutoFit/>
          </a:bodyPr>
          <a:lstStyle/>
          <a:p>
            <a:pPr algn="l"/>
            <a:r>
              <a:rPr sz="3600" b="1" i="0">
                <a:solidFill>
                  <a:srgbClr val="8EA2FF"/>
                </a:solidFill>
                <a:latin typeface="Arial"/>
              </a:rPr>
              <a:t>2</a:t>
            </a:r>
          </a:p>
        </p:txBody>
      </p:sp>
      <p:sp>
        <p:nvSpPr>
          <p:cNvPr id="7" name="TextBox 6"/>
          <p:cNvSpPr txBox="1"/>
          <p:nvPr/>
        </p:nvSpPr>
        <p:spPr>
          <a:xfrm>
            <a:off x="1051560" y="3154680"/>
            <a:ext cx="2011680" cy="1325880"/>
          </a:xfrm>
          <a:prstGeom prst="rect">
            <a:avLst/>
          </a:prstGeom>
          <a:noFill/>
        </p:spPr>
        <p:txBody>
          <a:bodyPr wrap="square" anchor="ctr" lIns="0" rIns="0" tIns="0" bIns="0">
            <a:spAutoFit/>
          </a:bodyPr>
          <a:lstStyle/>
          <a:p>
            <a:pPr algn="l"/>
            <a:r>
              <a:rPr sz="1800" b="0" i="0">
                <a:solidFill>
                  <a:srgbClr val="F2F4F7"/>
                </a:solidFill>
                <a:latin typeface="Arial"/>
              </a:rPr>
              <a:t>A correct payment, marked paid</a:t>
            </a:r>
          </a:p>
        </p:txBody>
      </p:sp>
      <p:pic>
        <p:nvPicPr>
          <p:cNvPr id="8" name="Picture 7" descr="auto_paid.png"/>
          <p:cNvPicPr>
            <a:picLocks noChangeAspect="1"/>
          </p:cNvPicPr>
          <p:nvPr/>
        </p:nvPicPr>
        <p:blipFill>
          <a:blip r:embed="rId4"/>
          <a:stretch>
            <a:fillRect/>
          </a:stretch>
        </p:blipFill>
        <p:spPr>
          <a:xfrm>
            <a:off x="3246120" y="3154680"/>
            <a:ext cx="3907856" cy="1325880"/>
          </a:xfrm>
          <a:prstGeom prst="rect">
            <a:avLst/>
          </a:prstGeom>
        </p:spPr>
      </p:pic>
      <p:sp>
        <p:nvSpPr>
          <p:cNvPr id="9" name="TextBox 8"/>
          <p:cNvSpPr txBox="1"/>
          <p:nvPr/>
        </p:nvSpPr>
        <p:spPr>
          <a:xfrm>
            <a:off x="548640" y="4846320"/>
            <a:ext cx="457200" cy="1325880"/>
          </a:xfrm>
          <a:prstGeom prst="rect">
            <a:avLst/>
          </a:prstGeom>
          <a:noFill/>
        </p:spPr>
        <p:txBody>
          <a:bodyPr wrap="square" anchor="ctr" lIns="0" rIns="0" tIns="0" bIns="0">
            <a:spAutoFit/>
          </a:bodyPr>
          <a:lstStyle/>
          <a:p>
            <a:pPr algn="l"/>
            <a:r>
              <a:rPr sz="3600" b="1" i="0">
                <a:solidFill>
                  <a:srgbClr val="8EA2FF"/>
                </a:solidFill>
                <a:latin typeface="Arial"/>
              </a:rPr>
              <a:t>3</a:t>
            </a:r>
          </a:p>
        </p:txBody>
      </p:sp>
      <p:sp>
        <p:nvSpPr>
          <p:cNvPr id="10" name="TextBox 9"/>
          <p:cNvSpPr txBox="1"/>
          <p:nvPr/>
        </p:nvSpPr>
        <p:spPr>
          <a:xfrm>
            <a:off x="1051560" y="4846320"/>
            <a:ext cx="2011680" cy="1325880"/>
          </a:xfrm>
          <a:prstGeom prst="rect">
            <a:avLst/>
          </a:prstGeom>
          <a:noFill/>
        </p:spPr>
        <p:txBody>
          <a:bodyPr wrap="square" anchor="ctr" lIns="0" rIns="0" tIns="0" bIns="0">
            <a:spAutoFit/>
          </a:bodyPr>
          <a:lstStyle/>
          <a:p>
            <a:pPr algn="l"/>
            <a:r>
              <a:rPr sz="1800" b="0" i="0">
                <a:solidFill>
                  <a:srgbClr val="F2F4F7"/>
                </a:solidFill>
                <a:latin typeface="Arial"/>
              </a:rPr>
              <a:t>A fake payment, explained</a:t>
            </a:r>
          </a:p>
        </p:txBody>
      </p:sp>
      <p:pic>
        <p:nvPicPr>
          <p:cNvPr id="11" name="Picture 10" descr="fake_verdict.png"/>
          <p:cNvPicPr>
            <a:picLocks noChangeAspect="1"/>
          </p:cNvPicPr>
          <p:nvPr/>
        </p:nvPicPr>
        <p:blipFill>
          <a:blip r:embed="rId5"/>
          <a:stretch>
            <a:fillRect/>
          </a:stretch>
        </p:blipFill>
        <p:spPr>
          <a:xfrm>
            <a:off x="3246120" y="4846320"/>
            <a:ext cx="4428386" cy="1325880"/>
          </a:xfrm>
          <a:prstGeom prst="rect">
            <a:avLst/>
          </a:prstGeom>
        </p:spPr>
      </p:pic>
      <p:pic>
        <p:nvPicPr>
          <p:cNvPr id="12" name="Demo video (60 s)">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8229600" y="2011680"/>
            <a:ext cx="3413455" cy="1920068"/>
          </a:xfrm>
          <a:prstGeom prst="rect">
            <a:avLst/>
          </a:prstGeom>
        </p:spPr>
      </p:pic>
      <p:sp>
        <p:nvSpPr>
          <p:cNvPr id="13" name="Rounded Rectangle 12"/>
          <p:cNvSpPr/>
          <p:nvPr/>
        </p:nvSpPr>
        <p:spPr>
          <a:xfrm>
            <a:off x="8229600" y="4160348"/>
            <a:ext cx="3413455" cy="466344"/>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160348"/>
            <a:ext cx="3413455" cy="466344"/>
          </a:xfrm>
          <a:prstGeom prst="rect">
            <a:avLst/>
          </a:prstGeom>
          <a:noFill/>
        </p:spPr>
        <p:txBody>
          <a:bodyPr wrap="square" anchor="ctr" lIns="0" rIns="0" tIns="0" bIns="0">
            <a:spAutoFit/>
          </a:bodyPr>
          <a:lstStyle/>
          <a:p>
            <a:pPr algn="ctr"/>
            <a:r>
              <a:rPr sz="1800" b="0" i="0">
                <a:solidFill>
                  <a:srgbClr val="8EA2FF"/>
                </a:solidFill>
                <a:latin typeface="Arial"/>
              </a:rPr>
              <a:t>▶  60-second demo video</a:t>
            </a:r>
          </a:p>
        </p:txBody>
      </p:sp>
      <p:sp>
        <p:nvSpPr>
          <p:cNvPr id="15" name="TextBox 14"/>
          <p:cNvSpPr txBox="1"/>
          <p:nvPr/>
        </p:nvSpPr>
        <p:spPr>
          <a:xfrm>
            <a:off x="8229600" y="4708988"/>
            <a:ext cx="3413455" cy="548640"/>
          </a:xfrm>
          <a:prstGeom prst="rect">
            <a:avLst/>
          </a:prstGeom>
          <a:noFill/>
        </p:spPr>
        <p:txBody>
          <a:bodyPr wrap="square" anchor="t" lIns="0" rIns="0" tIns="0" bIns="0">
            <a:spAutoFit/>
          </a:bodyPr>
          <a:lstStyle/>
          <a:p>
            <a:pPr algn="ctr"/>
            <a:r>
              <a:rPr sz="1400" b="0" i="0">
                <a:solidFill>
                  <a:srgbClr val="A3AAB6"/>
                </a:solidFill>
                <a:latin typeface="Arial"/>
              </a:rPr>
              <a:t>Plays in PowerPoint; also attached to my email</a:t>
            </a:r>
          </a:p>
        </p:txBody>
      </p:sp>
      <p:sp>
        <p:nvSpPr>
          <p:cNvPr id="16"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All data is fictional: the company, its customers and every amount.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Others already do much of this well</a:t>
            </a:r>
          </a:p>
        </p:txBody>
      </p:sp>
      <p:graphicFrame>
        <p:nvGraphicFramePr>
          <p:cNvPr id="3" name="Table 2"/>
          <p:cNvGraphicFramePr>
            <a:graphicFrameLocks noGrp="1"/>
          </p:cNvGraphicFramePr>
          <p:nvPr/>
        </p:nvGraphicFramePr>
        <p:xfrm>
          <a:off x="548640" y="1554480"/>
          <a:ext cx="11094415" cy="3017520"/>
        </p:xfrm>
        <a:graphic>
          <a:graphicData uri="http://schemas.openxmlformats.org/drawingml/2006/table">
            <a:tbl>
              <a:tblPr firstRow="1" bandRow="1">
                <a:tableStyleId>{5C22544A-7EE6-4342-B048-85BDC9FD1C3A}</a:tableStyleId>
              </a:tblPr>
              <a:tblGrid>
                <a:gridCol w="3291840"/>
                <a:gridCol w="7802575"/>
              </a:tblGrid>
              <a:tr h="603504">
                <a:tc>
                  <a:txBody>
                    <a:bodyPr/>
                    <a:lstStyle/>
                    <a:p>
                      <a:r>
                        <a:rPr sz="2000" b="1">
                          <a:solidFill>
                            <a:srgbClr val="F2F4F7"/>
                          </a:solidFill>
                          <a:latin typeface="Arial"/>
                        </a:rPr>
                        <a:t>Stripe</a:t>
                      </a:r>
                    </a:p>
                  </a:txBody>
                  <a:tcPr marL="182880" marR="182880" anchor="ctr">
                    <a:solidFill>
                      <a:srgbClr val="151A24"/>
                    </a:solidFill>
                  </a:tcPr>
                </a:tc>
                <a:tc>
                  <a:txBody>
                    <a:bodyPr/>
                    <a:lstStyle/>
                    <a:p>
                      <a:r>
                        <a:rPr sz="2000" b="0">
                          <a:solidFill>
                            <a:srgbClr val="A3AAB6"/>
                          </a:solidFill>
                          <a:latin typeface="Arial"/>
                        </a:rPr>
                        <a:t>Checkout and payment links</a:t>
                      </a:r>
                    </a:p>
                  </a:txBody>
                  <a:tcPr marL="182880" marR="182880" anchor="ctr">
                    <a:solidFill>
                      <a:srgbClr val="151A24"/>
                    </a:solidFill>
                  </a:tcPr>
                </a:tc>
              </a:tr>
              <a:tr h="603504">
                <a:tc>
                  <a:txBody>
                    <a:bodyPr/>
                    <a:lstStyle/>
                    <a:p>
                      <a:r>
                        <a:rPr sz="2000" b="1">
                          <a:solidFill>
                            <a:srgbClr val="F2F4F7"/>
                          </a:solidFill>
                          <a:latin typeface="Arial"/>
                        </a:rPr>
                        <a:t>HitPay + Triple-A</a:t>
                      </a:r>
                    </a:p>
                  </a:txBody>
                  <a:tcPr marL="182880" marR="182880" anchor="ctr">
                    <a:solidFill>
                      <a:srgbClr val="151A24"/>
                    </a:solidFill>
                  </a:tcPr>
                </a:tc>
                <a:tc>
                  <a:txBody>
                    <a:bodyPr/>
                    <a:lstStyle/>
                    <a:p>
                      <a:r>
                        <a:rPr sz="2000" b="0">
                          <a:solidFill>
                            <a:srgbClr val="A3AAB6"/>
                          </a:solidFill>
                          <a:latin typeface="Arial"/>
                        </a:rPr>
                        <a:t>Stablecoins for Singapore shops</a:t>
                      </a:r>
                    </a:p>
                  </a:txBody>
                  <a:tcPr marL="182880" marR="182880" anchor="ctr">
                    <a:solidFill>
                      <a:srgbClr val="151A24"/>
                    </a:solidFill>
                  </a:tcPr>
                </a:tc>
              </a:tr>
              <a:tr h="603504">
                <a:tc>
                  <a:txBody>
                    <a:bodyPr/>
                    <a:lstStyle/>
                    <a:p>
                      <a:r>
                        <a:rPr sz="2000" b="1">
                          <a:solidFill>
                            <a:srgbClr val="F2F4F7"/>
                          </a:solidFill>
                          <a:latin typeface="Arial"/>
                        </a:rPr>
                        <a:t>Request Finance</a:t>
                      </a:r>
                    </a:p>
                  </a:txBody>
                  <a:tcPr marL="182880" marR="182880" anchor="ctr">
                    <a:solidFill>
                      <a:srgbClr val="151A24"/>
                    </a:solidFill>
                  </a:tcPr>
                </a:tc>
                <a:tc>
                  <a:txBody>
                    <a:bodyPr/>
                    <a:lstStyle/>
                    <a:p>
                      <a:r>
                        <a:rPr sz="2000" b="0">
                          <a:solidFill>
                            <a:srgbClr val="A3AAB6"/>
                          </a:solidFill>
                          <a:latin typeface="Arial"/>
                        </a:rPr>
                        <a:t>Invoices, marked paid</a:t>
                      </a:r>
                    </a:p>
                  </a:txBody>
                  <a:tcPr marL="182880" marR="182880" anchor="ctr">
                    <a:solidFill>
                      <a:srgbClr val="151A24"/>
                    </a:solidFill>
                  </a:tcPr>
                </a:tc>
              </a:tr>
              <a:tr h="603504">
                <a:tc>
                  <a:txBody>
                    <a:bodyPr/>
                    <a:lstStyle/>
                    <a:p>
                      <a:r>
                        <a:rPr sz="2000" b="1">
                          <a:solidFill>
                            <a:srgbClr val="F2F4F7"/>
                          </a:solidFill>
                          <a:latin typeface="Arial"/>
                        </a:rPr>
                        <a:t>Wallets</a:t>
                      </a:r>
                    </a:p>
                  </a:txBody>
                  <a:tcPr marL="182880" marR="182880" anchor="ctr">
                    <a:solidFill>
                      <a:srgbClr val="151A24"/>
                    </a:solidFill>
                  </a:tcPr>
                </a:tc>
                <a:tc>
                  <a:txBody>
                    <a:bodyPr/>
                    <a:lstStyle/>
                    <a:p>
                      <a:r>
                        <a:rPr sz="2000" b="0">
                          <a:solidFill>
                            <a:srgbClr val="A3AAB6"/>
                          </a:solidFill>
                          <a:latin typeface="Arial"/>
                        </a:rPr>
                        <a:t>Warn senders of look-alike addresses</a:t>
                      </a:r>
                    </a:p>
                  </a:txBody>
                  <a:tcPr marL="182880" marR="182880" anchor="ctr">
                    <a:solidFill>
                      <a:srgbClr val="151A24"/>
                    </a:solidFill>
                  </a:tcPr>
                </a:tc>
              </a:tr>
              <a:tr h="603504">
                <a:tc>
                  <a:txBody>
                    <a:bodyPr/>
                    <a:lstStyle/>
                    <a:p>
                      <a:r>
                        <a:rPr sz="2000" b="1">
                          <a:solidFill>
                            <a:srgbClr val="F2F4F7"/>
                          </a:solidFill>
                          <a:latin typeface="Arial"/>
                        </a:rPr>
                        <a:t>Blockaid</a:t>
                      </a:r>
                    </a:p>
                  </a:txBody>
                  <a:tcPr marL="182880" marR="182880" anchor="ctr">
                    <a:solidFill>
                      <a:srgbClr val="151A24"/>
                    </a:solidFill>
                  </a:tcPr>
                </a:tc>
                <a:tc>
                  <a:txBody>
                    <a:bodyPr/>
                    <a:lstStyle/>
                    <a:p>
                      <a:r>
                        <a:rPr sz="2000" b="0">
                          <a:solidFill>
                            <a:srgbClr val="A3AAB6"/>
                          </a:solidFill>
                          <a:latin typeface="Arial"/>
                        </a:rPr>
                        <a:t>Flags scam tokens</a:t>
                      </a:r>
                    </a:p>
                  </a:txBody>
                  <a:tcPr marL="182880" marR="182880" anchor="ctr">
                    <a:solidFill>
                      <a:srgbClr val="151A24"/>
                    </a:solidFill>
                  </a:tcPr>
                </a:tc>
              </a:tr>
            </a:tbl>
          </a:graphicData>
        </a:graphic>
      </p:graphicFrame>
      <p:sp>
        <p:nvSpPr>
          <p:cNvPr id="4" name="Rounded Rectangle 3"/>
          <p:cNvSpPr/>
          <p:nvPr/>
        </p:nvSpPr>
        <p:spPr>
          <a:xfrm>
            <a:off x="548640" y="4846320"/>
            <a:ext cx="11094415" cy="96012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846320"/>
            <a:ext cx="10454335" cy="960120"/>
          </a:xfrm>
          <a:prstGeom prst="rect">
            <a:avLst/>
          </a:prstGeom>
          <a:noFill/>
        </p:spPr>
        <p:txBody>
          <a:bodyPr wrap="square" anchor="ctr" lIns="0" rIns="0" tIns="0" bIns="0">
            <a:spAutoFit/>
          </a:bodyPr>
          <a:lstStyle/>
          <a:p>
            <a:pPr algn="l"/>
            <a:r>
              <a:rPr sz="2000" b="0" i="0">
                <a:solidFill>
                  <a:srgbClr val="F2F4F7"/>
                </a:solidFill>
                <a:latin typeface="Arial"/>
              </a:rPr>
              <a:t>Every piece exists somewhere. The gap that may remain: direct business payments and their exceptions</a:t>
            </a:r>
            <a:r>
              <a:rPr sz="2600" b="1" i="0">
                <a:solidFill>
                  <a:srgbClr val="B9C6FF"/>
                </a:solidFill>
                <a:latin typeface="Arial"/>
              </a:rPr>
              <a:t>◦</a:t>
            </a:r>
            <a:r>
              <a:rPr sz="2000" b="0" i="0">
                <a:solidFill>
                  <a:srgbClr val="F2F4F7"/>
                </a:solidFill>
                <a:latin typeface="Arial"/>
              </a:rPr>
              <a:t>. I'm not sure.</a:t>
            </a:r>
          </a:p>
        </p:txBody>
      </p:sp>
      <p:sp>
        <p:nvSpPr>
          <p:cNvPr id="6"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docs.stripe.com · fintechnews.sg · eco.com · KuCoin News · trustwallet.com · blockaid.io. Details in the speaker notes.</a:t>
            </a:r>
          </a:p>
          <a:p>
            <a:pPr algn="l"/>
            <a:r>
              <a:rPr sz="1000" b="0" i="0">
                <a:solidFill>
                  <a:srgbClr val="A3AAB6"/>
                </a:solidFill>
                <a:latin typeface="Arial"/>
              </a:rPr>
              <a:t>◦ estimate or assumption   † untested   unmarked = sourced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200" b="1" i="0">
                <a:solidFill>
                  <a:srgbClr val="F2F4F7"/>
                </a:solidFill>
                <a:latin typeface="Arial"/>
              </a:rPr>
              <a:t>What I've learned: it works, but the need is untested</a:t>
            </a:r>
          </a:p>
        </p:txBody>
      </p:sp>
      <p:sp>
        <p:nvSpPr>
          <p:cNvPr id="3" name="Rounded Rectangle 2"/>
          <p:cNvSpPr/>
          <p:nvPr/>
        </p:nvSpPr>
        <p:spPr>
          <a:xfrm>
            <a:off x="548640" y="1508760"/>
            <a:ext cx="11094415" cy="694944"/>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454335" cy="694944"/>
          </a:xfrm>
          <a:prstGeom prst="rect">
            <a:avLst/>
          </a:prstGeom>
          <a:noFill/>
        </p:spPr>
        <p:txBody>
          <a:bodyPr wrap="square" anchor="ctr" lIns="0" rIns="0" tIns="0" bIns="0">
            <a:spAutoFit/>
          </a:bodyPr>
          <a:lstStyle/>
          <a:p>
            <a:pPr algn="l"/>
            <a:r>
              <a:rPr sz="2000" b="0" i="0">
                <a:solidFill>
                  <a:srgbClr val="F2F4F7"/>
                </a:solidFill>
                <a:latin typeface="Arial"/>
              </a:rPr>
              <a:t>The demo handles 7 payment situations</a:t>
            </a:r>
          </a:p>
        </p:txBody>
      </p:sp>
      <p:sp>
        <p:nvSpPr>
          <p:cNvPr id="5" name="Rounded Rectangle 4"/>
          <p:cNvSpPr/>
          <p:nvPr/>
        </p:nvSpPr>
        <p:spPr>
          <a:xfrm>
            <a:off x="548640" y="2350008"/>
            <a:ext cx="11094415" cy="694944"/>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350008"/>
            <a:ext cx="10454335" cy="694944"/>
          </a:xfrm>
          <a:prstGeom prst="rect">
            <a:avLst/>
          </a:prstGeom>
          <a:noFill/>
        </p:spPr>
        <p:txBody>
          <a:bodyPr wrap="square" anchor="ctr" lIns="0" rIns="0" tIns="0" bIns="0">
            <a:spAutoFit/>
          </a:bodyPr>
          <a:lstStyle/>
          <a:p>
            <a:pPr algn="l"/>
            <a:r>
              <a:rPr sz="2000" b="0" i="0">
                <a:solidFill>
                  <a:srgbClr val="F2F4F7"/>
                </a:solidFill>
                <a:latin typeface="Arial"/>
              </a:rPr>
              <a:t>52 of 52 new real transactions: correct verdict¹</a:t>
            </a:r>
          </a:p>
        </p:txBody>
      </p:sp>
      <p:sp>
        <p:nvSpPr>
          <p:cNvPr id="7" name="Rounded Rectangle 6"/>
          <p:cNvSpPr/>
          <p:nvPr/>
        </p:nvSpPr>
        <p:spPr>
          <a:xfrm>
            <a:off x="548640" y="3191256"/>
            <a:ext cx="11094415" cy="694944"/>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91256"/>
            <a:ext cx="10454335" cy="694944"/>
          </a:xfrm>
          <a:prstGeom prst="rect">
            <a:avLst/>
          </a:prstGeom>
          <a:noFill/>
        </p:spPr>
        <p:txBody>
          <a:bodyPr wrap="square" anchor="ctr" lIns="0" rIns="0" tIns="0" bIns="0">
            <a:spAutoFit/>
          </a:bodyPr>
          <a:lstStyle/>
          <a:p>
            <a:pPr algn="l"/>
            <a:r>
              <a:rPr sz="2000" b="0" i="0">
                <a:solidFill>
                  <a:srgbClr val="F2F4F7"/>
                </a:solidFill>
                <a:latin typeface="Arial"/>
              </a:rPr>
              <a:t>3 early calls, all with vendors: “not really an issue”</a:t>
            </a:r>
          </a:p>
        </p:txBody>
      </p:sp>
      <p:sp>
        <p:nvSpPr>
          <p:cNvPr id="9" name="Rounded Rectangle 8"/>
          <p:cNvSpPr/>
          <p:nvPr/>
        </p:nvSpPr>
        <p:spPr>
          <a:xfrm>
            <a:off x="548640" y="4032504"/>
            <a:ext cx="11094415" cy="694944"/>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32504"/>
            <a:ext cx="10454335" cy="694944"/>
          </a:xfrm>
          <a:prstGeom prst="rect">
            <a:avLst/>
          </a:prstGeom>
          <a:noFill/>
        </p:spPr>
        <p:txBody>
          <a:bodyPr wrap="square" anchor="ctr" lIns="0" rIns="0" tIns="0" bIns="0">
            <a:spAutoFit/>
          </a:bodyPr>
          <a:lstStyle/>
          <a:p>
            <a:pPr algn="l"/>
            <a:r>
              <a:rPr sz="2000" b="0" i="0">
                <a:solidFill>
                  <a:srgbClr val="B9C6FF"/>
                </a:solidFill>
                <a:latin typeface="Arial"/>
              </a:rPr>
              <a:t>Not yet spoken to a finance team that receives stablecoins</a:t>
            </a:r>
          </a:p>
        </p:txBody>
      </p:sp>
      <p:sp>
        <p:nvSpPr>
          <p:cNvPr id="11" name="Rounded Rectangle 10"/>
          <p:cNvSpPr/>
          <p:nvPr/>
        </p:nvSpPr>
        <p:spPr>
          <a:xfrm>
            <a:off x="548640" y="4873752"/>
            <a:ext cx="11094415" cy="694944"/>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873752"/>
            <a:ext cx="10454335" cy="694944"/>
          </a:xfrm>
          <a:prstGeom prst="rect">
            <a:avLst/>
          </a:prstGeom>
          <a:noFill/>
        </p:spPr>
        <p:txBody>
          <a:bodyPr wrap="square" anchor="ctr" lIns="0" rIns="0" tIns="0" bIns="0">
            <a:spAutoFit/>
          </a:bodyPr>
          <a:lstStyle/>
          <a:p>
            <a:pPr algn="l"/>
            <a:r>
              <a:rPr sz="2000" b="0" i="0">
                <a:solidFill>
                  <a:srgbClr val="B9C6FF"/>
                </a:solidFill>
                <a:latin typeface="Arial"/>
              </a:rPr>
              <a:t>0 customers</a:t>
            </a:r>
          </a:p>
        </p:txBody>
      </p:sp>
      <p:sp>
        <p:nvSpPr>
          <p:cNvPr id="13"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demo/REPORT.md: held-out cases; the matching and explanations are not yet tested on real data. Calls: 16 Oct 2026, on an earlier version of the idea.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The four things I'm most unsure about</a:t>
            </a:r>
          </a:p>
        </p:txBody>
      </p:sp>
      <p:sp>
        <p:nvSpPr>
          <p:cNvPr id="3" name="TextBox 2"/>
          <p:cNvSpPr txBox="1"/>
          <p:nvPr/>
        </p:nvSpPr>
        <p:spPr>
          <a:xfrm>
            <a:off x="548640" y="1554480"/>
            <a:ext cx="640080" cy="868680"/>
          </a:xfrm>
          <a:prstGeom prst="rect">
            <a:avLst/>
          </a:prstGeom>
          <a:noFill/>
        </p:spPr>
        <p:txBody>
          <a:bodyPr wrap="square" anchor="ctr" lIns="0" rIns="0" tIns="0" bIns="0">
            <a:spAutoFit/>
          </a:bodyPr>
          <a:lstStyle/>
          <a:p>
            <a:pPr algn="l"/>
            <a:r>
              <a:rPr sz="3600" b="1" i="0">
                <a:solidFill>
                  <a:srgbClr val="8EA2FF"/>
                </a:solidFill>
                <a:latin typeface="Arial"/>
              </a:rPr>
              <a:t>1</a:t>
            </a:r>
          </a:p>
        </p:txBody>
      </p:sp>
      <p:sp>
        <p:nvSpPr>
          <p:cNvPr id="4" name="Rounded Rectangle 3"/>
          <p:cNvSpPr/>
          <p:nvPr/>
        </p:nvSpPr>
        <p:spPr>
          <a:xfrm>
            <a:off x="1280160" y="1554480"/>
            <a:ext cx="10362895" cy="8686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00200" y="1554480"/>
            <a:ext cx="9722815" cy="868680"/>
          </a:xfrm>
          <a:prstGeom prst="rect">
            <a:avLst/>
          </a:prstGeom>
          <a:noFill/>
        </p:spPr>
        <p:txBody>
          <a:bodyPr wrap="square" anchor="ctr" lIns="0" rIns="0" tIns="0" bIns="0">
            <a:spAutoFit/>
          </a:bodyPr>
          <a:lstStyle/>
          <a:p>
            <a:pPr algn="l"/>
            <a:r>
              <a:rPr sz="2200" b="0" i="0">
                <a:solidFill>
                  <a:srgbClr val="F2F4F7"/>
                </a:solidFill>
                <a:latin typeface="Arial"/>
              </a:rPr>
              <a:t>Do customers mostly use checkout pages, or pay directly?</a:t>
            </a:r>
          </a:p>
        </p:txBody>
      </p:sp>
      <p:sp>
        <p:nvSpPr>
          <p:cNvPr id="6" name="TextBox 5"/>
          <p:cNvSpPr txBox="1"/>
          <p:nvPr/>
        </p:nvSpPr>
        <p:spPr>
          <a:xfrm>
            <a:off x="548640" y="2606039"/>
            <a:ext cx="640080" cy="868680"/>
          </a:xfrm>
          <a:prstGeom prst="rect">
            <a:avLst/>
          </a:prstGeom>
          <a:noFill/>
        </p:spPr>
        <p:txBody>
          <a:bodyPr wrap="square" anchor="ctr" lIns="0" rIns="0" tIns="0" bIns="0">
            <a:spAutoFit/>
          </a:bodyPr>
          <a:lstStyle/>
          <a:p>
            <a:pPr algn="l"/>
            <a:r>
              <a:rPr sz="3600" b="1" i="0">
                <a:solidFill>
                  <a:srgbClr val="8EA2FF"/>
                </a:solidFill>
                <a:latin typeface="Arial"/>
              </a:rPr>
              <a:t>2</a:t>
            </a:r>
          </a:p>
        </p:txBody>
      </p:sp>
      <p:sp>
        <p:nvSpPr>
          <p:cNvPr id="7" name="Rounded Rectangle 6"/>
          <p:cNvSpPr/>
          <p:nvPr/>
        </p:nvSpPr>
        <p:spPr>
          <a:xfrm>
            <a:off x="1280160" y="2606039"/>
            <a:ext cx="10362895" cy="8686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2606039"/>
            <a:ext cx="9722815" cy="868680"/>
          </a:xfrm>
          <a:prstGeom prst="rect">
            <a:avLst/>
          </a:prstGeom>
          <a:noFill/>
        </p:spPr>
        <p:txBody>
          <a:bodyPr wrap="square" anchor="ctr" lIns="0" rIns="0" tIns="0" bIns="0">
            <a:spAutoFit/>
          </a:bodyPr>
          <a:lstStyle/>
          <a:p>
            <a:pPr algn="l"/>
            <a:r>
              <a:rPr sz="2200" b="0" i="0">
                <a:solidFill>
                  <a:srgbClr val="F2F4F7"/>
                </a:solidFill>
                <a:latin typeface="Arial"/>
              </a:rPr>
              <a:t>A business, or a feature for payment companies?</a:t>
            </a:r>
          </a:p>
        </p:txBody>
      </p:sp>
      <p:sp>
        <p:nvSpPr>
          <p:cNvPr id="9" name="TextBox 8"/>
          <p:cNvSpPr txBox="1"/>
          <p:nvPr/>
        </p:nvSpPr>
        <p:spPr>
          <a:xfrm>
            <a:off x="548640" y="3657600"/>
            <a:ext cx="640080" cy="868680"/>
          </a:xfrm>
          <a:prstGeom prst="rect">
            <a:avLst/>
          </a:prstGeom>
          <a:noFill/>
        </p:spPr>
        <p:txBody>
          <a:bodyPr wrap="square" anchor="ctr" lIns="0" rIns="0" tIns="0" bIns="0">
            <a:spAutoFit/>
          </a:bodyPr>
          <a:lstStyle/>
          <a:p>
            <a:pPr algn="l"/>
            <a:r>
              <a:rPr sz="3600" b="1" i="0">
                <a:solidFill>
                  <a:srgbClr val="8EA2FF"/>
                </a:solidFill>
                <a:latin typeface="Arial"/>
              </a:rPr>
              <a:t>3</a:t>
            </a:r>
          </a:p>
        </p:txBody>
      </p:sp>
      <p:sp>
        <p:nvSpPr>
          <p:cNvPr id="10" name="Rounded Rectangle 9"/>
          <p:cNvSpPr/>
          <p:nvPr/>
        </p:nvSpPr>
        <p:spPr>
          <a:xfrm>
            <a:off x="1280160" y="3657600"/>
            <a:ext cx="10362895" cy="8686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3657600"/>
            <a:ext cx="9722815" cy="868680"/>
          </a:xfrm>
          <a:prstGeom prst="rect">
            <a:avLst/>
          </a:prstGeom>
          <a:noFill/>
        </p:spPr>
        <p:txBody>
          <a:bodyPr wrap="square" anchor="ctr" lIns="0" rIns="0" tIns="0" bIns="0">
            <a:spAutoFit/>
          </a:bodyPr>
          <a:lstStyle/>
          <a:p>
            <a:pPr algn="l"/>
            <a:r>
              <a:rPr sz="2200" b="0" i="0">
                <a:solidFill>
                  <a:srgbClr val="F2F4F7"/>
                </a:solidFill>
                <a:latin typeface="Arial"/>
              </a:rPr>
              <a:t>Serve finance teams, or plug into payment companies?</a:t>
            </a:r>
          </a:p>
        </p:txBody>
      </p:sp>
      <p:sp>
        <p:nvSpPr>
          <p:cNvPr id="12" name="TextBox 11"/>
          <p:cNvSpPr txBox="1"/>
          <p:nvPr/>
        </p:nvSpPr>
        <p:spPr>
          <a:xfrm>
            <a:off x="548640" y="4709159"/>
            <a:ext cx="640080" cy="868680"/>
          </a:xfrm>
          <a:prstGeom prst="rect">
            <a:avLst/>
          </a:prstGeom>
          <a:noFill/>
        </p:spPr>
        <p:txBody>
          <a:bodyPr wrap="square" anchor="ctr" lIns="0" rIns="0" tIns="0" bIns="0">
            <a:spAutoFit/>
          </a:bodyPr>
          <a:lstStyle/>
          <a:p>
            <a:pPr algn="l"/>
            <a:r>
              <a:rPr sz="3600" b="1" i="0">
                <a:solidFill>
                  <a:srgbClr val="8EA2FF"/>
                </a:solidFill>
                <a:latin typeface="Arial"/>
              </a:rPr>
              <a:t>4</a:t>
            </a:r>
          </a:p>
        </p:txBody>
      </p:sp>
      <p:sp>
        <p:nvSpPr>
          <p:cNvPr id="13" name="Rounded Rectangle 12"/>
          <p:cNvSpPr/>
          <p:nvPr/>
        </p:nvSpPr>
        <p:spPr>
          <a:xfrm>
            <a:off x="1280160" y="4709159"/>
            <a:ext cx="10362895" cy="8686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4709159"/>
            <a:ext cx="9722815" cy="868680"/>
          </a:xfrm>
          <a:prstGeom prst="rect">
            <a:avLst/>
          </a:prstGeom>
          <a:noFill/>
        </p:spPr>
        <p:txBody>
          <a:bodyPr wrap="square" anchor="ctr" lIns="0" rIns="0" tIns="0" bIns="0">
            <a:spAutoFit/>
          </a:bodyPr>
          <a:lstStyle/>
          <a:p>
            <a:pPr algn="l"/>
            <a:r>
              <a:rPr sz="2200" b="0" i="0">
                <a:solidFill>
                  <a:srgbClr val="F2F4F7"/>
                </a:solidFill>
                <a:latin typeface="Arial"/>
              </a:rPr>
              <a:t>What licensing applies to a read-only tool?</a:t>
            </a:r>
          </a:p>
        </p:txBody>
      </p:sp>
      <p:sp>
        <p:nvSpPr>
          <p:cNvPr id="15"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All four are open; I don't know the answers yet.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Where I'd value your guidance</a:t>
            </a:r>
          </a:p>
        </p:txBody>
      </p:sp>
      <p:sp>
        <p:nvSpPr>
          <p:cNvPr id="3" name="TextBox 2"/>
          <p:cNvSpPr txBox="1"/>
          <p:nvPr/>
        </p:nvSpPr>
        <p:spPr>
          <a:xfrm>
            <a:off x="548640" y="1600200"/>
            <a:ext cx="731520" cy="1005840"/>
          </a:xfrm>
          <a:prstGeom prst="rect">
            <a:avLst/>
          </a:prstGeom>
          <a:noFill/>
        </p:spPr>
        <p:txBody>
          <a:bodyPr wrap="square" anchor="t" lIns="0" rIns="0" tIns="0" bIns="0">
            <a:spAutoFit/>
          </a:bodyPr>
          <a:lstStyle/>
          <a:p>
            <a:pPr algn="l"/>
            <a:r>
              <a:rPr sz="4000" b="1" i="0">
                <a:solidFill>
                  <a:srgbClr val="8EA2FF"/>
                </a:solidFill>
                <a:latin typeface="Arial"/>
              </a:rPr>
              <a:t>1</a:t>
            </a:r>
          </a:p>
        </p:txBody>
      </p:sp>
      <p:sp>
        <p:nvSpPr>
          <p:cNvPr id="4" name="TextBox 3"/>
          <p:cNvSpPr txBox="1"/>
          <p:nvPr/>
        </p:nvSpPr>
        <p:spPr>
          <a:xfrm>
            <a:off x="1325880" y="1645920"/>
            <a:ext cx="10058400" cy="502920"/>
          </a:xfrm>
          <a:prstGeom prst="rect">
            <a:avLst/>
          </a:prstGeom>
          <a:noFill/>
        </p:spPr>
        <p:txBody>
          <a:bodyPr wrap="square" anchor="t" lIns="0" rIns="0" tIns="0" bIns="0">
            <a:spAutoFit/>
          </a:bodyPr>
          <a:lstStyle/>
          <a:p>
            <a:pPr algn="l"/>
            <a:r>
              <a:rPr sz="2600" b="1" i="0">
                <a:solidFill>
                  <a:srgbClr val="F2F4F7"/>
                </a:solidFill>
                <a:latin typeface="Arial"/>
              </a:rPr>
              <a:t>Does the direct-payment gap seem real to you?</a:t>
            </a:r>
          </a:p>
        </p:txBody>
      </p:sp>
      <p:sp>
        <p:nvSpPr>
          <p:cNvPr id="5" name="TextBox 4"/>
          <p:cNvSpPr txBox="1"/>
          <p:nvPr/>
        </p:nvSpPr>
        <p:spPr>
          <a:xfrm>
            <a:off x="1325880" y="2194560"/>
            <a:ext cx="10058400" cy="457200"/>
          </a:xfrm>
          <a:prstGeom prst="rect">
            <a:avLst/>
          </a:prstGeom>
          <a:noFill/>
        </p:spPr>
        <p:txBody>
          <a:bodyPr wrap="square" anchor="t" lIns="0" rIns="0" tIns="0" bIns="0">
            <a:spAutoFit/>
          </a:bodyPr>
          <a:lstStyle/>
          <a:p>
            <a:pPr algn="l"/>
            <a:r>
              <a:rPr sz="2000" b="0" i="0">
                <a:solidFill>
                  <a:srgbClr val="A3AAB6"/>
                </a:solidFill>
                <a:latin typeface="Arial"/>
              </a:rPr>
              <a:t>From what you've seen</a:t>
            </a:r>
          </a:p>
        </p:txBody>
      </p:sp>
      <p:sp>
        <p:nvSpPr>
          <p:cNvPr id="6" name="TextBox 5"/>
          <p:cNvSpPr txBox="1"/>
          <p:nvPr/>
        </p:nvSpPr>
        <p:spPr>
          <a:xfrm>
            <a:off x="548640" y="2926080"/>
            <a:ext cx="731520" cy="1005840"/>
          </a:xfrm>
          <a:prstGeom prst="rect">
            <a:avLst/>
          </a:prstGeom>
          <a:noFill/>
        </p:spPr>
        <p:txBody>
          <a:bodyPr wrap="square" anchor="t" lIns="0" rIns="0" tIns="0" bIns="0">
            <a:spAutoFit/>
          </a:bodyPr>
          <a:lstStyle/>
          <a:p>
            <a:pPr algn="l"/>
            <a:r>
              <a:rPr sz="4000" b="1" i="0">
                <a:solidFill>
                  <a:srgbClr val="8EA2FF"/>
                </a:solidFill>
                <a:latin typeface="Arial"/>
              </a:rPr>
              <a:t>2</a:t>
            </a:r>
          </a:p>
        </p:txBody>
      </p:sp>
      <p:sp>
        <p:nvSpPr>
          <p:cNvPr id="7" name="TextBox 6"/>
          <p:cNvSpPr txBox="1"/>
          <p:nvPr/>
        </p:nvSpPr>
        <p:spPr>
          <a:xfrm>
            <a:off x="1325880" y="2971800"/>
            <a:ext cx="10058400" cy="502920"/>
          </a:xfrm>
          <a:prstGeom prst="rect">
            <a:avLst/>
          </a:prstGeom>
          <a:noFill/>
        </p:spPr>
        <p:txBody>
          <a:bodyPr wrap="square" anchor="t" lIns="0" rIns="0" tIns="0" bIns="0">
            <a:spAutoFit/>
          </a:bodyPr>
          <a:lstStyle/>
          <a:p>
            <a:pPr algn="l"/>
            <a:r>
              <a:rPr sz="2600" b="1" i="0">
                <a:solidFill>
                  <a:srgbClr val="F2F4F7"/>
                </a:solidFill>
                <a:latin typeface="Arial"/>
              </a:rPr>
              <a:t>What would you test first, and how?</a:t>
            </a:r>
          </a:p>
        </p:txBody>
      </p:sp>
      <p:sp>
        <p:nvSpPr>
          <p:cNvPr id="8" name="TextBox 7"/>
          <p:cNvSpPr txBox="1"/>
          <p:nvPr/>
        </p:nvSpPr>
        <p:spPr>
          <a:xfrm>
            <a:off x="1325880" y="3520440"/>
            <a:ext cx="10058400" cy="457200"/>
          </a:xfrm>
          <a:prstGeom prst="rect">
            <a:avLst/>
          </a:prstGeom>
          <a:noFill/>
        </p:spPr>
        <p:txBody>
          <a:bodyPr wrap="square" anchor="t" lIns="0" rIns="0" tIns="0" bIns="0">
            <a:spAutoFit/>
          </a:bodyPr>
          <a:lstStyle/>
          <a:p>
            <a:pPr algn="l"/>
            <a:r>
              <a:rPr sz="2000" b="0" i="0">
                <a:solidFill>
                  <a:srgbClr val="A3AAB6"/>
                </a:solidFill>
                <a:latin typeface="Arial"/>
              </a:rPr>
              <a:t>The quickest way to learn</a:t>
            </a:r>
          </a:p>
        </p:txBody>
      </p:sp>
      <p:sp>
        <p:nvSpPr>
          <p:cNvPr id="9" name="TextBox 8"/>
          <p:cNvSpPr txBox="1"/>
          <p:nvPr/>
        </p:nvSpPr>
        <p:spPr>
          <a:xfrm>
            <a:off x="548640" y="4251960"/>
            <a:ext cx="731520" cy="1005840"/>
          </a:xfrm>
          <a:prstGeom prst="rect">
            <a:avLst/>
          </a:prstGeom>
          <a:noFill/>
        </p:spPr>
        <p:txBody>
          <a:bodyPr wrap="square" anchor="t" lIns="0" rIns="0" tIns="0" bIns="0">
            <a:spAutoFit/>
          </a:bodyPr>
          <a:lstStyle/>
          <a:p>
            <a:pPr algn="l"/>
            <a:r>
              <a:rPr sz="4000" b="1" i="0">
                <a:solidFill>
                  <a:srgbClr val="8EA2FF"/>
                </a:solidFill>
                <a:latin typeface="Arial"/>
              </a:rPr>
              <a:t>3</a:t>
            </a:r>
          </a:p>
        </p:txBody>
      </p:sp>
      <p:sp>
        <p:nvSpPr>
          <p:cNvPr id="10" name="TextBox 9"/>
          <p:cNvSpPr txBox="1"/>
          <p:nvPr/>
        </p:nvSpPr>
        <p:spPr>
          <a:xfrm>
            <a:off x="1325880" y="4297680"/>
            <a:ext cx="10058400" cy="502920"/>
          </a:xfrm>
          <a:prstGeom prst="rect">
            <a:avLst/>
          </a:prstGeom>
          <a:noFill/>
        </p:spPr>
        <p:txBody>
          <a:bodyPr wrap="square" anchor="t" lIns="0" rIns="0" tIns="0" bIns="0">
            <a:spAutoFit/>
          </a:bodyPr>
          <a:lstStyle/>
          <a:p>
            <a:pPr algn="l"/>
            <a:r>
              <a:rPr sz="2600" b="1" i="0">
                <a:solidFill>
                  <a:srgbClr val="F2F4F7"/>
                </a:solidFill>
                <a:latin typeface="Arial"/>
              </a:rPr>
              <a:t>Is there anyone I should speak to?</a:t>
            </a:r>
          </a:p>
        </p:txBody>
      </p:sp>
      <p:sp>
        <p:nvSpPr>
          <p:cNvPr id="11" name="TextBox 10"/>
          <p:cNvSpPr txBox="1"/>
          <p:nvPr/>
        </p:nvSpPr>
        <p:spPr>
          <a:xfrm>
            <a:off x="1325880" y="4846320"/>
            <a:ext cx="10058400" cy="457200"/>
          </a:xfrm>
          <a:prstGeom prst="rect">
            <a:avLst/>
          </a:prstGeom>
          <a:noFill/>
        </p:spPr>
        <p:txBody>
          <a:bodyPr wrap="square" anchor="t" lIns="0" rIns="0" tIns="0" bIns="0">
            <a:spAutoFit/>
          </a:bodyPr>
          <a:lstStyle/>
          <a:p>
            <a:pPr algn="l"/>
            <a:r>
              <a:rPr sz="2000" b="0" i="0">
                <a:solidFill>
                  <a:srgbClr val="A3AAB6"/>
                </a:solidFill>
                <a:latin typeface="Arial"/>
              </a:rPr>
              <a:t>Especially finance teams receiving stablecoins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Thank you for reading</a:t>
            </a:r>
          </a:p>
        </p:txBody>
      </p:sp>
      <p:sp>
        <p:nvSpPr>
          <p:cNvPr id="3" name="TextBox 2"/>
          <p:cNvSpPr txBox="1"/>
          <p:nvPr/>
        </p:nvSpPr>
        <p:spPr>
          <a:xfrm>
            <a:off x="548640" y="1554480"/>
            <a:ext cx="11094415" cy="1097280"/>
          </a:xfrm>
          <a:prstGeom prst="rect">
            <a:avLst/>
          </a:prstGeom>
          <a:noFill/>
        </p:spPr>
        <p:txBody>
          <a:bodyPr wrap="square" anchor="t" lIns="0" rIns="0" tIns="0" bIns="0">
            <a:spAutoFit/>
          </a:bodyPr>
          <a:lstStyle/>
          <a:p>
            <a:pPr algn="l"/>
            <a:r>
              <a:rPr sz="2600" b="0" i="0">
                <a:solidFill>
                  <a:srgbClr val="F2F4F7"/>
                </a:solidFill>
                <a:latin typeface="Arial"/>
              </a:rPr>
              <a:t>Thank you for taking the time. Any reaction, however brief, would help me.</a:t>
            </a:r>
          </a:p>
        </p:txBody>
      </p:sp>
      <p:sp>
        <p:nvSpPr>
          <p:cNvPr id="4" name="Rounded Rectangle 3"/>
          <p:cNvSpPr/>
          <p:nvPr/>
        </p:nvSpPr>
        <p:spPr>
          <a:xfrm>
            <a:off x="548640" y="2926080"/>
            <a:ext cx="11094415" cy="17373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26080"/>
            <a:ext cx="10362895" cy="1737360"/>
          </a:xfrm>
          <a:prstGeom prst="rect">
            <a:avLst/>
          </a:prstGeom>
          <a:noFill/>
        </p:spPr>
        <p:txBody>
          <a:bodyPr wrap="square" anchor="ctr" lIns="0" rIns="0" tIns="0" bIns="0">
            <a:spAutoFit/>
          </a:bodyPr>
          <a:lstStyle/>
          <a:p>
            <a:pPr algn="l">
              <a:spcAft>
                <a:spcPts val="400"/>
              </a:spcAft>
            </a:pPr>
            <a:r>
              <a:rPr sz="2600" b="1" i="0">
                <a:solidFill>
                  <a:srgbClr val="F2F4F7"/>
                </a:solidFill>
                <a:latin typeface="Arial"/>
              </a:rPr>
              <a:t>Aashmiin Kaur</a:t>
            </a:r>
          </a:p>
          <a:p>
            <a:pPr algn="l">
              <a:spcAft>
                <a:spcPts val="400"/>
              </a:spcAft>
            </a:pPr>
            <a:r>
              <a:rPr sz="2000" b="0" i="0">
                <a:solidFill>
                  <a:srgbClr val="A3AAB6"/>
                </a:solidFill>
                <a:latin typeface="Arial"/>
              </a:rPr>
              <a:t>aashmiin@gmail.com</a:t>
            </a:r>
          </a:p>
          <a:p>
            <a:pPr algn="l">
              <a:spcAft>
                <a:spcPts val="400"/>
              </a:spcAft>
            </a:pPr>
            <a:r>
              <a:rPr sz="2000" b="0" i="0">
                <a:solidFill>
                  <a:srgbClr val="A3AAB6"/>
                </a:solidFill>
                <a:latin typeface="Arial"/>
              </a:rPr>
              <a:t>linkedin.com/in/aashmiin-kaur-479665391</a:t>
            </a:r>
          </a:p>
        </p:txBody>
      </p:sp>
      <p:sp>
        <p:nvSpPr>
          <p:cNvPr id="6" name="Rounded Rectangle 5"/>
          <p:cNvSpPr/>
          <p:nvPr/>
        </p:nvSpPr>
        <p:spPr>
          <a:xfrm>
            <a:off x="548640" y="5074920"/>
            <a:ext cx="7315200" cy="466344"/>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074920"/>
            <a:ext cx="7315200" cy="466344"/>
          </a:xfrm>
          <a:prstGeom prst="rect">
            <a:avLst/>
          </a:prstGeom>
          <a:noFill/>
        </p:spPr>
        <p:txBody>
          <a:bodyPr wrap="square" anchor="ctr" lIns="0" rIns="0" tIns="0" bIns="0">
            <a:spAutoFit/>
          </a:bodyPr>
          <a:lstStyle/>
          <a:p>
            <a:pPr algn="ctr"/>
            <a:r>
              <a:rPr sz="1800" b="0" i="0">
                <a:solidFill>
                  <a:srgbClr val="8EA2FF"/>
                </a:solidFill>
                <a:latin typeface="Arial"/>
              </a:rPr>
              <a:t>Happy to walk you through the demo in 15 minutes if useful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Appendix · Early thinking on the business side</a:t>
            </a:r>
          </a:p>
        </p:txBody>
      </p:sp>
      <p:sp>
        <p:nvSpPr>
          <p:cNvPr id="3" name="TextBox 2"/>
          <p:cNvSpPr txBox="1"/>
          <p:nvPr/>
        </p:nvSpPr>
        <p:spPr>
          <a:xfrm>
            <a:off x="548640" y="1261872"/>
            <a:ext cx="11094415" cy="365760"/>
          </a:xfrm>
          <a:prstGeom prst="rect">
            <a:avLst/>
          </a:prstGeom>
          <a:noFill/>
        </p:spPr>
        <p:txBody>
          <a:bodyPr wrap="square" anchor="t" lIns="0" rIns="0" tIns="0" bIns="0">
            <a:spAutoFit/>
          </a:bodyPr>
          <a:lstStyle/>
          <a:p>
            <a:pPr algn="l"/>
            <a:r>
              <a:rPr sz="1800" b="0" i="0">
                <a:solidFill>
                  <a:srgbClr val="A3AAB6"/>
                </a:solidFill>
                <a:latin typeface="Arial"/>
              </a:rPr>
              <a:t>Very rough, and none of it tested.</a:t>
            </a:r>
          </a:p>
        </p:txBody>
      </p:sp>
      <p:sp>
        <p:nvSpPr>
          <p:cNvPr id="4" name="Rounded Rectangle 3"/>
          <p:cNvSpPr/>
          <p:nvPr/>
        </p:nvSpPr>
        <p:spPr>
          <a:xfrm>
            <a:off x="548640" y="1783080"/>
            <a:ext cx="3454298" cy="3794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2814218" cy="822960"/>
          </a:xfrm>
          <a:prstGeom prst="rect">
            <a:avLst/>
          </a:prstGeom>
          <a:noFill/>
        </p:spPr>
        <p:txBody>
          <a:bodyPr wrap="square" anchor="t" lIns="0" rIns="0" tIns="0" bIns="0">
            <a:spAutoFit/>
          </a:bodyPr>
          <a:lstStyle/>
          <a:p>
            <a:pPr algn="l"/>
            <a:r>
              <a:rPr sz="2200" b="1" i="0">
                <a:solidFill>
                  <a:srgbClr val="B9C6FF"/>
                </a:solidFill>
                <a:latin typeface="Arial"/>
              </a:rPr>
              <a:t>How it might earn</a:t>
            </a:r>
          </a:p>
        </p:txBody>
      </p:sp>
      <p:sp>
        <p:nvSpPr>
          <p:cNvPr id="6" name="TextBox 5"/>
          <p:cNvSpPr txBox="1"/>
          <p:nvPr/>
        </p:nvSpPr>
        <p:spPr>
          <a:xfrm>
            <a:off x="868680" y="2788920"/>
            <a:ext cx="2814218" cy="2651760"/>
          </a:xfrm>
          <a:prstGeom prst="rect">
            <a:avLst/>
          </a:prstGeom>
          <a:noFill/>
        </p:spPr>
        <p:txBody>
          <a:bodyPr wrap="square" anchor="t" lIns="0" rIns="0" tIns="0" bIns="0">
            <a:spAutoFit/>
          </a:bodyPr>
          <a:lstStyle/>
          <a:p>
            <a:pPr algn="l">
              <a:spcAft>
                <a:spcPts val="1400"/>
              </a:spcAft>
            </a:pPr>
            <a:r>
              <a:rPr sz="2000" b="0" i="0">
                <a:solidFill>
                  <a:srgbClr val="F2F4F7"/>
                </a:solidFill>
                <a:latin typeface="Arial"/>
              </a:rPr>
              <a:t>Fee per finance team, S$300–800/mo</a:t>
            </a:r>
            <a:r>
              <a:rPr sz="2600" b="1" i="0">
                <a:solidFill>
                  <a:srgbClr val="B9C6FF"/>
                </a:solidFill>
                <a:latin typeface="Arial"/>
              </a:rPr>
              <a:t>◦</a:t>
            </a:r>
          </a:p>
          <a:p>
            <a:pPr algn="l">
              <a:spcAft>
                <a:spcPts val="1400"/>
              </a:spcAft>
            </a:pPr>
            <a:r>
              <a:rPr sz="2000" b="0" i="0">
                <a:solidFill>
                  <a:srgbClr val="F2F4F7"/>
                </a:solidFill>
                <a:latin typeface="Arial"/>
              </a:rPr>
              <a:t>Or per exception, via payment companies, S$1–3</a:t>
            </a:r>
            <a:r>
              <a:rPr sz="2600" b="1" i="0">
                <a:solidFill>
                  <a:srgbClr val="B9C6FF"/>
                </a:solidFill>
                <a:latin typeface="Arial"/>
              </a:rPr>
              <a:t>†</a:t>
            </a:r>
          </a:p>
        </p:txBody>
      </p:sp>
      <p:sp>
        <p:nvSpPr>
          <p:cNvPr id="7" name="Rounded Rectangle 6"/>
          <p:cNvSpPr/>
          <p:nvPr/>
        </p:nvSpPr>
        <p:spPr>
          <a:xfrm>
            <a:off x="4368698" y="1783080"/>
            <a:ext cx="3454298" cy="3794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8738" y="2011680"/>
            <a:ext cx="2814218" cy="822960"/>
          </a:xfrm>
          <a:prstGeom prst="rect">
            <a:avLst/>
          </a:prstGeom>
          <a:noFill/>
        </p:spPr>
        <p:txBody>
          <a:bodyPr wrap="square" anchor="t" lIns="0" rIns="0" tIns="0" bIns="0">
            <a:spAutoFit/>
          </a:bodyPr>
          <a:lstStyle/>
          <a:p>
            <a:pPr algn="l"/>
            <a:r>
              <a:rPr sz="2200" b="1" i="0">
                <a:solidFill>
                  <a:srgbClr val="B9C6FF"/>
                </a:solidFill>
                <a:latin typeface="Arial"/>
              </a:rPr>
              <a:t>How big, Singapore only</a:t>
            </a:r>
          </a:p>
        </p:txBody>
      </p:sp>
      <p:sp>
        <p:nvSpPr>
          <p:cNvPr id="9" name="TextBox 8"/>
          <p:cNvSpPr txBox="1"/>
          <p:nvPr/>
        </p:nvSpPr>
        <p:spPr>
          <a:xfrm>
            <a:off x="4688738" y="2788920"/>
            <a:ext cx="2814218" cy="2651760"/>
          </a:xfrm>
          <a:prstGeom prst="rect">
            <a:avLst/>
          </a:prstGeom>
          <a:noFill/>
        </p:spPr>
        <p:txBody>
          <a:bodyPr wrap="square" anchor="t" lIns="0" rIns="0" tIns="0" bIns="0">
            <a:spAutoFit/>
          </a:bodyPr>
          <a:lstStyle/>
          <a:p>
            <a:pPr algn="l">
              <a:spcAft>
                <a:spcPts val="1400"/>
              </a:spcAft>
            </a:pPr>
            <a:r>
              <a:rPr sz="2000" b="0" i="0">
                <a:solidFill>
                  <a:srgbClr val="F2F4F7"/>
                </a:solidFill>
                <a:latin typeface="Arial"/>
              </a:rPr>
              <a:t>300+ Web3 firms¹ × ~50% × S$6k ≈ S$0.9M a year ceiling</a:t>
            </a:r>
            <a:r>
              <a:rPr sz="2600" b="1" i="0">
                <a:solidFill>
                  <a:srgbClr val="B9C6FF"/>
                </a:solidFill>
                <a:latin typeface="Arial"/>
              </a:rPr>
              <a:t>◦</a:t>
            </a:r>
          </a:p>
        </p:txBody>
      </p:sp>
      <p:sp>
        <p:nvSpPr>
          <p:cNvPr id="10" name="Rounded Rectangle 9"/>
          <p:cNvSpPr/>
          <p:nvPr/>
        </p:nvSpPr>
        <p:spPr>
          <a:xfrm>
            <a:off x="8188756" y="1783080"/>
            <a:ext cx="3454298" cy="3794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8796" y="2011680"/>
            <a:ext cx="2814218" cy="822960"/>
          </a:xfrm>
          <a:prstGeom prst="rect">
            <a:avLst/>
          </a:prstGeom>
          <a:noFill/>
        </p:spPr>
        <p:txBody>
          <a:bodyPr wrap="square" anchor="t" lIns="0" rIns="0" tIns="0" bIns="0">
            <a:spAutoFit/>
          </a:bodyPr>
          <a:lstStyle/>
          <a:p>
            <a:pPr algn="l"/>
            <a:r>
              <a:rPr sz="2200" b="1" i="0">
                <a:solidFill>
                  <a:srgbClr val="B9C6FF"/>
                </a:solidFill>
                <a:latin typeface="Arial"/>
              </a:rPr>
              <a:t>Main risks</a:t>
            </a:r>
          </a:p>
        </p:txBody>
      </p:sp>
      <p:sp>
        <p:nvSpPr>
          <p:cNvPr id="12" name="TextBox 11"/>
          <p:cNvSpPr txBox="1"/>
          <p:nvPr/>
        </p:nvSpPr>
        <p:spPr>
          <a:xfrm>
            <a:off x="8508796" y="2788920"/>
            <a:ext cx="2814218" cy="2651760"/>
          </a:xfrm>
          <a:prstGeom prst="rect">
            <a:avLst/>
          </a:prstGeom>
          <a:noFill/>
        </p:spPr>
        <p:txBody>
          <a:bodyPr wrap="square" anchor="t" lIns="0" rIns="0" tIns="0" bIns="0">
            <a:spAutoFit/>
          </a:bodyPr>
          <a:lstStyle/>
          <a:p>
            <a:pPr algn="l">
              <a:spcAft>
                <a:spcPts val="1400"/>
              </a:spcAft>
            </a:pPr>
            <a:r>
              <a:rPr sz="2000" b="0" i="0">
                <a:solidFill>
                  <a:srgbClr val="F2F4F7"/>
                </a:solidFill>
                <a:latin typeface="Arial"/>
              </a:rPr>
              <a:t>Checkout tools may absorb it</a:t>
            </a:r>
            <a:r>
              <a:rPr sz="2600" b="1" i="0">
                <a:solidFill>
                  <a:srgbClr val="B9C6FF"/>
                </a:solidFill>
                <a:latin typeface="Arial"/>
              </a:rPr>
              <a:t>◦</a:t>
            </a:r>
          </a:p>
          <a:p>
            <a:pPr algn="l">
              <a:spcAft>
                <a:spcPts val="1400"/>
              </a:spcAft>
            </a:pPr>
            <a:r>
              <a:rPr sz="2000" b="0" i="0">
                <a:solidFill>
                  <a:srgbClr val="F2F4F7"/>
                </a:solidFill>
                <a:latin typeface="Arial"/>
              </a:rPr>
              <a:t>Licensing unconfirmed</a:t>
            </a:r>
            <a:r>
              <a:rPr sz="2600" b="1" i="0">
                <a:solidFill>
                  <a:srgbClr val="B9C6FF"/>
                </a:solidFill>
                <a:latin typeface="Arial"/>
              </a:rPr>
              <a:t/>
            </a:r>
          </a:p>
          <a:p>
            <a:pPr algn="l">
              <a:spcAft>
                <a:spcPts val="1400"/>
              </a:spcAft>
            </a:pPr>
            <a:r>
              <a:rPr sz="2000" b="0" i="0">
                <a:solidFill>
                  <a:srgbClr val="F2F4F7"/>
                </a:solidFill>
                <a:latin typeface="Arial"/>
              </a:rPr>
              <a:t>Solo, no payments experience</a:t>
            </a:r>
            <a:r>
              <a:rPr sz="2600" b="1" i="0">
                <a:solidFill>
                  <a:srgbClr val="B9C6FF"/>
                </a:solidFill>
                <a:latin typeface="Arial"/>
              </a:rPr>
              <a:t/>
            </a:r>
          </a:p>
        </p:txBody>
      </p:sp>
      <p:sp>
        <p:nvSpPr>
          <p:cNvPr id="13"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Singapore EDB, “Singapore: the onchain state”. Everything else here is untested; prices are placeholders, not quotes.</a:t>
            </a:r>
          </a:p>
          <a:p>
            <a:pPr algn="l"/>
            <a:r>
              <a:rPr sz="1000" b="0" i="0">
                <a:solidFill>
                  <a:srgbClr val="A3AAB6"/>
                </a:solidFill>
                <a:latin typeface="Arial"/>
              </a:rPr>
              <a:t>◦ estimate or assumption   † untested   unmarked = sourced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