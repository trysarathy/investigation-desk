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businesses are starting to pay each other in stablecoins (digital dollars: tokens designed to stay worth one US dollar). It's still small next to all the trading, but real payments roughly doubled in 2025, and an estimated ~60% are between businesses. The pain: some payments arrive wrong (too little, on the wrong network, a fake token, no invoice number), and someone in finance has to match each one to its invoice and type it into the accounting system by hand.</a:t>
            </a:r>
          </a:p>
          <a:p>
            <a:r>
              <a:t>SOURCES / LABELS:</a:t>
            </a:r>
          </a:p>
          <a:p>
            <a:r>
              <a:t>- ~$400B of real-world stablecoin payments in 2025, ~60% B2B [VERIFIED; the 60% is Bessemer's estimate ◦]: Bessemer Venture Partners, "Stablecoins: from DeFi primitive to global financial infrastructure", 22 Apr 2026. bvp.com/atlas/stablecoins-from-defi-primitive-to-global-financial-infrastructure</a:t>
            </a:r>
          </a:p>
          <a:p>
            <a:r>
              <a:t>- Only ~$350–550B of the $28–62T in stablecoin transfers in 2025 were real-economy payments; the rest is trading and moving funds between wallets and exchanges [VERIFIED]: Reap, "Stablecoin Statistics &amp; Data 2026", 14 Aug 2026, citing BIS, BCG × Allium, McKinsey. reap.global/blog/stablecoin-statistics-2026</a:t>
            </a:r>
          </a:p>
          <a:p>
            <a:r>
              <a:t>- The four ways a payment arrives wrong come from the product's demo cases (demo/REQUESTS_DEMO.md), not from measured customer data. Two of them, counterfeit USDT and wrong network, also appear in my tests on real transactions (e.g. 13 fake-USDT, 6 wrong-network; demo/REPORT.md). How often each happens is not yet measured.</a:t>
            </a:r>
          </a:p>
          <a:p>
            <a:r>
              <a:t>- "Matched and posted by hand" [BELIEF †]: how much time this takes, and how often, is not yet measured.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a payment doesn't match, it's usually one of these four, and each one needs someone to investigate by hand: look up the transfer, find the invoice, work out what went wrong, and write to the customer. While that happens the customer waits, and if nobody checks carefully, a business can accept fake digital dollars as if they were real.</a:t>
            </a:r>
          </a:p>
          <a:p>
            <a:r>
              <a:t>SOURCES / LABELS:</a:t>
            </a:r>
          </a:p>
          <a:p>
            <a:r>
              <a:t>- The four problems are real [VERIFIED]: my tests on real transactions include 13 counterfeit-USDT and 6 wrong-network transfers (demo/REPORT.md); short payments and missing references are standard cases.</a:t>
            </a:r>
          </a:p>
          <a:p>
            <a:r>
              <a:t>- "Hours lost" [ESTIMATE ◦]: untested. My guess is 15–30 minutes per odd payment, and the demo's 20-minute figure is a demo estimate, not a measurement. How often each problem happens is unknown.</a:t>
            </a:r>
          </a:p>
          <a:p>
            <a:r>
              <a:t>- Fake digital dollars [VERIFIED]: anyone can create a token with the same name; only the real issuer's contract counts (ERC-20 standard).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 not the first to connect stablecoins to accounting. The big platforms are becoming one-stop shops, and crypto accounting tools like Bitwave and Request Finance already sync payments to Xero, QuickBooks and NetSuite. What I think is still manual is narrower: a small business that is paid straight into its own wallet, when a payment arrives wrong, and getting that payment into the books correctly. That is a hypothesis I'm testing in customer calls, not something I've proven.</a:t>
            </a:r>
          </a:p>
          <a:p>
            <a:r>
              <a:t>SOURCES / LABELS:</a:t>
            </a:r>
          </a:p>
          <a:p>
            <a:r>
              <a:t>- Big platforms vertically integrating [VERIFIED]: Bessemer Venture Partners, 22 Apr 2026: "Large companies like Stripe, Circle, and Coinbase are leveraging their distribution to become one-stop shops." Bessemer also writes that promising early-stage startups "will navigate outside the paths of Stripe, Circle, and Coinbase".</a:t>
            </a:r>
          </a:p>
          <a:p>
            <a:r>
              <a:t>- Bitwave [VERIFIED, checked 28 Oct 2026]: supports stablecoin invoices and accounts receivable and syncs payments with ERPs "(NetSuite, Xero, QuickBooks, Sage, and more)". bitwave.io/request-a-demo-stablecoin-b2b-payments</a:t>
            </a:r>
          </a:p>
          <a:p>
            <a:r>
              <a:t>- Request Finance [VERIFIED, checked 28 Oct 2026]: syncs bills (crypto and fiat) to QuickBooks Online, Xero and NetSuite. help.request.finance/en/articles/13038304-accounting-integrations-overview</a:t>
            </a:r>
          </a:p>
          <a:p>
            <a:r>
              <a:t>- The wedge (small businesses paid directly into their own wallet; the wrong payments and posting them correctly) [ASSUMPTION †]: to test in customer calls.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Clearline asks for each payment clearly, matches it to its invoice, checks it's genuine, explains anything that went wrong in plain English, and posts it to your accounting system when you approve. On approval, the payment posts to the invoice in Xero with the transaction hash, token, network and USD value. A short payment posts as a partial payment with a note. Counterfeit and wrong-network payments are never posted. Every posting is in an audit log. It only reads the blockchain: it never holds or moves money.</a:t>
            </a:r>
          </a:p>
          <a:p>
            <a:r>
              <a:t>STATUS (exactly this): Xero connection built and checked in automated tests; posting rules tested in demo mode with a fictional company; first live test with Xero's demo company is next. QuickBooks next, NetSuite on the roadmap. 0 customers, working demo.</a:t>
            </a:r>
          </a:p>
          <a:p>
            <a:r>
              <a:t>SCREENSHOT: Clearline's own "In your books" panel, in demo mode, with a fictional company (Northwind Pay) and fictional people. It is not Xero's interface.</a:t>
            </a:r>
          </a:p>
          <a:p>
            <a:r>
              <a:t>VIDEO: the 60-second demo plays on this slide in PowerPoint (click it); in a PDF, scan the QR code (github.com/trysarathy/investigation-desk, pitch/demo_live_60s.mp4). The video was recorded before the "In your books" step, so it shows steps 1–3 only.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product side is further along than the customer side. It works in a demo, and on real transactions its investigation part reached the right verdict every time on cases it hadn't seen. I don't yet know whether the people it's for actually need it, because I haven't spoken to them yet.</a:t>
            </a:r>
          </a:p>
          <a:p>
            <a:r>
              <a:t>SOURCES / LABELS:</a:t>
            </a:r>
          </a:p>
          <a:p>
            <a:r>
              <a:t>- 7 payment situations [VERIFIED]: demo/REQUESTS_DEMO.md.</a:t>
            </a:r>
          </a:p>
          <a:p>
            <a:r>
              <a:t>- 52/52 [VERIFIED]: demo/REPORT.md, 24–25 Oct 2026. These are held-out real transactions collected after the fixes; 59/59 on the tuning cases, 43/59 before the fixes. The part that matches payments to invoices, and the plain-English explanations, are not yet tested on real data; company records were sample data.</a:t>
            </a:r>
          </a:p>
          <a:p>
            <a:r>
              <a:t>- 3 early calls [VERIFIED, my notes, names withheld]: 16 Oct 2026, about an earlier version of the idea; reconciliation was "not really an issue" for them.</a:t>
            </a:r>
          </a:p>
          <a:p>
            <a:r>
              <a:t>- 0 customers. In full: "my 3 early calls reached vendors, not finance teams"; "do customers mostly pay directly or via checkout pages?".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Any one of these would help, even a one-line reply, and I'd especially like to hear if you think I'm looking at the wrong problem. If it's easier, I can show you the working demo in about 15 minutes. Thank you for reading.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5.png"/><Relationship Id="rId4" Type="http://schemas.microsoft.com/office/2007/relationships/media" Target="../media/media1.mp4"/><Relationship Id="rId5" Type="http://schemas.openxmlformats.org/officeDocument/2006/relationships/video" Target="../media/media1.mp4"/><Relationship Id="rId6" Type="http://schemas.openxmlformats.org/officeDocument/2006/relationships/image" Target="../media/image6.png"/><Relationship Id="rId7"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0E14"/>
        </a:solidFill>
        <a:effectLst/>
      </p:bgPr>
    </p:bg>
    <p:spTree>
      <p:nvGrpSpPr>
        <p:cNvPr id="1" name=""/>
        <p:cNvGrpSpPr/>
        <p:nvPr/>
      </p:nvGrpSpPr>
      <p:grpSpPr/>
      <p:sp>
        <p:nvSpPr>
          <p:cNvPr id="2" name="Topline"/>
          <p:cNvSpPr txBox="1"/>
          <p:nvPr/>
        </p:nvSpPr>
        <p:spPr>
          <a:xfrm>
            <a:off x="548640" y="228600"/>
            <a:ext cx="11094415" cy="320040"/>
          </a:xfrm>
          <a:prstGeom prst="rect">
            <a:avLst/>
          </a:prstGeom>
          <a:noFill/>
        </p:spPr>
        <p:txBody>
          <a:bodyPr wrap="square" anchor="t" lIns="0" rIns="0" tIns="0" bIns="0">
            <a:spAutoFit/>
          </a:bodyPr>
          <a:lstStyle/>
          <a:p>
            <a:pPr algn="l"/>
            <a:r>
              <a:rPr sz="1200" b="0" i="0">
                <a:solidFill>
                  <a:srgbClr val="767E8C"/>
                </a:solidFill>
                <a:latin typeface="Arial"/>
              </a:rPr>
              <a:t>Clearline · a project I'm exploring · Aashmiin Kaur, SMU</a:t>
            </a:r>
          </a:p>
        </p:txBody>
      </p:sp>
      <p:sp>
        <p:nvSpPr>
          <p:cNvPr id="3" name="Title"/>
          <p:cNvSpPr txBox="1"/>
          <p:nvPr/>
        </p:nvSpPr>
        <p:spPr>
          <a:xfrm>
            <a:off x="548640" y="566928"/>
            <a:ext cx="11094415" cy="822960"/>
          </a:xfrm>
          <a:prstGeom prst="rect">
            <a:avLst/>
          </a:prstGeom>
          <a:noFill/>
        </p:spPr>
        <p:txBody>
          <a:bodyPr wrap="square" anchor="t" lIns="0" rIns="0" tIns="0" bIns="0">
            <a:spAutoFit/>
          </a:bodyPr>
          <a:lstStyle/>
          <a:p>
            <a:pPr algn="l"/>
            <a:r>
              <a:rPr sz="3400" b="1" i="0">
                <a:solidFill>
                  <a:srgbClr val="F2F4F7"/>
                </a:solidFill>
                <a:latin typeface="Arial"/>
              </a:rPr>
              <a:t>Real stablecoin payments are growing, an estimated ~60% between businesses</a:t>
            </a:r>
          </a:p>
        </p:txBody>
      </p:sp>
      <p:sp>
        <p:nvSpPr>
          <p:cNvPr id="4" name="Rounded Rectangle 3"/>
          <p:cNvSpPr/>
          <p:nvPr/>
        </p:nvSpPr>
        <p:spPr>
          <a:xfrm>
            <a:off x="548640" y="1828800"/>
            <a:ext cx="5364327" cy="2011680"/>
          </a:xfrm>
          <a:prstGeom prst="roundRect">
            <a:avLst>
              <a:gd name="adj" fmla="val 8000"/>
            </a:avLst>
          </a:prstGeom>
          <a:solidFill>
            <a:srgbClr val="151A24"/>
          </a:solidFill>
          <a:ln w="12700">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938528"/>
            <a:ext cx="4724247" cy="685800"/>
          </a:xfrm>
          <a:prstGeom prst="rect">
            <a:avLst/>
          </a:prstGeom>
          <a:noFill/>
        </p:spPr>
        <p:txBody>
          <a:bodyPr wrap="square" anchor="t" lIns="0" rIns="0" tIns="0" bIns="0">
            <a:spAutoFit/>
          </a:bodyPr>
          <a:lstStyle/>
          <a:p>
            <a:pPr algn="l"/>
            <a:r>
              <a:rPr sz="4000" b="1" i="0">
                <a:solidFill>
                  <a:srgbClr val="B9C6FF"/>
                </a:solidFill>
                <a:latin typeface="Arial"/>
              </a:rPr>
              <a:t>$400B</a:t>
            </a:r>
          </a:p>
        </p:txBody>
      </p:sp>
      <p:sp>
        <p:nvSpPr>
          <p:cNvPr id="6" name="TextBox 5"/>
          <p:cNvSpPr txBox="1"/>
          <p:nvPr/>
        </p:nvSpPr>
        <p:spPr>
          <a:xfrm>
            <a:off x="868680" y="2670048"/>
            <a:ext cx="4724247" cy="1097280"/>
          </a:xfrm>
          <a:prstGeom prst="rect">
            <a:avLst/>
          </a:prstGeom>
          <a:noFill/>
        </p:spPr>
        <p:txBody>
          <a:bodyPr wrap="square" anchor="t" lIns="0" rIns="0" tIns="0" bIns="0">
            <a:spAutoFit/>
          </a:bodyPr>
          <a:lstStyle/>
          <a:p>
            <a:pPr algn="l"/>
            <a:r>
              <a:rPr sz="2000" b="0" i="0">
                <a:solidFill>
                  <a:srgbClr val="A3AAB6"/>
                </a:solidFill>
                <a:latin typeface="Arial"/>
              </a:rPr>
              <a:t>real-world stablecoin payments in 2025, about 60% between businesses</a:t>
            </a:r>
            <a:r>
              <a:rPr sz="2600" b="1" i="0">
                <a:solidFill>
                  <a:srgbClr val="B9C6FF"/>
                </a:solidFill>
                <a:latin typeface="Arial"/>
              </a:rPr>
              <a:t>◦</a:t>
            </a:r>
          </a:p>
        </p:txBody>
      </p:sp>
      <p:sp>
        <p:nvSpPr>
          <p:cNvPr id="7" name="Rounded Rectangle 6"/>
          <p:cNvSpPr/>
          <p:nvPr/>
        </p:nvSpPr>
        <p:spPr>
          <a:xfrm>
            <a:off x="6278727" y="1828800"/>
            <a:ext cx="5364327" cy="2011680"/>
          </a:xfrm>
          <a:prstGeom prst="roundRect">
            <a:avLst>
              <a:gd name="adj" fmla="val 8000"/>
            </a:avLst>
          </a:prstGeom>
          <a:solidFill>
            <a:srgbClr val="151A24"/>
          </a:solidFill>
          <a:ln w="12700">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98767" y="1938528"/>
            <a:ext cx="4724247" cy="685800"/>
          </a:xfrm>
          <a:prstGeom prst="rect">
            <a:avLst/>
          </a:prstGeom>
          <a:noFill/>
        </p:spPr>
        <p:txBody>
          <a:bodyPr wrap="square" anchor="t" lIns="0" rIns="0" tIns="0" bIns="0">
            <a:spAutoFit/>
          </a:bodyPr>
          <a:lstStyle/>
          <a:p>
            <a:pPr algn="l"/>
            <a:r>
              <a:rPr sz="4000" b="1" i="0">
                <a:solidFill>
                  <a:srgbClr val="B9C6FF"/>
                </a:solidFill>
                <a:latin typeface="Arial"/>
              </a:rPr>
              <a:t>$350–550B</a:t>
            </a:r>
          </a:p>
        </p:txBody>
      </p:sp>
      <p:sp>
        <p:nvSpPr>
          <p:cNvPr id="9" name="TextBox 8"/>
          <p:cNvSpPr txBox="1"/>
          <p:nvPr/>
        </p:nvSpPr>
        <p:spPr>
          <a:xfrm>
            <a:off x="6598767" y="2670048"/>
            <a:ext cx="4724247" cy="1097280"/>
          </a:xfrm>
          <a:prstGeom prst="rect">
            <a:avLst/>
          </a:prstGeom>
          <a:noFill/>
        </p:spPr>
        <p:txBody>
          <a:bodyPr wrap="square" anchor="t" lIns="0" rIns="0" tIns="0" bIns="0">
            <a:spAutoFit/>
          </a:bodyPr>
          <a:lstStyle/>
          <a:p>
            <a:pPr algn="l"/>
            <a:r>
              <a:rPr sz="2000" b="0" i="0">
                <a:solidFill>
                  <a:srgbClr val="A3AAB6"/>
                </a:solidFill>
                <a:latin typeface="Arial"/>
              </a:rPr>
              <a:t>of the $28–62T moved in stablecoins in 2025 was real payments; the rest is mostly trading</a:t>
            </a:r>
          </a:p>
        </p:txBody>
      </p:sp>
      <p:sp>
        <p:nvSpPr>
          <p:cNvPr id="10" name="Rounded Rectangle 9"/>
          <p:cNvSpPr/>
          <p:nvPr/>
        </p:nvSpPr>
        <p:spPr>
          <a:xfrm>
            <a:off x="548640" y="4069080"/>
            <a:ext cx="11094415" cy="1691640"/>
          </a:xfrm>
          <a:prstGeom prst="roundRect">
            <a:avLst>
              <a:gd name="adj" fmla="val 8000"/>
            </a:avLst>
          </a:prstGeom>
          <a:solidFill>
            <a:srgbClr val="151A24"/>
          </a:solidFill>
          <a:ln w="12700">
            <a:solidFill>
              <a:srgbClr val="8EA2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069080"/>
            <a:ext cx="10362895" cy="1691640"/>
          </a:xfrm>
          <a:prstGeom prst="rect">
            <a:avLst/>
          </a:prstGeom>
          <a:noFill/>
        </p:spPr>
        <p:txBody>
          <a:bodyPr wrap="square" anchor="ctr" lIns="0" rIns="0" tIns="0" bIns="0">
            <a:spAutoFit/>
          </a:bodyPr>
          <a:lstStyle/>
          <a:p>
            <a:pPr algn="l">
              <a:spcAft>
                <a:spcPts val="800"/>
              </a:spcAft>
            </a:pPr>
            <a:r>
              <a:rPr sz="2200" b="1" i="0">
                <a:solidFill>
                  <a:srgbClr val="B9C6FF"/>
                </a:solidFill>
                <a:latin typeface="Arial"/>
              </a:rPr>
              <a:t>The pain: </a:t>
            </a:r>
            <a:r>
              <a:rPr sz="2200" b="0" i="0">
                <a:solidFill>
                  <a:srgbClr val="F2F4F7"/>
                </a:solidFill>
                <a:latin typeface="Arial"/>
              </a:rPr>
              <a:t>some payments arrive wrong: too little, the wrong network, a fake token, or no invoice number.</a:t>
            </a:r>
          </a:p>
          <a:p>
            <a:pPr algn="l">
              <a:spcAft>
                <a:spcPts val="800"/>
              </a:spcAft>
            </a:pPr>
            <a:r>
              <a:rPr sz="2200" b="1" i="0">
                <a:solidFill>
                  <a:srgbClr val="F2F4F7"/>
                </a:solidFill>
                <a:latin typeface="Arial"/>
              </a:rPr>
              <a:t>Someone has to match each one to its invoice and get it into the books by hand.</a:t>
            </a:r>
            <a:r>
              <a:rPr sz="2600" b="1" i="0">
                <a:solidFill>
                  <a:srgbClr val="B9C6FF"/>
                </a:solidFill>
                <a:latin typeface="Arial"/>
              </a:rPr>
              <a:t>†</a:t>
            </a:r>
          </a:p>
        </p:txBody>
      </p:sp>
      <p:sp>
        <p:nvSpPr>
          <p:cNvPr id="12" name="Sources"/>
          <p:cNvSpPr txBox="1"/>
          <p:nvPr/>
        </p:nvSpPr>
        <p:spPr>
          <a:xfrm>
            <a:off x="548640" y="6291072"/>
            <a:ext cx="11094415" cy="457200"/>
          </a:xfrm>
          <a:prstGeom prst="rect">
            <a:avLst/>
          </a:prstGeom>
          <a:noFill/>
        </p:spPr>
        <p:txBody>
          <a:bodyPr wrap="square" anchor="t" lIns="0" rIns="0" tIns="0" bIns="0">
            <a:spAutoFit/>
          </a:bodyPr>
          <a:lstStyle/>
          <a:p>
            <a:pPr algn="l"/>
            <a:r>
              <a:rPr sz="1000" b="0" i="0">
                <a:solidFill>
                  <a:srgbClr val="767E8C"/>
                </a:solidFill>
                <a:latin typeface="Arial"/>
              </a:rPr>
              <a:t>$400B, ~60% B2B (60% is Bessemer's estimate): Bessemer Venture Partners, Apr 2026.  $350–550B of $28–62T: Reap, Aug 2026, citing BIS, BCG × Allium and McKinsey.</a:t>
            </a:r>
          </a:p>
          <a:p>
            <a:pPr algn="l"/>
            <a:r>
              <a:rPr sz="1000" b="0" i="0">
                <a:solidFill>
                  <a:srgbClr val="A3AAB6"/>
                </a:solidFill>
                <a:latin typeface="Arial"/>
              </a:rPr>
              <a:t>◦ estimate   † my belief, not yet proven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0E14"/>
        </a:solidFill>
        <a:effectLst/>
      </p:bgPr>
    </p:bg>
    <p:spTree>
      <p:nvGrpSpPr>
        <p:cNvPr id="1" name=""/>
        <p:cNvGrpSpPr/>
        <p:nvPr/>
      </p:nvGrpSpPr>
      <p:grpSpPr/>
      <p:sp>
        <p:nvSpPr>
          <p:cNvPr id="2" name="Topline"/>
          <p:cNvSpPr txBox="1"/>
          <p:nvPr/>
        </p:nvSpPr>
        <p:spPr>
          <a:xfrm>
            <a:off x="548640" y="228600"/>
            <a:ext cx="11094415" cy="320040"/>
          </a:xfrm>
          <a:prstGeom prst="rect">
            <a:avLst/>
          </a:prstGeom>
          <a:noFill/>
        </p:spPr>
        <p:txBody>
          <a:bodyPr wrap="square" anchor="t" lIns="0" rIns="0" tIns="0" bIns="0">
            <a:spAutoFit/>
          </a:bodyPr>
          <a:lstStyle/>
          <a:p>
            <a:pPr algn="l"/>
            <a:r>
              <a:rPr sz="1200" b="0" i="0">
                <a:solidFill>
                  <a:srgbClr val="767E8C"/>
                </a:solidFill>
                <a:latin typeface="Arial"/>
              </a:rPr>
              <a:t>Clearline · a project I'm exploring · Aashmiin Kaur, SMU</a:t>
            </a:r>
          </a:p>
        </p:txBody>
      </p:sp>
      <p:sp>
        <p:nvSpPr>
          <p:cNvPr id="3" name="Title"/>
          <p:cNvSpPr txBox="1"/>
          <p:nvPr/>
        </p:nvSpPr>
        <p:spPr>
          <a:xfrm>
            <a:off x="548640" y="566928"/>
            <a:ext cx="11094415" cy="822960"/>
          </a:xfrm>
          <a:prstGeom prst="rect">
            <a:avLst/>
          </a:prstGeom>
          <a:noFill/>
        </p:spPr>
        <p:txBody>
          <a:bodyPr wrap="square" anchor="t" lIns="0" rIns="0" tIns="0" bIns="0">
            <a:spAutoFit/>
          </a:bodyPr>
          <a:lstStyle/>
          <a:p>
            <a:pPr algn="l"/>
            <a:r>
              <a:rPr sz="3400" b="1" i="0">
                <a:solidFill>
                  <a:srgbClr val="F2F4F7"/>
                </a:solidFill>
                <a:latin typeface="Arial"/>
              </a:rPr>
              <a:t>Every odd payment means detective work</a:t>
            </a:r>
          </a:p>
        </p:txBody>
      </p:sp>
      <p:sp>
        <p:nvSpPr>
          <p:cNvPr id="4" name="Rounded Rectangle 3"/>
          <p:cNvSpPr/>
          <p:nvPr/>
        </p:nvSpPr>
        <p:spPr>
          <a:xfrm>
            <a:off x="548640" y="1600200"/>
            <a:ext cx="2533573" cy="3017520"/>
          </a:xfrm>
          <a:prstGeom prst="roundRect">
            <a:avLst>
              <a:gd name="adj" fmla="val 8000"/>
            </a:avLst>
          </a:prstGeom>
          <a:solidFill>
            <a:srgbClr val="151A24"/>
          </a:solidFill>
          <a:ln w="12700">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hort.png"/>
          <p:cNvPicPr>
            <a:picLocks noChangeAspect="1"/>
          </p:cNvPicPr>
          <p:nvPr/>
        </p:nvPicPr>
        <p:blipFill>
          <a:blip r:embed="rId3"/>
          <a:stretch>
            <a:fillRect/>
          </a:stretch>
        </p:blipFill>
        <p:spPr>
          <a:xfrm>
            <a:off x="992466" y="1783080"/>
            <a:ext cx="1645920" cy="1645920"/>
          </a:xfrm>
          <a:prstGeom prst="rect">
            <a:avLst/>
          </a:prstGeom>
        </p:spPr>
      </p:pic>
      <p:sp>
        <p:nvSpPr>
          <p:cNvPr id="6" name="TextBox 5"/>
          <p:cNvSpPr txBox="1"/>
          <p:nvPr/>
        </p:nvSpPr>
        <p:spPr>
          <a:xfrm>
            <a:off x="731520" y="3611880"/>
            <a:ext cx="2167813" cy="822960"/>
          </a:xfrm>
          <a:prstGeom prst="rect">
            <a:avLst/>
          </a:prstGeom>
          <a:noFill/>
        </p:spPr>
        <p:txBody>
          <a:bodyPr wrap="square" anchor="t" lIns="0" rIns="0" tIns="0" bIns="0">
            <a:spAutoFit/>
          </a:bodyPr>
          <a:lstStyle/>
          <a:p>
            <a:pPr algn="ctr"/>
            <a:r>
              <a:rPr sz="2200" b="1" i="0">
                <a:solidFill>
                  <a:srgbClr val="F2F4F7"/>
                </a:solidFill>
                <a:latin typeface="Arial"/>
              </a:rPr>
              <a:t>Paid a little too little</a:t>
            </a:r>
          </a:p>
        </p:txBody>
      </p:sp>
      <p:sp>
        <p:nvSpPr>
          <p:cNvPr id="7" name="Rounded Rectangle 6"/>
          <p:cNvSpPr/>
          <p:nvPr/>
        </p:nvSpPr>
        <p:spPr>
          <a:xfrm>
            <a:off x="3402253" y="1600200"/>
            <a:ext cx="2533573" cy="3017520"/>
          </a:xfrm>
          <a:prstGeom prst="roundRect">
            <a:avLst>
              <a:gd name="adj" fmla="val 8000"/>
            </a:avLst>
          </a:prstGeom>
          <a:solidFill>
            <a:srgbClr val="151A24"/>
          </a:solidFill>
          <a:ln w="12700">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road.png"/>
          <p:cNvPicPr>
            <a:picLocks noChangeAspect="1"/>
          </p:cNvPicPr>
          <p:nvPr/>
        </p:nvPicPr>
        <p:blipFill>
          <a:blip r:embed="rId4"/>
          <a:stretch>
            <a:fillRect/>
          </a:stretch>
        </p:blipFill>
        <p:spPr>
          <a:xfrm>
            <a:off x="3846080" y="1783080"/>
            <a:ext cx="1645920" cy="1645920"/>
          </a:xfrm>
          <a:prstGeom prst="rect">
            <a:avLst/>
          </a:prstGeom>
        </p:spPr>
      </p:pic>
      <p:sp>
        <p:nvSpPr>
          <p:cNvPr id="9" name="TextBox 8"/>
          <p:cNvSpPr txBox="1"/>
          <p:nvPr/>
        </p:nvSpPr>
        <p:spPr>
          <a:xfrm>
            <a:off x="3585133" y="3611880"/>
            <a:ext cx="2167813" cy="822960"/>
          </a:xfrm>
          <a:prstGeom prst="rect">
            <a:avLst/>
          </a:prstGeom>
          <a:noFill/>
        </p:spPr>
        <p:txBody>
          <a:bodyPr wrap="square" anchor="t" lIns="0" rIns="0" tIns="0" bIns="0">
            <a:spAutoFit/>
          </a:bodyPr>
          <a:lstStyle/>
          <a:p>
            <a:pPr algn="ctr"/>
            <a:r>
              <a:rPr sz="2200" b="1" i="0">
                <a:solidFill>
                  <a:srgbClr val="F2F4F7"/>
                </a:solidFill>
                <a:latin typeface="Arial"/>
              </a:rPr>
              <a:t>Sent the wrong way</a:t>
            </a:r>
          </a:p>
        </p:txBody>
      </p:sp>
      <p:sp>
        <p:nvSpPr>
          <p:cNvPr id="10" name="Rounded Rectangle 9"/>
          <p:cNvSpPr/>
          <p:nvPr/>
        </p:nvSpPr>
        <p:spPr>
          <a:xfrm>
            <a:off x="6255867" y="1600200"/>
            <a:ext cx="2533573" cy="3017520"/>
          </a:xfrm>
          <a:prstGeom prst="roundRect">
            <a:avLst>
              <a:gd name="adj" fmla="val 8000"/>
            </a:avLst>
          </a:prstGeom>
          <a:solidFill>
            <a:srgbClr val="151A24"/>
          </a:solidFill>
          <a:ln w="12700">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fake.png"/>
          <p:cNvPicPr>
            <a:picLocks noChangeAspect="1"/>
          </p:cNvPicPr>
          <p:nvPr/>
        </p:nvPicPr>
        <p:blipFill>
          <a:blip r:embed="rId5"/>
          <a:stretch>
            <a:fillRect/>
          </a:stretch>
        </p:blipFill>
        <p:spPr>
          <a:xfrm>
            <a:off x="6699694" y="1783080"/>
            <a:ext cx="1645920" cy="1645920"/>
          </a:xfrm>
          <a:prstGeom prst="rect">
            <a:avLst/>
          </a:prstGeom>
        </p:spPr>
      </p:pic>
      <p:sp>
        <p:nvSpPr>
          <p:cNvPr id="12" name="TextBox 11"/>
          <p:cNvSpPr txBox="1"/>
          <p:nvPr/>
        </p:nvSpPr>
        <p:spPr>
          <a:xfrm>
            <a:off x="6438747" y="3611880"/>
            <a:ext cx="2167813" cy="822960"/>
          </a:xfrm>
          <a:prstGeom prst="rect">
            <a:avLst/>
          </a:prstGeom>
          <a:noFill/>
        </p:spPr>
        <p:txBody>
          <a:bodyPr wrap="square" anchor="t" lIns="0" rIns="0" tIns="0" bIns="0">
            <a:spAutoFit/>
          </a:bodyPr>
          <a:lstStyle/>
          <a:p>
            <a:pPr algn="ctr"/>
            <a:r>
              <a:rPr sz="2200" b="1" i="0">
                <a:solidFill>
                  <a:srgbClr val="F2F4F7"/>
                </a:solidFill>
                <a:latin typeface="Arial"/>
              </a:rPr>
              <a:t>Fake digital dollars</a:t>
            </a:r>
          </a:p>
        </p:txBody>
      </p:sp>
      <p:sp>
        <p:nvSpPr>
          <p:cNvPr id="13" name="Rounded Rectangle 12"/>
          <p:cNvSpPr/>
          <p:nvPr/>
        </p:nvSpPr>
        <p:spPr>
          <a:xfrm>
            <a:off x="9109481" y="1600200"/>
            <a:ext cx="2533573" cy="3017520"/>
          </a:xfrm>
          <a:prstGeom prst="roundRect">
            <a:avLst>
              <a:gd name="adj" fmla="val 8000"/>
            </a:avLst>
          </a:prstGeom>
          <a:solidFill>
            <a:srgbClr val="151A24"/>
          </a:solidFill>
          <a:ln w="12700">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nolabel.png"/>
          <p:cNvPicPr>
            <a:picLocks noChangeAspect="1"/>
          </p:cNvPicPr>
          <p:nvPr/>
        </p:nvPicPr>
        <p:blipFill>
          <a:blip r:embed="rId6"/>
          <a:stretch>
            <a:fillRect/>
          </a:stretch>
        </p:blipFill>
        <p:spPr>
          <a:xfrm>
            <a:off x="9553308" y="1783080"/>
            <a:ext cx="1645920" cy="1645920"/>
          </a:xfrm>
          <a:prstGeom prst="rect">
            <a:avLst/>
          </a:prstGeom>
        </p:spPr>
      </p:pic>
      <p:sp>
        <p:nvSpPr>
          <p:cNvPr id="15" name="TextBox 14"/>
          <p:cNvSpPr txBox="1"/>
          <p:nvPr/>
        </p:nvSpPr>
        <p:spPr>
          <a:xfrm>
            <a:off x="9292361" y="3611880"/>
            <a:ext cx="2167813" cy="822960"/>
          </a:xfrm>
          <a:prstGeom prst="rect">
            <a:avLst/>
          </a:prstGeom>
          <a:noFill/>
        </p:spPr>
        <p:txBody>
          <a:bodyPr wrap="square" anchor="t" lIns="0" rIns="0" tIns="0" bIns="0">
            <a:spAutoFit/>
          </a:bodyPr>
          <a:lstStyle/>
          <a:p>
            <a:pPr algn="ctr"/>
            <a:r>
              <a:rPr sz="2200" b="1" i="0">
                <a:solidFill>
                  <a:srgbClr val="F2F4F7"/>
                </a:solidFill>
                <a:latin typeface="Arial"/>
              </a:rPr>
              <a:t>No invoice number</a:t>
            </a:r>
          </a:p>
        </p:txBody>
      </p:sp>
      <p:sp>
        <p:nvSpPr>
          <p:cNvPr id="16" name="Rounded Rectangle 15"/>
          <p:cNvSpPr/>
          <p:nvPr/>
        </p:nvSpPr>
        <p:spPr>
          <a:xfrm>
            <a:off x="548640" y="4937760"/>
            <a:ext cx="11094415" cy="822960"/>
          </a:xfrm>
          <a:prstGeom prst="roundRect">
            <a:avLst>
              <a:gd name="adj" fmla="val 8000"/>
            </a:avLst>
          </a:prstGeom>
          <a:solidFill>
            <a:srgbClr val="151A24"/>
          </a:solidFill>
          <a:ln w="12700">
            <a:solidFill>
              <a:srgbClr val="8EA2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37760"/>
            <a:ext cx="10454335" cy="822960"/>
          </a:xfrm>
          <a:prstGeom prst="rect">
            <a:avLst/>
          </a:prstGeom>
          <a:noFill/>
        </p:spPr>
        <p:txBody>
          <a:bodyPr wrap="square" anchor="ctr" lIns="0" rIns="0" tIns="0" bIns="0">
            <a:spAutoFit/>
          </a:bodyPr>
          <a:lstStyle/>
          <a:p>
            <a:pPr algn="l"/>
            <a:r>
              <a:rPr sz="2000" b="0" i="0">
                <a:solidFill>
                  <a:srgbClr val="F2F4F7"/>
                </a:solidFill>
                <a:latin typeface="Arial"/>
              </a:rPr>
              <a:t>The cost: hours lost</a:t>
            </a:r>
            <a:r>
              <a:rPr sz="2600" b="1" i="0">
                <a:solidFill>
                  <a:srgbClr val="B9C6FF"/>
                </a:solidFill>
                <a:latin typeface="Arial"/>
              </a:rPr>
              <a:t>◦</a:t>
            </a:r>
            <a:r>
              <a:rPr sz="2000" b="0" i="0">
                <a:solidFill>
                  <a:srgbClr val="F2F4F7"/>
                </a:solidFill>
                <a:latin typeface="Arial"/>
              </a:rPr>
              <a:t>, customers waiting, and the risk of accepting fake money.</a:t>
            </a:r>
          </a:p>
        </p:txBody>
      </p:sp>
      <p:sp>
        <p:nvSpPr>
          <p:cNvPr id="18" name="Sources"/>
          <p:cNvSpPr txBox="1"/>
          <p:nvPr/>
        </p:nvSpPr>
        <p:spPr>
          <a:xfrm>
            <a:off x="548640" y="6291072"/>
            <a:ext cx="11094415" cy="457200"/>
          </a:xfrm>
          <a:prstGeom prst="rect">
            <a:avLst/>
          </a:prstGeom>
          <a:noFill/>
        </p:spPr>
        <p:txBody>
          <a:bodyPr wrap="square" anchor="t" lIns="0" rIns="0" tIns="0" bIns="0">
            <a:spAutoFit/>
          </a:bodyPr>
          <a:lstStyle/>
          <a:p>
            <a:pPr algn="l"/>
            <a:r>
              <a:rPr sz="1000" b="0" i="0">
                <a:solidFill>
                  <a:srgbClr val="767E8C"/>
                </a:solidFill>
                <a:latin typeface="Arial"/>
              </a:rPr>
              <a:t>All four appear in my tests on real transactions (e.g. 13 fake-USDT, 6 wrong-network). How often they happen, and how long each takes, are not yet measured.</a:t>
            </a:r>
          </a:p>
          <a:p>
            <a:pPr algn="l"/>
            <a:r>
              <a:rPr sz="1000" b="0" i="0">
                <a:solidFill>
                  <a:srgbClr val="A3AAB6"/>
                </a:solidFill>
                <a:latin typeface="Arial"/>
              </a:rPr>
              <a:t>◦ estimate   † my belief, not yet proven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0E14"/>
        </a:solidFill>
        <a:effectLst/>
      </p:bgPr>
    </p:bg>
    <p:spTree>
      <p:nvGrpSpPr>
        <p:cNvPr id="1" name=""/>
        <p:cNvGrpSpPr/>
        <p:nvPr/>
      </p:nvGrpSpPr>
      <p:grpSpPr/>
      <p:sp>
        <p:nvSpPr>
          <p:cNvPr id="2" name="Topline"/>
          <p:cNvSpPr txBox="1"/>
          <p:nvPr/>
        </p:nvSpPr>
        <p:spPr>
          <a:xfrm>
            <a:off x="548640" y="228600"/>
            <a:ext cx="11094415" cy="320040"/>
          </a:xfrm>
          <a:prstGeom prst="rect">
            <a:avLst/>
          </a:prstGeom>
          <a:noFill/>
        </p:spPr>
        <p:txBody>
          <a:bodyPr wrap="square" anchor="t" lIns="0" rIns="0" tIns="0" bIns="0">
            <a:spAutoFit/>
          </a:bodyPr>
          <a:lstStyle/>
          <a:p>
            <a:pPr algn="l"/>
            <a:r>
              <a:rPr sz="1200" b="0" i="0">
                <a:solidFill>
                  <a:srgbClr val="767E8C"/>
                </a:solidFill>
                <a:latin typeface="Arial"/>
              </a:rPr>
              <a:t>Clearline · a project I'm exploring · Aashmiin Kaur, SMU</a:t>
            </a:r>
          </a:p>
        </p:txBody>
      </p:sp>
      <p:sp>
        <p:nvSpPr>
          <p:cNvPr id="3" name="Title"/>
          <p:cNvSpPr txBox="1"/>
          <p:nvPr/>
        </p:nvSpPr>
        <p:spPr>
          <a:xfrm>
            <a:off x="548640" y="566928"/>
            <a:ext cx="11094415" cy="822960"/>
          </a:xfrm>
          <a:prstGeom prst="rect">
            <a:avLst/>
          </a:prstGeom>
          <a:noFill/>
        </p:spPr>
        <p:txBody>
          <a:bodyPr wrap="square" anchor="t" lIns="0" rIns="0" tIns="0" bIns="0">
            <a:spAutoFit/>
          </a:bodyPr>
          <a:lstStyle/>
          <a:p>
            <a:pPr algn="l"/>
            <a:r>
              <a:rPr sz="3400" b="1" i="0">
                <a:solidFill>
                  <a:srgbClr val="F2F4F7"/>
                </a:solidFill>
                <a:latin typeface="Arial"/>
              </a:rPr>
              <a:t>What already exists, and what still looks manual</a:t>
            </a:r>
          </a:p>
        </p:txBody>
      </p:sp>
      <p:sp>
        <p:nvSpPr>
          <p:cNvPr id="4" name="Rounded Rectangle 3"/>
          <p:cNvSpPr/>
          <p:nvPr/>
        </p:nvSpPr>
        <p:spPr>
          <a:xfrm>
            <a:off x="548640" y="1600200"/>
            <a:ext cx="11094415" cy="1078992"/>
          </a:xfrm>
          <a:prstGeom prst="roundRect">
            <a:avLst>
              <a:gd name="adj" fmla="val 8000"/>
            </a:avLst>
          </a:prstGeom>
          <a:solidFill>
            <a:srgbClr val="151A24"/>
          </a:solidFill>
          <a:ln w="12700">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00200"/>
            <a:ext cx="5669280" cy="1078992"/>
          </a:xfrm>
          <a:prstGeom prst="rect">
            <a:avLst/>
          </a:prstGeom>
          <a:noFill/>
        </p:spPr>
        <p:txBody>
          <a:bodyPr wrap="square" anchor="ctr" lIns="0" rIns="0" tIns="0" bIns="0">
            <a:spAutoFit/>
          </a:bodyPr>
          <a:lstStyle/>
          <a:p>
            <a:pPr algn="l"/>
            <a:r>
              <a:rPr sz="2200" b="1" i="0">
                <a:solidFill>
                  <a:srgbClr val="F2F4F7"/>
                </a:solidFill>
                <a:latin typeface="Arial"/>
              </a:rPr>
              <a:t>Big platforms</a:t>
            </a:r>
          </a:p>
          <a:p>
            <a:pPr algn="l"/>
            <a:r>
              <a:rPr sz="2000" b="0" i="0">
                <a:solidFill>
                  <a:srgbClr val="A3AAB6"/>
                </a:solidFill>
                <a:latin typeface="Arial"/>
              </a:rPr>
              <a:t>Stripe, Circle, Coinbase</a:t>
            </a:r>
          </a:p>
        </p:txBody>
      </p:sp>
      <p:sp>
        <p:nvSpPr>
          <p:cNvPr id="6" name="TextBox 5"/>
          <p:cNvSpPr txBox="1"/>
          <p:nvPr/>
        </p:nvSpPr>
        <p:spPr>
          <a:xfrm>
            <a:off x="6629400" y="1600200"/>
            <a:ext cx="548640" cy="1078992"/>
          </a:xfrm>
          <a:prstGeom prst="rect">
            <a:avLst/>
          </a:prstGeom>
          <a:noFill/>
        </p:spPr>
        <p:txBody>
          <a:bodyPr wrap="square" anchor="ctr" lIns="0" rIns="0" tIns="0" bIns="0">
            <a:spAutoFit/>
          </a:bodyPr>
          <a:lstStyle/>
          <a:p>
            <a:pPr algn="l"/>
            <a:r>
              <a:rPr sz="3200" b="0" i="0">
                <a:solidFill>
                  <a:srgbClr val="A3AAB6"/>
                </a:solidFill>
                <a:latin typeface="Arial"/>
              </a:rPr>
              <a:t>→</a:t>
            </a:r>
          </a:p>
        </p:txBody>
      </p:sp>
      <p:sp>
        <p:nvSpPr>
          <p:cNvPr id="7" name="TextBox 6"/>
          <p:cNvSpPr txBox="1"/>
          <p:nvPr/>
        </p:nvSpPr>
        <p:spPr>
          <a:xfrm>
            <a:off x="7223759" y="1600200"/>
            <a:ext cx="4190695" cy="1078992"/>
          </a:xfrm>
          <a:prstGeom prst="rect">
            <a:avLst/>
          </a:prstGeom>
          <a:noFill/>
        </p:spPr>
        <p:txBody>
          <a:bodyPr wrap="square" anchor="ctr" lIns="0" rIns="0" tIns="0" bIns="0">
            <a:spAutoFit/>
          </a:bodyPr>
          <a:lstStyle/>
          <a:p>
            <a:pPr algn="l"/>
            <a:r>
              <a:rPr sz="2100" b="1" i="0">
                <a:solidFill>
                  <a:srgbClr val="F2F4F7"/>
                </a:solidFill>
                <a:latin typeface="Arial"/>
              </a:rPr>
              <a:t>Becoming one-stop shops</a:t>
            </a:r>
          </a:p>
        </p:txBody>
      </p:sp>
      <p:sp>
        <p:nvSpPr>
          <p:cNvPr id="8" name="Rounded Rectangle 7"/>
          <p:cNvSpPr/>
          <p:nvPr/>
        </p:nvSpPr>
        <p:spPr>
          <a:xfrm>
            <a:off x="548640" y="2834640"/>
            <a:ext cx="11094415" cy="1078992"/>
          </a:xfrm>
          <a:prstGeom prst="roundRect">
            <a:avLst>
              <a:gd name="adj" fmla="val 8000"/>
            </a:avLst>
          </a:prstGeom>
          <a:solidFill>
            <a:srgbClr val="151A24"/>
          </a:solidFill>
          <a:ln w="12700">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834640"/>
            <a:ext cx="5669280" cy="1078992"/>
          </a:xfrm>
          <a:prstGeom prst="rect">
            <a:avLst/>
          </a:prstGeom>
          <a:noFill/>
        </p:spPr>
        <p:txBody>
          <a:bodyPr wrap="square" anchor="ctr" lIns="0" rIns="0" tIns="0" bIns="0">
            <a:spAutoFit/>
          </a:bodyPr>
          <a:lstStyle/>
          <a:p>
            <a:pPr algn="l"/>
            <a:r>
              <a:rPr sz="2200" b="1" i="0">
                <a:solidFill>
                  <a:srgbClr val="F2F4F7"/>
                </a:solidFill>
                <a:latin typeface="Arial"/>
              </a:rPr>
              <a:t>Crypto accounting tools</a:t>
            </a:r>
          </a:p>
          <a:p>
            <a:pPr algn="l"/>
            <a:r>
              <a:rPr sz="2000" b="0" i="0">
                <a:solidFill>
                  <a:srgbClr val="A3AAB6"/>
                </a:solidFill>
                <a:latin typeface="Arial"/>
              </a:rPr>
              <a:t>e.g. Bitwave, Request Finance</a:t>
            </a:r>
          </a:p>
        </p:txBody>
      </p:sp>
      <p:sp>
        <p:nvSpPr>
          <p:cNvPr id="10" name="TextBox 9"/>
          <p:cNvSpPr txBox="1"/>
          <p:nvPr/>
        </p:nvSpPr>
        <p:spPr>
          <a:xfrm>
            <a:off x="6629400" y="2834640"/>
            <a:ext cx="548640" cy="1078992"/>
          </a:xfrm>
          <a:prstGeom prst="rect">
            <a:avLst/>
          </a:prstGeom>
          <a:noFill/>
        </p:spPr>
        <p:txBody>
          <a:bodyPr wrap="square" anchor="ctr" lIns="0" rIns="0" tIns="0" bIns="0">
            <a:spAutoFit/>
          </a:bodyPr>
          <a:lstStyle/>
          <a:p>
            <a:pPr algn="l"/>
            <a:r>
              <a:rPr sz="3200" b="0" i="0">
                <a:solidFill>
                  <a:srgbClr val="A3AAB6"/>
                </a:solidFill>
                <a:latin typeface="Arial"/>
              </a:rPr>
              <a:t>→</a:t>
            </a:r>
          </a:p>
        </p:txBody>
      </p:sp>
      <p:sp>
        <p:nvSpPr>
          <p:cNvPr id="11" name="TextBox 10"/>
          <p:cNvSpPr txBox="1"/>
          <p:nvPr/>
        </p:nvSpPr>
        <p:spPr>
          <a:xfrm>
            <a:off x="7223759" y="2834640"/>
            <a:ext cx="4190695" cy="1078992"/>
          </a:xfrm>
          <a:prstGeom prst="rect">
            <a:avLst/>
          </a:prstGeom>
          <a:noFill/>
        </p:spPr>
        <p:txBody>
          <a:bodyPr wrap="square" anchor="ctr" lIns="0" rIns="0" tIns="0" bIns="0">
            <a:spAutoFit/>
          </a:bodyPr>
          <a:lstStyle/>
          <a:p>
            <a:pPr algn="l"/>
            <a:r>
              <a:rPr sz="2100" b="1" i="0">
                <a:solidFill>
                  <a:srgbClr val="F2F4F7"/>
                </a:solidFill>
                <a:latin typeface="Arial"/>
              </a:rPr>
              <a:t>Already sync to Xero, QuickBooks and NetSuite  ✓</a:t>
            </a:r>
          </a:p>
        </p:txBody>
      </p:sp>
      <p:sp>
        <p:nvSpPr>
          <p:cNvPr id="12" name="Rounded Rectangle 11"/>
          <p:cNvSpPr/>
          <p:nvPr/>
        </p:nvSpPr>
        <p:spPr>
          <a:xfrm>
            <a:off x="548640" y="4069080"/>
            <a:ext cx="11094415" cy="1078992"/>
          </a:xfrm>
          <a:prstGeom prst="roundRect">
            <a:avLst>
              <a:gd name="adj" fmla="val 8000"/>
            </a:avLst>
          </a:prstGeom>
          <a:solidFill>
            <a:srgbClr val="151A24"/>
          </a:solidFill>
          <a:ln w="12700">
            <a:solidFill>
              <a:srgbClr val="8EA2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4069080"/>
            <a:ext cx="5669280" cy="1078992"/>
          </a:xfrm>
          <a:prstGeom prst="rect">
            <a:avLst/>
          </a:prstGeom>
          <a:noFill/>
        </p:spPr>
        <p:txBody>
          <a:bodyPr wrap="square" anchor="ctr" lIns="0" rIns="0" tIns="0" bIns="0">
            <a:spAutoFit/>
          </a:bodyPr>
          <a:lstStyle/>
          <a:p>
            <a:pPr algn="l"/>
            <a:r>
              <a:rPr sz="2200" b="1" i="0">
                <a:solidFill>
                  <a:srgbClr val="F2F4F7"/>
                </a:solidFill>
                <a:latin typeface="Arial"/>
              </a:rPr>
              <a:t>A small business paid straight into its own wallet</a:t>
            </a:r>
          </a:p>
        </p:txBody>
      </p:sp>
      <p:sp>
        <p:nvSpPr>
          <p:cNvPr id="14" name="TextBox 13"/>
          <p:cNvSpPr txBox="1"/>
          <p:nvPr/>
        </p:nvSpPr>
        <p:spPr>
          <a:xfrm>
            <a:off x="6629400" y="4069080"/>
            <a:ext cx="548640" cy="1078992"/>
          </a:xfrm>
          <a:prstGeom prst="rect">
            <a:avLst/>
          </a:prstGeom>
          <a:noFill/>
        </p:spPr>
        <p:txBody>
          <a:bodyPr wrap="square" anchor="ctr" lIns="0" rIns="0" tIns="0" bIns="0">
            <a:spAutoFit/>
          </a:bodyPr>
          <a:lstStyle/>
          <a:p>
            <a:pPr algn="l"/>
            <a:r>
              <a:rPr sz="3200" b="0" i="0">
                <a:solidFill>
                  <a:srgbClr val="B9C6FF"/>
                </a:solidFill>
                <a:latin typeface="Arial"/>
              </a:rPr>
              <a:t>→</a:t>
            </a:r>
          </a:p>
        </p:txBody>
      </p:sp>
      <p:sp>
        <p:nvSpPr>
          <p:cNvPr id="15" name="TextBox 14"/>
          <p:cNvSpPr txBox="1"/>
          <p:nvPr/>
        </p:nvSpPr>
        <p:spPr>
          <a:xfrm>
            <a:off x="7223759" y="4069080"/>
            <a:ext cx="4190695" cy="1078992"/>
          </a:xfrm>
          <a:prstGeom prst="rect">
            <a:avLst/>
          </a:prstGeom>
          <a:noFill/>
        </p:spPr>
        <p:txBody>
          <a:bodyPr wrap="square" anchor="ctr" lIns="0" rIns="0" tIns="0" bIns="0">
            <a:spAutoFit/>
          </a:bodyPr>
          <a:lstStyle/>
          <a:p>
            <a:pPr algn="l"/>
            <a:r>
              <a:rPr sz="2100" b="1" i="0">
                <a:solidFill>
                  <a:srgbClr val="FF8A7F"/>
                </a:solidFill>
                <a:latin typeface="Arial"/>
              </a:rPr>
              <a:t>Wrong payments, and posting them correctly: still by hand  †</a:t>
            </a:r>
          </a:p>
        </p:txBody>
      </p:sp>
      <p:sp>
        <p:nvSpPr>
          <p:cNvPr id="16" name="Rounded Rectangle 15"/>
          <p:cNvSpPr/>
          <p:nvPr/>
        </p:nvSpPr>
        <p:spPr>
          <a:xfrm>
            <a:off x="6629400" y="5285232"/>
            <a:ext cx="4937760" cy="518160"/>
          </a:xfrm>
          <a:prstGeom prst="roundRect">
            <a:avLst>
              <a:gd name="adj" fmla="val 50000"/>
            </a:avLst>
          </a:prstGeom>
          <a:solidFill>
            <a:srgbClr val="0B0E14"/>
          </a:solidFill>
          <a:ln w="12700">
            <a:solidFill>
              <a:srgbClr val="8EA2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29400" y="5285232"/>
            <a:ext cx="4937760" cy="518160"/>
          </a:xfrm>
          <a:prstGeom prst="rect">
            <a:avLst/>
          </a:prstGeom>
          <a:noFill/>
        </p:spPr>
        <p:txBody>
          <a:bodyPr wrap="square" anchor="ctr" lIns="0" rIns="0" tIns="0" bIns="0">
            <a:spAutoFit/>
          </a:bodyPr>
          <a:lstStyle/>
          <a:p>
            <a:pPr algn="ctr"/>
            <a:r>
              <a:rPr sz="2000" b="0" i="0">
                <a:solidFill>
                  <a:srgbClr val="8EA2FF"/>
                </a:solidFill>
                <a:latin typeface="Arial"/>
              </a:rPr>
              <a:t>↑ A hypothesis I'm testing in calls</a:t>
            </a:r>
          </a:p>
        </p:txBody>
      </p:sp>
      <p:sp>
        <p:nvSpPr>
          <p:cNvPr id="18" name="Sources"/>
          <p:cNvSpPr txBox="1"/>
          <p:nvPr/>
        </p:nvSpPr>
        <p:spPr>
          <a:xfrm>
            <a:off x="548640" y="6291072"/>
            <a:ext cx="11094415" cy="457200"/>
          </a:xfrm>
          <a:prstGeom prst="rect">
            <a:avLst/>
          </a:prstGeom>
          <a:noFill/>
        </p:spPr>
        <p:txBody>
          <a:bodyPr wrap="square" anchor="t" lIns="0" rIns="0" tIns="0" bIns="0">
            <a:spAutoFit/>
          </a:bodyPr>
          <a:lstStyle/>
          <a:p>
            <a:pPr algn="l"/>
            <a:r>
              <a:rPr sz="1000" b="0" i="0">
                <a:solidFill>
                  <a:srgbClr val="767E8C"/>
                </a:solidFill>
                <a:latin typeface="Arial"/>
              </a:rPr>
              <a:t>Bessemer Venture Partners, Apr 2026 (one-stop shops).  Bitwave: bitwave.io · Request Finance: help.request.finance (both checked 28 Oct 2026).</a:t>
            </a:r>
          </a:p>
          <a:p>
            <a:pPr algn="l"/>
            <a:r>
              <a:rPr sz="1000" b="0" i="0">
                <a:solidFill>
                  <a:srgbClr val="A3AAB6"/>
                </a:solidFill>
                <a:latin typeface="Arial"/>
              </a:rPr>
              <a:t>◦ estimate   † my belief, not yet proven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0E14"/>
        </a:solidFill>
        <a:effectLst/>
      </p:bgPr>
    </p:bg>
    <p:spTree>
      <p:nvGrpSpPr>
        <p:cNvPr id="1" name=""/>
        <p:cNvGrpSpPr/>
        <p:nvPr/>
      </p:nvGrpSpPr>
      <p:grpSpPr/>
      <p:sp>
        <p:nvSpPr>
          <p:cNvPr id="2" name="Topline"/>
          <p:cNvSpPr txBox="1"/>
          <p:nvPr/>
        </p:nvSpPr>
        <p:spPr>
          <a:xfrm>
            <a:off x="548640" y="228600"/>
            <a:ext cx="11094415" cy="320040"/>
          </a:xfrm>
          <a:prstGeom prst="rect">
            <a:avLst/>
          </a:prstGeom>
          <a:noFill/>
        </p:spPr>
        <p:txBody>
          <a:bodyPr wrap="square" anchor="t" lIns="0" rIns="0" tIns="0" bIns="0">
            <a:spAutoFit/>
          </a:bodyPr>
          <a:lstStyle/>
          <a:p>
            <a:pPr algn="l"/>
            <a:r>
              <a:rPr sz="1200" b="0" i="0">
                <a:solidFill>
                  <a:srgbClr val="767E8C"/>
                </a:solidFill>
                <a:latin typeface="Arial"/>
              </a:rPr>
              <a:t>Clearline · a project I'm exploring · Aashmiin Kaur, SMU</a:t>
            </a:r>
          </a:p>
        </p:txBody>
      </p:sp>
      <p:sp>
        <p:nvSpPr>
          <p:cNvPr id="3" name="Title"/>
          <p:cNvSpPr txBox="1"/>
          <p:nvPr/>
        </p:nvSpPr>
        <p:spPr>
          <a:xfrm>
            <a:off x="548640" y="566928"/>
            <a:ext cx="11094415" cy="640080"/>
          </a:xfrm>
          <a:prstGeom prst="rect">
            <a:avLst/>
          </a:prstGeom>
          <a:noFill/>
        </p:spPr>
        <p:txBody>
          <a:bodyPr wrap="square" anchor="t" lIns="0" rIns="0" tIns="0" bIns="0">
            <a:spAutoFit/>
          </a:bodyPr>
          <a:lstStyle/>
          <a:p>
            <a:pPr algn="l"/>
            <a:r>
              <a:rPr sz="2800" b="1" i="0">
                <a:solidFill>
                  <a:srgbClr val="F2F4F7"/>
                </a:solidFill>
                <a:latin typeface="Arial"/>
              </a:rPr>
              <a:t>Stablecoin payments, matched, explained and in your books.</a:t>
            </a:r>
          </a:p>
        </p:txBody>
      </p:sp>
      <p:sp>
        <p:nvSpPr>
          <p:cNvPr id="4" name="TextBox 3"/>
          <p:cNvSpPr txBox="1"/>
          <p:nvPr/>
        </p:nvSpPr>
        <p:spPr>
          <a:xfrm>
            <a:off x="548640" y="1207008"/>
            <a:ext cx="11094415" cy="548640"/>
          </a:xfrm>
          <a:prstGeom prst="rect">
            <a:avLst/>
          </a:prstGeom>
          <a:noFill/>
        </p:spPr>
        <p:txBody>
          <a:bodyPr wrap="square" anchor="t" lIns="0" rIns="0" tIns="0" bIns="0">
            <a:spAutoFit/>
          </a:bodyPr>
          <a:lstStyle/>
          <a:p>
            <a:pPr algn="l"/>
            <a:r>
              <a:rPr sz="1800" b="0" i="0">
                <a:solidFill>
                  <a:srgbClr val="A3AAB6"/>
                </a:solidFill>
                <a:latin typeface="Arial"/>
              </a:rPr>
              <a:t>Clearline asks for each payment clearly, matches it to its invoice, checks it's genuine, explains anything that went wrong in plain English, and posts it to your accounting system when you approve.</a:t>
            </a:r>
          </a:p>
        </p:txBody>
      </p:sp>
      <p:sp>
        <p:nvSpPr>
          <p:cNvPr id="5" name="Rounded Rectangle 4"/>
          <p:cNvSpPr/>
          <p:nvPr/>
        </p:nvSpPr>
        <p:spPr>
          <a:xfrm>
            <a:off x="548640" y="1901952"/>
            <a:ext cx="2602153" cy="1389888"/>
          </a:xfrm>
          <a:prstGeom prst="roundRect">
            <a:avLst>
              <a:gd name="adj" fmla="val 8000"/>
            </a:avLst>
          </a:prstGeom>
          <a:solidFill>
            <a:srgbClr val="151A24"/>
          </a:solidFill>
          <a:ln w="12700">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901952"/>
            <a:ext cx="2236393" cy="1389888"/>
          </a:xfrm>
          <a:prstGeom prst="rect">
            <a:avLst/>
          </a:prstGeom>
          <a:noFill/>
        </p:spPr>
        <p:txBody>
          <a:bodyPr wrap="square" anchor="ctr" lIns="0" rIns="0" tIns="0" bIns="0">
            <a:spAutoFit/>
          </a:bodyPr>
          <a:lstStyle/>
          <a:p>
            <a:pPr algn="l">
              <a:spcAft>
                <a:spcPts val="200"/>
              </a:spcAft>
            </a:pPr>
            <a:r>
              <a:rPr sz="2100" b="1" i="0">
                <a:solidFill>
                  <a:srgbClr val="8EA2FF"/>
                </a:solidFill>
                <a:latin typeface="Arial"/>
              </a:rPr>
              <a:t>① </a:t>
            </a:r>
            <a:r>
              <a:rPr sz="2100" b="1" i="0">
                <a:solidFill>
                  <a:srgbClr val="F2F4F7"/>
                </a:solidFill>
                <a:latin typeface="Arial"/>
              </a:rPr>
              <a:t>Ask</a:t>
            </a:r>
          </a:p>
          <a:p>
            <a:pPr algn="l">
              <a:spcAft>
                <a:spcPts val="200"/>
              </a:spcAft>
            </a:pPr>
            <a:r>
              <a:rPr sz="1800" b="0" i="0">
                <a:solidFill>
                  <a:srgbClr val="A3AAB6"/>
                </a:solidFill>
                <a:latin typeface="Arial"/>
              </a:rPr>
              <a:t>A payment page per invoice</a:t>
            </a:r>
          </a:p>
        </p:txBody>
      </p:sp>
      <p:sp>
        <p:nvSpPr>
          <p:cNvPr id="7" name="Rounded Rectangle 6"/>
          <p:cNvSpPr/>
          <p:nvPr/>
        </p:nvSpPr>
        <p:spPr>
          <a:xfrm>
            <a:off x="3379393" y="1901952"/>
            <a:ext cx="2602153" cy="1389888"/>
          </a:xfrm>
          <a:prstGeom prst="roundRect">
            <a:avLst>
              <a:gd name="adj" fmla="val 8000"/>
            </a:avLst>
          </a:prstGeom>
          <a:solidFill>
            <a:srgbClr val="151A24"/>
          </a:solidFill>
          <a:ln w="12700">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62273" y="1901952"/>
            <a:ext cx="2236393" cy="1389888"/>
          </a:xfrm>
          <a:prstGeom prst="rect">
            <a:avLst/>
          </a:prstGeom>
          <a:noFill/>
        </p:spPr>
        <p:txBody>
          <a:bodyPr wrap="square" anchor="ctr" lIns="0" rIns="0" tIns="0" bIns="0">
            <a:spAutoFit/>
          </a:bodyPr>
          <a:lstStyle/>
          <a:p>
            <a:pPr algn="l">
              <a:spcAft>
                <a:spcPts val="200"/>
              </a:spcAft>
            </a:pPr>
            <a:r>
              <a:rPr sz="2100" b="1" i="0">
                <a:solidFill>
                  <a:srgbClr val="8EA2FF"/>
                </a:solidFill>
                <a:latin typeface="Arial"/>
              </a:rPr>
              <a:t>② </a:t>
            </a:r>
            <a:r>
              <a:rPr sz="2100" b="1" i="0">
                <a:solidFill>
                  <a:srgbClr val="F2F4F7"/>
                </a:solidFill>
                <a:latin typeface="Arial"/>
              </a:rPr>
              <a:t>Match</a:t>
            </a:r>
          </a:p>
          <a:p>
            <a:pPr algn="l">
              <a:spcAft>
                <a:spcPts val="200"/>
              </a:spcAft>
            </a:pPr>
            <a:r>
              <a:rPr sz="1800" b="0" i="0">
                <a:solidFill>
                  <a:srgbClr val="A3AAB6"/>
                </a:solidFill>
                <a:latin typeface="Arial"/>
              </a:rPr>
              <a:t>Correct ones tick themselves off</a:t>
            </a:r>
          </a:p>
        </p:txBody>
      </p:sp>
      <p:sp>
        <p:nvSpPr>
          <p:cNvPr id="9" name="Rounded Rectangle 8"/>
          <p:cNvSpPr/>
          <p:nvPr/>
        </p:nvSpPr>
        <p:spPr>
          <a:xfrm>
            <a:off x="6210147" y="1901952"/>
            <a:ext cx="2602153" cy="1389888"/>
          </a:xfrm>
          <a:prstGeom prst="roundRect">
            <a:avLst>
              <a:gd name="adj" fmla="val 8000"/>
            </a:avLst>
          </a:prstGeom>
          <a:solidFill>
            <a:srgbClr val="151A24"/>
          </a:solidFill>
          <a:ln w="12700">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93027" y="1901952"/>
            <a:ext cx="2236393" cy="1389888"/>
          </a:xfrm>
          <a:prstGeom prst="rect">
            <a:avLst/>
          </a:prstGeom>
          <a:noFill/>
        </p:spPr>
        <p:txBody>
          <a:bodyPr wrap="square" anchor="ctr" lIns="0" rIns="0" tIns="0" bIns="0">
            <a:spAutoFit/>
          </a:bodyPr>
          <a:lstStyle/>
          <a:p>
            <a:pPr algn="l">
              <a:spcAft>
                <a:spcPts val="200"/>
              </a:spcAft>
            </a:pPr>
            <a:r>
              <a:rPr sz="2100" b="1" i="0">
                <a:solidFill>
                  <a:srgbClr val="8EA2FF"/>
                </a:solidFill>
                <a:latin typeface="Arial"/>
              </a:rPr>
              <a:t>③ </a:t>
            </a:r>
            <a:r>
              <a:rPr sz="2100" b="1" i="0">
                <a:solidFill>
                  <a:srgbClr val="F2F4F7"/>
                </a:solidFill>
                <a:latin typeface="Arial"/>
              </a:rPr>
              <a:t>Explain</a:t>
            </a:r>
          </a:p>
          <a:p>
            <a:pPr algn="l">
              <a:spcAft>
                <a:spcPts val="200"/>
              </a:spcAft>
            </a:pPr>
            <a:r>
              <a:rPr sz="1800" b="0" i="0">
                <a:solidFill>
                  <a:srgbClr val="A3AAB6"/>
                </a:solidFill>
                <a:latin typeface="Arial"/>
              </a:rPr>
              <a:t>Wrong ones explained, reply drafted</a:t>
            </a:r>
          </a:p>
        </p:txBody>
      </p:sp>
      <p:sp>
        <p:nvSpPr>
          <p:cNvPr id="11" name="Rounded Rectangle 10"/>
          <p:cNvSpPr/>
          <p:nvPr/>
        </p:nvSpPr>
        <p:spPr>
          <a:xfrm>
            <a:off x="9040901" y="1901952"/>
            <a:ext cx="2602153" cy="1389888"/>
          </a:xfrm>
          <a:prstGeom prst="roundRect">
            <a:avLst>
              <a:gd name="adj" fmla="val 8000"/>
            </a:avLst>
          </a:prstGeom>
          <a:solidFill>
            <a:srgbClr val="151A24"/>
          </a:solidFill>
          <a:ln w="12700">
            <a:solidFill>
              <a:srgbClr val="8EA2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223781" y="1901952"/>
            <a:ext cx="2236393" cy="1389888"/>
          </a:xfrm>
          <a:prstGeom prst="rect">
            <a:avLst/>
          </a:prstGeom>
          <a:noFill/>
        </p:spPr>
        <p:txBody>
          <a:bodyPr wrap="square" anchor="ctr" lIns="0" rIns="0" tIns="0" bIns="0">
            <a:spAutoFit/>
          </a:bodyPr>
          <a:lstStyle/>
          <a:p>
            <a:pPr algn="l">
              <a:spcAft>
                <a:spcPts val="200"/>
              </a:spcAft>
            </a:pPr>
            <a:r>
              <a:rPr sz="2100" b="1" i="0">
                <a:solidFill>
                  <a:srgbClr val="8EA2FF"/>
                </a:solidFill>
                <a:latin typeface="Arial"/>
              </a:rPr>
              <a:t>④ </a:t>
            </a:r>
            <a:r>
              <a:rPr sz="2100" b="1" i="0">
                <a:solidFill>
                  <a:srgbClr val="B9C6FF"/>
                </a:solidFill>
                <a:latin typeface="Arial"/>
              </a:rPr>
              <a:t>In your books</a:t>
            </a:r>
          </a:p>
          <a:p>
            <a:pPr algn="l">
              <a:spcAft>
                <a:spcPts val="200"/>
              </a:spcAft>
            </a:pPr>
            <a:r>
              <a:rPr sz="1800" b="0" i="0">
                <a:solidFill>
                  <a:srgbClr val="A3AAB6"/>
                </a:solidFill>
                <a:latin typeface="Arial"/>
              </a:rPr>
              <a:t>Posted to your books on approval (Xero first)</a:t>
            </a:r>
          </a:p>
        </p:txBody>
      </p:sp>
      <p:pic>
        <p:nvPicPr>
          <p:cNvPr id="13" name="Picture 12" descr="books_posted.png"/>
          <p:cNvPicPr>
            <a:picLocks noChangeAspect="1"/>
          </p:cNvPicPr>
          <p:nvPr/>
        </p:nvPicPr>
        <p:blipFill>
          <a:blip r:embed="rId3"/>
          <a:stretch>
            <a:fillRect/>
          </a:stretch>
        </p:blipFill>
        <p:spPr>
          <a:xfrm>
            <a:off x="548640" y="3493008"/>
            <a:ext cx="4754880" cy="2290460"/>
          </a:xfrm>
          <a:prstGeom prst="rect">
            <a:avLst/>
          </a:prstGeom>
        </p:spPr>
      </p:pic>
      <p:sp>
        <p:nvSpPr>
          <p:cNvPr id="14" name="TextBox 13"/>
          <p:cNvSpPr txBox="1"/>
          <p:nvPr/>
        </p:nvSpPr>
        <p:spPr>
          <a:xfrm>
            <a:off x="548640" y="5838332"/>
            <a:ext cx="4754880" cy="320040"/>
          </a:xfrm>
          <a:prstGeom prst="rect">
            <a:avLst/>
          </a:prstGeom>
          <a:noFill/>
        </p:spPr>
        <p:txBody>
          <a:bodyPr wrap="square" anchor="t" lIns="0" rIns="0" tIns="0" bIns="0">
            <a:spAutoFit/>
          </a:bodyPr>
          <a:lstStyle/>
          <a:p>
            <a:pPr algn="ctr"/>
            <a:r>
              <a:rPr sz="1600" b="0" i="0">
                <a:solidFill>
                  <a:srgbClr val="A3AAB6"/>
                </a:solidFill>
                <a:latin typeface="Arial"/>
              </a:rPr>
              <a:t>Step 4 in Clearline · demo mode, fictional company</a:t>
            </a:r>
          </a:p>
        </p:txBody>
      </p:sp>
      <p:sp>
        <p:nvSpPr>
          <p:cNvPr id="15" name="Rounded Rectangle 14"/>
          <p:cNvSpPr/>
          <p:nvPr/>
        </p:nvSpPr>
        <p:spPr>
          <a:xfrm>
            <a:off x="5623559" y="3493008"/>
            <a:ext cx="3794760" cy="2697480"/>
          </a:xfrm>
          <a:prstGeom prst="roundRect">
            <a:avLst>
              <a:gd name="adj" fmla="val 8000"/>
            </a:avLst>
          </a:prstGeom>
          <a:solidFill>
            <a:srgbClr val="151A24"/>
          </a:solidFill>
          <a:ln w="12700">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852159" y="3584448"/>
            <a:ext cx="3337560" cy="2514600"/>
          </a:xfrm>
          <a:prstGeom prst="rect">
            <a:avLst/>
          </a:prstGeom>
          <a:noFill/>
        </p:spPr>
        <p:txBody>
          <a:bodyPr wrap="square" anchor="ctr" lIns="0" rIns="0" tIns="0" bIns="0">
            <a:spAutoFit/>
          </a:bodyPr>
          <a:lstStyle/>
          <a:p>
            <a:pPr algn="l">
              <a:spcAft>
                <a:spcPts val="300"/>
              </a:spcAft>
            </a:pPr>
            <a:r>
              <a:rPr sz="1800" b="1" i="0">
                <a:solidFill>
                  <a:srgbClr val="B9C6FF"/>
                </a:solidFill>
                <a:latin typeface="Arial"/>
              </a:rPr>
              <a:t>Where it is today</a:t>
            </a:r>
          </a:p>
          <a:p>
            <a:pPr algn="l">
              <a:spcAft>
                <a:spcPts val="300"/>
              </a:spcAft>
            </a:pPr>
            <a:r>
              <a:rPr sz="1500" b="0" i="0">
                <a:solidFill>
                  <a:srgbClr val="F2F4F7"/>
                </a:solidFill>
                <a:latin typeface="Arial"/>
              </a:rPr>
              <a:t>Xero connection built and checked in automated tests</a:t>
            </a:r>
          </a:p>
          <a:p>
            <a:pPr algn="l">
              <a:spcAft>
                <a:spcPts val="300"/>
              </a:spcAft>
            </a:pPr>
            <a:r>
              <a:rPr sz="1500" b="0" i="0">
                <a:solidFill>
                  <a:srgbClr val="F2F4F7"/>
                </a:solidFill>
                <a:latin typeface="Arial"/>
              </a:rPr>
              <a:t>Posting rules tested in demo mode (fictional company)</a:t>
            </a:r>
          </a:p>
          <a:p>
            <a:pPr algn="l">
              <a:spcAft>
                <a:spcPts val="300"/>
              </a:spcAft>
            </a:pPr>
            <a:r>
              <a:rPr sz="1500" b="0" i="0">
                <a:solidFill>
                  <a:srgbClr val="F2F4F7"/>
                </a:solidFill>
                <a:latin typeface="Arial"/>
              </a:rPr>
              <a:t>Next: first live test with Xero's demo company</a:t>
            </a:r>
          </a:p>
          <a:p>
            <a:pPr algn="l">
              <a:spcAft>
                <a:spcPts val="300"/>
              </a:spcAft>
            </a:pPr>
            <a:r>
              <a:rPr sz="1500" b="0" i="0">
                <a:solidFill>
                  <a:srgbClr val="F2F4F7"/>
                </a:solidFill>
                <a:latin typeface="Arial"/>
              </a:rPr>
              <a:t>Then QuickBooks; NetSuite on the roadmap</a:t>
            </a:r>
          </a:p>
          <a:p>
            <a:pPr algn="l">
              <a:spcAft>
                <a:spcPts val="300"/>
              </a:spcAft>
            </a:pPr>
            <a:r>
              <a:rPr sz="1500" b="1" i="0">
                <a:solidFill>
                  <a:srgbClr val="F2F4F7"/>
                </a:solidFill>
                <a:latin typeface="Arial"/>
              </a:rPr>
              <a:t>0 customers, working demo</a:t>
            </a:r>
          </a:p>
        </p:txBody>
      </p:sp>
      <p:pic>
        <p:nvPicPr>
          <p:cNvPr id="17" name="Demo video (60 s)">
            <a:hlinkClick r:id="" action="ppaction://media"/>
          </p:cNvPr>
          <p:cNvPicPr>
            <a:picLocks noChangeAspect="1"/>
          </p:cNvPicPr>
          <p:nvPr>
            <a:videoFile r:link="rId5"/>
            <p:extLst>
              <p:ext uri="{DAA4B4D4-6D71-4841-9C94-3DE7FCFB9230}">
                <p14:media xmlns:p14="http://schemas.microsoft.com/office/powerpoint/2010/main" r:embed="rId4"/>
              </p:ext>
            </p:extLst>
          </p:nvPr>
        </p:nvPicPr>
        <p:blipFill>
          <a:blip r:embed="rId6"/>
          <a:stretch>
            <a:fillRect/>
          </a:stretch>
        </p:blipFill>
        <p:spPr>
          <a:xfrm>
            <a:off x="9692640" y="3493008"/>
            <a:ext cx="1950415" cy="1097108"/>
          </a:xfrm>
          <a:prstGeom prst="rect">
            <a:avLst/>
          </a:prstGeom>
        </p:spPr>
      </p:pic>
      <p:sp>
        <p:nvSpPr>
          <p:cNvPr id="18" name="TextBox 17"/>
          <p:cNvSpPr txBox="1"/>
          <p:nvPr/>
        </p:nvSpPr>
        <p:spPr>
          <a:xfrm>
            <a:off x="9692640" y="4635836"/>
            <a:ext cx="1950415" cy="320040"/>
          </a:xfrm>
          <a:prstGeom prst="rect">
            <a:avLst/>
          </a:prstGeom>
          <a:noFill/>
        </p:spPr>
        <p:txBody>
          <a:bodyPr wrap="square" anchor="t" lIns="0" rIns="0" tIns="0" bIns="0">
            <a:spAutoFit/>
          </a:bodyPr>
          <a:lstStyle/>
          <a:p>
            <a:pPr algn="ctr"/>
            <a:r>
              <a:rPr sz="1600" b="1" i="0">
                <a:solidFill>
                  <a:srgbClr val="B9C6FF"/>
                </a:solidFill>
                <a:latin typeface="Arial"/>
              </a:rPr>
              <a:t>▶ 60-second demo</a:t>
            </a:r>
          </a:p>
        </p:txBody>
      </p:sp>
      <p:pic>
        <p:nvPicPr>
          <p:cNvPr id="19" name="Picture 18" descr="demo_qr.png"/>
          <p:cNvPicPr>
            <a:picLocks noChangeAspect="1"/>
          </p:cNvPicPr>
          <p:nvPr/>
        </p:nvPicPr>
        <p:blipFill>
          <a:blip r:embed="rId7"/>
          <a:stretch>
            <a:fillRect/>
          </a:stretch>
        </p:blipFill>
        <p:spPr>
          <a:xfrm>
            <a:off x="10256367" y="4974164"/>
            <a:ext cx="822960" cy="822960"/>
          </a:xfrm>
          <a:prstGeom prst="rect">
            <a:avLst/>
          </a:prstGeom>
        </p:spPr>
      </p:pic>
      <p:sp>
        <p:nvSpPr>
          <p:cNvPr id="20" name="Sources"/>
          <p:cNvSpPr txBox="1"/>
          <p:nvPr/>
        </p:nvSpPr>
        <p:spPr>
          <a:xfrm>
            <a:off x="548640" y="6291072"/>
            <a:ext cx="11094415" cy="457200"/>
          </a:xfrm>
          <a:prstGeom prst="rect">
            <a:avLst/>
          </a:prstGeom>
          <a:noFill/>
        </p:spPr>
        <p:txBody>
          <a:bodyPr wrap="square" anchor="t" lIns="0" rIns="0" tIns="0" bIns="0">
            <a:spAutoFit/>
          </a:bodyPr>
          <a:lstStyle/>
          <a:p>
            <a:pPr algn="l"/>
            <a:r>
              <a:rPr sz="1000" b="0" i="0">
                <a:solidFill>
                  <a:srgbClr val="767E8C"/>
                </a:solidFill>
                <a:latin typeface="Arial"/>
              </a:rPr>
              <a:t>The screenshot is Clearline's own panel, not Xero's. It reads payments only and never holds or moves money; it writes to the books only when a person approves.</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7"/>
                </p:tgtEl>
              </p:cMediaNode>
            </p:video>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0E14"/>
        </a:solidFill>
        <a:effectLst/>
      </p:bgPr>
    </p:bg>
    <p:spTree>
      <p:nvGrpSpPr>
        <p:cNvPr id="1" name=""/>
        <p:cNvGrpSpPr/>
        <p:nvPr/>
      </p:nvGrpSpPr>
      <p:grpSpPr/>
      <p:sp>
        <p:nvSpPr>
          <p:cNvPr id="2" name="Topline"/>
          <p:cNvSpPr txBox="1"/>
          <p:nvPr/>
        </p:nvSpPr>
        <p:spPr>
          <a:xfrm>
            <a:off x="548640" y="228600"/>
            <a:ext cx="11094415" cy="320040"/>
          </a:xfrm>
          <a:prstGeom prst="rect">
            <a:avLst/>
          </a:prstGeom>
          <a:noFill/>
        </p:spPr>
        <p:txBody>
          <a:bodyPr wrap="square" anchor="t" lIns="0" rIns="0" tIns="0" bIns="0">
            <a:spAutoFit/>
          </a:bodyPr>
          <a:lstStyle/>
          <a:p>
            <a:pPr algn="l"/>
            <a:r>
              <a:rPr sz="1200" b="0" i="0">
                <a:solidFill>
                  <a:srgbClr val="767E8C"/>
                </a:solidFill>
                <a:latin typeface="Arial"/>
              </a:rPr>
              <a:t>Clearline · a project I'm exploring · Aashmiin Kaur, SMU</a:t>
            </a:r>
          </a:p>
        </p:txBody>
      </p:sp>
      <p:sp>
        <p:nvSpPr>
          <p:cNvPr id="3" name="Title"/>
          <p:cNvSpPr txBox="1"/>
          <p:nvPr/>
        </p:nvSpPr>
        <p:spPr>
          <a:xfrm>
            <a:off x="548640" y="566928"/>
            <a:ext cx="11094415" cy="822960"/>
          </a:xfrm>
          <a:prstGeom prst="rect">
            <a:avLst/>
          </a:prstGeom>
          <a:noFill/>
        </p:spPr>
        <p:txBody>
          <a:bodyPr wrap="square" anchor="t" lIns="0" rIns="0" tIns="0" bIns="0">
            <a:spAutoFit/>
          </a:bodyPr>
          <a:lstStyle/>
          <a:p>
            <a:pPr algn="l"/>
            <a:r>
              <a:rPr sz="3400" b="1" i="0">
                <a:solidFill>
                  <a:srgbClr val="F2F4F7"/>
                </a:solidFill>
                <a:latin typeface="Arial"/>
              </a:rPr>
              <a:t>It works in a demo. I don't yet know if people need it</a:t>
            </a:r>
          </a:p>
        </p:txBody>
      </p:sp>
      <p:sp>
        <p:nvSpPr>
          <p:cNvPr id="4" name="Rounded Rectangle 3"/>
          <p:cNvSpPr/>
          <p:nvPr/>
        </p:nvSpPr>
        <p:spPr>
          <a:xfrm>
            <a:off x="548640" y="1600200"/>
            <a:ext cx="5364327" cy="4114800"/>
          </a:xfrm>
          <a:prstGeom prst="roundRect">
            <a:avLst>
              <a:gd name="adj" fmla="val 8000"/>
            </a:avLst>
          </a:prstGeom>
          <a:solidFill>
            <a:srgbClr val="151A24"/>
          </a:solidFill>
          <a:ln w="12700">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4632807" cy="457200"/>
          </a:xfrm>
          <a:prstGeom prst="rect">
            <a:avLst/>
          </a:prstGeom>
          <a:noFill/>
        </p:spPr>
        <p:txBody>
          <a:bodyPr wrap="square" anchor="t" lIns="0" rIns="0" tIns="0" bIns="0">
            <a:spAutoFit/>
          </a:bodyPr>
          <a:lstStyle/>
          <a:p>
            <a:pPr algn="l"/>
            <a:r>
              <a:rPr sz="2400" b="1" i="0">
                <a:solidFill>
                  <a:srgbClr val="66D9A3"/>
                </a:solidFill>
                <a:latin typeface="Arial"/>
              </a:rPr>
              <a:t>What works</a:t>
            </a:r>
          </a:p>
        </p:txBody>
      </p:sp>
      <p:sp>
        <p:nvSpPr>
          <p:cNvPr id="6" name="TextBox 5"/>
          <p:cNvSpPr txBox="1"/>
          <p:nvPr/>
        </p:nvSpPr>
        <p:spPr>
          <a:xfrm>
            <a:off x="914400" y="2514600"/>
            <a:ext cx="4632807" cy="3108960"/>
          </a:xfrm>
          <a:prstGeom prst="rect">
            <a:avLst/>
          </a:prstGeom>
          <a:noFill/>
        </p:spPr>
        <p:txBody>
          <a:bodyPr wrap="square" anchor="t" lIns="0" rIns="0" tIns="0" bIns="0">
            <a:spAutoFit/>
          </a:bodyPr>
          <a:lstStyle/>
          <a:p>
            <a:pPr algn="l">
              <a:spcAft>
                <a:spcPts val="1400"/>
              </a:spcAft>
            </a:pPr>
            <a:r>
              <a:rPr sz="2000" b="0" i="0">
                <a:solidFill>
                  <a:srgbClr val="F2F4F7"/>
                </a:solidFill>
                <a:latin typeface="Arial"/>
              </a:rPr>
              <a:t>•  7 payment situations work end to end</a:t>
            </a:r>
          </a:p>
          <a:p>
            <a:pPr algn="l">
              <a:spcAft>
                <a:spcPts val="1400"/>
              </a:spcAft>
            </a:pPr>
            <a:r>
              <a:rPr sz="2000" b="0" i="0">
                <a:solidFill>
                  <a:srgbClr val="F2F4F7"/>
                </a:solidFill>
                <a:latin typeface="Arial"/>
              </a:rPr>
              <a:t>•  52 of 52 real transactions: correct verdict¹</a:t>
            </a:r>
          </a:p>
        </p:txBody>
      </p:sp>
      <p:sp>
        <p:nvSpPr>
          <p:cNvPr id="7" name="Rounded Rectangle 6"/>
          <p:cNvSpPr/>
          <p:nvPr/>
        </p:nvSpPr>
        <p:spPr>
          <a:xfrm>
            <a:off x="6278727" y="1600200"/>
            <a:ext cx="5364327" cy="4114800"/>
          </a:xfrm>
          <a:prstGeom prst="roundRect">
            <a:avLst>
              <a:gd name="adj" fmla="val 8000"/>
            </a:avLst>
          </a:prstGeom>
          <a:solidFill>
            <a:srgbClr val="151A24"/>
          </a:solidFill>
          <a:ln w="12700">
            <a:solidFill>
              <a:srgbClr val="8EA2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44487" y="1828800"/>
            <a:ext cx="4632807" cy="457200"/>
          </a:xfrm>
          <a:prstGeom prst="rect">
            <a:avLst/>
          </a:prstGeom>
          <a:noFill/>
        </p:spPr>
        <p:txBody>
          <a:bodyPr wrap="square" anchor="t" lIns="0" rIns="0" tIns="0" bIns="0">
            <a:spAutoFit/>
          </a:bodyPr>
          <a:lstStyle/>
          <a:p>
            <a:pPr algn="l"/>
            <a:r>
              <a:rPr sz="2400" b="1" i="0">
                <a:solidFill>
                  <a:srgbClr val="B9C6FF"/>
                </a:solidFill>
                <a:latin typeface="Arial"/>
              </a:rPr>
              <a:t>What I don't know yet</a:t>
            </a:r>
          </a:p>
        </p:txBody>
      </p:sp>
      <p:sp>
        <p:nvSpPr>
          <p:cNvPr id="9" name="TextBox 8"/>
          <p:cNvSpPr txBox="1"/>
          <p:nvPr/>
        </p:nvSpPr>
        <p:spPr>
          <a:xfrm>
            <a:off x="6644487" y="2514600"/>
            <a:ext cx="4632807" cy="3108960"/>
          </a:xfrm>
          <a:prstGeom prst="rect">
            <a:avLst/>
          </a:prstGeom>
          <a:noFill/>
        </p:spPr>
        <p:txBody>
          <a:bodyPr wrap="square" anchor="t" lIns="0" rIns="0" tIns="0" bIns="0">
            <a:spAutoFit/>
          </a:bodyPr>
          <a:lstStyle/>
          <a:p>
            <a:pPr algn="l">
              <a:spcAft>
                <a:spcPts val="1400"/>
              </a:spcAft>
            </a:pPr>
            <a:r>
              <a:rPr sz="2000" b="0" i="0">
                <a:solidFill>
                  <a:srgbClr val="F2F4F7"/>
                </a:solidFill>
                <a:latin typeface="Arial"/>
              </a:rPr>
              <a:t>•  Do customers pay directly, or via checkout?</a:t>
            </a:r>
          </a:p>
          <a:p>
            <a:pPr algn="l">
              <a:spcAft>
                <a:spcPts val="1400"/>
              </a:spcAft>
            </a:pPr>
            <a:r>
              <a:rPr sz="2000" b="0" i="0">
                <a:solidFill>
                  <a:srgbClr val="F2F4F7"/>
                </a:solidFill>
                <a:latin typeface="Arial"/>
              </a:rPr>
              <a:t>•  Would finance teams use it?</a:t>
            </a:r>
          </a:p>
          <a:p>
            <a:pPr algn="l">
              <a:spcAft>
                <a:spcPts val="1400"/>
              </a:spcAft>
            </a:pPr>
            <a:r>
              <a:rPr sz="2000" b="0" i="0">
                <a:solidFill>
                  <a:srgbClr val="F2F4F7"/>
                </a:solidFill>
                <a:latin typeface="Arial"/>
              </a:rPr>
              <a:t>•  0 customers; my 3 calls reached vendors only</a:t>
            </a:r>
          </a:p>
        </p:txBody>
      </p:sp>
      <p:sp>
        <p:nvSpPr>
          <p:cNvPr id="10" name="Sources"/>
          <p:cNvSpPr txBox="1"/>
          <p:nvPr/>
        </p:nvSpPr>
        <p:spPr>
          <a:xfrm>
            <a:off x="548640" y="6291072"/>
            <a:ext cx="11094415" cy="457200"/>
          </a:xfrm>
          <a:prstGeom prst="rect">
            <a:avLst/>
          </a:prstGeom>
          <a:noFill/>
        </p:spPr>
        <p:txBody>
          <a:bodyPr wrap="square" anchor="t" lIns="0" rIns="0" tIns="0" bIns="0">
            <a:spAutoFit/>
          </a:bodyPr>
          <a:lstStyle/>
          <a:p>
            <a:pPr algn="l"/>
            <a:r>
              <a:rPr sz="1000" b="0" i="0">
                <a:solidFill>
                  <a:srgbClr val="767E8C"/>
                </a:solidFill>
                <a:latin typeface="Arial"/>
              </a:rPr>
              <a:t>¹ Real transactions it hadn't seen before (demo/REPORT.md). The invoice-matching part is not yet tested on real data.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0E14"/>
        </a:solidFill>
        <a:effectLst/>
      </p:bgPr>
    </p:bg>
    <p:spTree>
      <p:nvGrpSpPr>
        <p:cNvPr id="1" name=""/>
        <p:cNvGrpSpPr/>
        <p:nvPr/>
      </p:nvGrpSpPr>
      <p:grpSpPr/>
      <p:sp>
        <p:nvSpPr>
          <p:cNvPr id="2" name="Topline"/>
          <p:cNvSpPr txBox="1"/>
          <p:nvPr/>
        </p:nvSpPr>
        <p:spPr>
          <a:xfrm>
            <a:off x="548640" y="228600"/>
            <a:ext cx="11094415" cy="320040"/>
          </a:xfrm>
          <a:prstGeom prst="rect">
            <a:avLst/>
          </a:prstGeom>
          <a:noFill/>
        </p:spPr>
        <p:txBody>
          <a:bodyPr wrap="square" anchor="t" lIns="0" rIns="0" tIns="0" bIns="0">
            <a:spAutoFit/>
          </a:bodyPr>
          <a:lstStyle/>
          <a:p>
            <a:pPr algn="l"/>
            <a:r>
              <a:rPr sz="1200" b="0" i="0">
                <a:solidFill>
                  <a:srgbClr val="767E8C"/>
                </a:solidFill>
                <a:latin typeface="Arial"/>
              </a:rPr>
              <a:t>Clearline · a project I'm exploring · Aashmiin Kaur, SMU</a:t>
            </a:r>
          </a:p>
        </p:txBody>
      </p:sp>
      <p:sp>
        <p:nvSpPr>
          <p:cNvPr id="3" name="Title"/>
          <p:cNvSpPr txBox="1"/>
          <p:nvPr/>
        </p:nvSpPr>
        <p:spPr>
          <a:xfrm>
            <a:off x="548640" y="566928"/>
            <a:ext cx="11094415" cy="822960"/>
          </a:xfrm>
          <a:prstGeom prst="rect">
            <a:avLst/>
          </a:prstGeom>
          <a:noFill/>
        </p:spPr>
        <p:txBody>
          <a:bodyPr wrap="square" anchor="t" lIns="0" rIns="0" tIns="0" bIns="0">
            <a:spAutoFit/>
          </a:bodyPr>
          <a:lstStyle/>
          <a:p>
            <a:pPr algn="l"/>
            <a:r>
              <a:rPr sz="3400" b="1" i="0">
                <a:solidFill>
                  <a:srgbClr val="F2F4F7"/>
                </a:solidFill>
                <a:latin typeface="Arial"/>
              </a:rPr>
              <a:t>Three questions I'd love your view on</a:t>
            </a:r>
          </a:p>
        </p:txBody>
      </p:sp>
      <p:sp>
        <p:nvSpPr>
          <p:cNvPr id="4" name="TextBox 3"/>
          <p:cNvSpPr txBox="1"/>
          <p:nvPr/>
        </p:nvSpPr>
        <p:spPr>
          <a:xfrm>
            <a:off x="548640" y="1600200"/>
            <a:ext cx="640080" cy="731520"/>
          </a:xfrm>
          <a:prstGeom prst="rect">
            <a:avLst/>
          </a:prstGeom>
          <a:noFill/>
        </p:spPr>
        <p:txBody>
          <a:bodyPr wrap="square" anchor="ctr" lIns="0" rIns="0" tIns="0" bIns="0">
            <a:spAutoFit/>
          </a:bodyPr>
          <a:lstStyle/>
          <a:p>
            <a:pPr algn="l"/>
            <a:r>
              <a:rPr sz="3400" b="1" i="0">
                <a:solidFill>
                  <a:srgbClr val="8EA2FF"/>
                </a:solidFill>
                <a:latin typeface="Arial"/>
              </a:rPr>
              <a:t>1</a:t>
            </a:r>
          </a:p>
        </p:txBody>
      </p:sp>
      <p:sp>
        <p:nvSpPr>
          <p:cNvPr id="5" name="TextBox 4"/>
          <p:cNvSpPr txBox="1"/>
          <p:nvPr/>
        </p:nvSpPr>
        <p:spPr>
          <a:xfrm>
            <a:off x="1280160" y="1600200"/>
            <a:ext cx="10362895" cy="731520"/>
          </a:xfrm>
          <a:prstGeom prst="rect">
            <a:avLst/>
          </a:prstGeom>
          <a:noFill/>
        </p:spPr>
        <p:txBody>
          <a:bodyPr wrap="square" anchor="ctr" lIns="0" rIns="0" tIns="0" bIns="0">
            <a:spAutoFit/>
          </a:bodyPr>
          <a:lstStyle/>
          <a:p>
            <a:pPr algn="l"/>
            <a:r>
              <a:rPr sz="2600" b="1" i="0">
                <a:solidFill>
                  <a:srgbClr val="F2F4F7"/>
                </a:solidFill>
                <a:latin typeface="Arial"/>
              </a:rPr>
              <a:t>Does the wrong-payments gap seem real to you?</a:t>
            </a:r>
          </a:p>
        </p:txBody>
      </p:sp>
      <p:sp>
        <p:nvSpPr>
          <p:cNvPr id="6" name="TextBox 5"/>
          <p:cNvSpPr txBox="1"/>
          <p:nvPr/>
        </p:nvSpPr>
        <p:spPr>
          <a:xfrm>
            <a:off x="548640" y="2468880"/>
            <a:ext cx="640080" cy="731520"/>
          </a:xfrm>
          <a:prstGeom prst="rect">
            <a:avLst/>
          </a:prstGeom>
          <a:noFill/>
        </p:spPr>
        <p:txBody>
          <a:bodyPr wrap="square" anchor="ctr" lIns="0" rIns="0" tIns="0" bIns="0">
            <a:spAutoFit/>
          </a:bodyPr>
          <a:lstStyle/>
          <a:p>
            <a:pPr algn="l"/>
            <a:r>
              <a:rPr sz="3400" b="1" i="0">
                <a:solidFill>
                  <a:srgbClr val="8EA2FF"/>
                </a:solidFill>
                <a:latin typeface="Arial"/>
              </a:rPr>
              <a:t>2</a:t>
            </a:r>
          </a:p>
        </p:txBody>
      </p:sp>
      <p:sp>
        <p:nvSpPr>
          <p:cNvPr id="7" name="TextBox 6"/>
          <p:cNvSpPr txBox="1"/>
          <p:nvPr/>
        </p:nvSpPr>
        <p:spPr>
          <a:xfrm>
            <a:off x="1280160" y="2468880"/>
            <a:ext cx="10362895" cy="731520"/>
          </a:xfrm>
          <a:prstGeom prst="rect">
            <a:avLst/>
          </a:prstGeom>
          <a:noFill/>
        </p:spPr>
        <p:txBody>
          <a:bodyPr wrap="square" anchor="ctr" lIns="0" rIns="0" tIns="0" bIns="0">
            <a:spAutoFit/>
          </a:bodyPr>
          <a:lstStyle/>
          <a:p>
            <a:pPr algn="l"/>
            <a:r>
              <a:rPr sz="2600" b="1" i="0">
                <a:solidFill>
                  <a:srgbClr val="F2F4F7"/>
                </a:solidFill>
                <a:latin typeface="Arial"/>
              </a:rPr>
              <a:t>What would you test first?</a:t>
            </a:r>
          </a:p>
        </p:txBody>
      </p:sp>
      <p:sp>
        <p:nvSpPr>
          <p:cNvPr id="8" name="TextBox 7"/>
          <p:cNvSpPr txBox="1"/>
          <p:nvPr/>
        </p:nvSpPr>
        <p:spPr>
          <a:xfrm>
            <a:off x="548640" y="3337560"/>
            <a:ext cx="640080" cy="731520"/>
          </a:xfrm>
          <a:prstGeom prst="rect">
            <a:avLst/>
          </a:prstGeom>
          <a:noFill/>
        </p:spPr>
        <p:txBody>
          <a:bodyPr wrap="square" anchor="ctr" lIns="0" rIns="0" tIns="0" bIns="0">
            <a:spAutoFit/>
          </a:bodyPr>
          <a:lstStyle/>
          <a:p>
            <a:pPr algn="l"/>
            <a:r>
              <a:rPr sz="3400" b="1" i="0">
                <a:solidFill>
                  <a:srgbClr val="8EA2FF"/>
                </a:solidFill>
                <a:latin typeface="Arial"/>
              </a:rPr>
              <a:t>3</a:t>
            </a:r>
          </a:p>
        </p:txBody>
      </p:sp>
      <p:sp>
        <p:nvSpPr>
          <p:cNvPr id="9" name="TextBox 8"/>
          <p:cNvSpPr txBox="1"/>
          <p:nvPr/>
        </p:nvSpPr>
        <p:spPr>
          <a:xfrm>
            <a:off x="1280160" y="3337560"/>
            <a:ext cx="10362895" cy="731520"/>
          </a:xfrm>
          <a:prstGeom prst="rect">
            <a:avLst/>
          </a:prstGeom>
          <a:noFill/>
        </p:spPr>
        <p:txBody>
          <a:bodyPr wrap="square" anchor="ctr" lIns="0" rIns="0" tIns="0" bIns="0">
            <a:spAutoFit/>
          </a:bodyPr>
          <a:lstStyle/>
          <a:p>
            <a:pPr algn="l"/>
            <a:r>
              <a:rPr sz="2600" b="1" i="0">
                <a:solidFill>
                  <a:srgbClr val="F2F4F7"/>
                </a:solidFill>
                <a:latin typeface="Arial"/>
              </a:rPr>
              <a:t>Is there anyone you'd suggest I speak to?</a:t>
            </a:r>
          </a:p>
        </p:txBody>
      </p:sp>
      <p:sp>
        <p:nvSpPr>
          <p:cNvPr id="10" name="Rounded Rectangle 9"/>
          <p:cNvSpPr/>
          <p:nvPr/>
        </p:nvSpPr>
        <p:spPr>
          <a:xfrm>
            <a:off x="548640" y="4434840"/>
            <a:ext cx="11094415" cy="1371600"/>
          </a:xfrm>
          <a:prstGeom prst="roundRect">
            <a:avLst>
              <a:gd name="adj" fmla="val 8000"/>
            </a:avLst>
          </a:prstGeom>
          <a:solidFill>
            <a:srgbClr val="151A24"/>
          </a:solidFill>
          <a:ln w="12700">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434840"/>
            <a:ext cx="5120640" cy="1371600"/>
          </a:xfrm>
          <a:prstGeom prst="rect">
            <a:avLst/>
          </a:prstGeom>
          <a:noFill/>
        </p:spPr>
        <p:txBody>
          <a:bodyPr wrap="square" anchor="ctr" lIns="0" rIns="0" tIns="0" bIns="0">
            <a:spAutoFit/>
          </a:bodyPr>
          <a:lstStyle/>
          <a:p>
            <a:pPr algn="l">
              <a:spcAft>
                <a:spcPts val="400"/>
              </a:spcAft>
            </a:pPr>
            <a:r>
              <a:rPr sz="2400" b="1" i="0">
                <a:solidFill>
                  <a:srgbClr val="F2F4F7"/>
                </a:solidFill>
                <a:latin typeface="Arial"/>
              </a:rPr>
              <a:t>Thank you for reading.</a:t>
            </a:r>
          </a:p>
          <a:p>
            <a:pPr algn="l">
              <a:spcAft>
                <a:spcPts val="400"/>
              </a:spcAft>
            </a:pPr>
            <a:r>
              <a:rPr sz="2000" b="0" i="0">
                <a:solidFill>
                  <a:srgbClr val="A3AAB6"/>
                </a:solidFill>
                <a:latin typeface="Arial"/>
              </a:rPr>
              <a:t>Happy to show the demo in 15 minutes.</a:t>
            </a:r>
          </a:p>
        </p:txBody>
      </p:sp>
      <p:sp>
        <p:nvSpPr>
          <p:cNvPr id="12" name="TextBox 11"/>
          <p:cNvSpPr txBox="1"/>
          <p:nvPr/>
        </p:nvSpPr>
        <p:spPr>
          <a:xfrm>
            <a:off x="6126479" y="4434840"/>
            <a:ext cx="5242255" cy="1371600"/>
          </a:xfrm>
          <a:prstGeom prst="rect">
            <a:avLst/>
          </a:prstGeom>
          <a:noFill/>
        </p:spPr>
        <p:txBody>
          <a:bodyPr wrap="square" anchor="ctr" lIns="0" rIns="0" tIns="0" bIns="0">
            <a:spAutoFit/>
          </a:bodyPr>
          <a:lstStyle/>
          <a:p>
            <a:pPr algn="l"/>
            <a:r>
              <a:rPr sz="2000" b="1" i="0">
                <a:solidFill>
                  <a:srgbClr val="F2F4F7"/>
                </a:solidFill>
                <a:latin typeface="Arial"/>
              </a:rPr>
              <a:t>Aashmiin Kaur</a:t>
            </a:r>
          </a:p>
          <a:p>
            <a:pPr algn="l"/>
            <a:r>
              <a:rPr sz="2000" b="0" i="0">
                <a:solidFill>
                  <a:srgbClr val="A3AAB6"/>
                </a:solidFill>
                <a:latin typeface="Arial"/>
              </a:rPr>
              <a:t>aashmiin@gmail.com</a:t>
            </a:r>
          </a:p>
          <a:p>
            <a:pPr algn="l"/>
            <a:r>
              <a:rPr sz="2000" b="0" i="0">
                <a:solidFill>
                  <a:srgbClr val="A3AAB6"/>
                </a:solidFill>
                <a:latin typeface="Arial"/>
              </a:rPr>
              <a:t>linkedin.com/in/aashmiin-kaur-479665391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